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full-react-demo\src\App.tsx
Focus: AppContent, lines 26-126
Open the source view: http://127.0.0.1:8765/?source=slide-1#slide-1
Open the live example: http://127.0.0.1:5176/#/components/expressions
Topic: 1. Components &amp; TSX / TSX expressions
Do: Open Components &amp; TSX, then locate the Curly Braces card.
Expect: The active tab displays Alice, age 28, next year 29, grade A and ALICE.
The source viewer contains an exact snapshot from the current local app at deck build time.
Edit the actual source file, then rebuild the deck to refresh its snapshot and line references.
TEACHING NOTES
CONCEPT
Use full-react-demo as the lecture's spine. The ten tabs are Components &amp; TSX, Props, State, Events, useEffect, Custom Hooks, Context API, Performance, useMemo and useReducer.
Start with the visible classroom app, not a proposed feature. In AppContent, trace the active tab to the actual demo component. Each slide's Source link opens an embedded, read-only snapshot of the app's source at build time; Live and Run this example open the matching tab and card. Rebuild the slides after changing application code to refresh that snapshot.
Projected snippets are focused excerpts, sometimes reflowed for readability. Comparisons, thought experiments and proposed improvements are explicitly labeled; they are not claims about the running implementation. The README remains supplementary reading.
CODE
Open src/App.tsx at AppContent. Read the highlighted current source before trying the UI.
TRY IT
Open Components &amp; TSX, then locate the Curly Braces card.
Expected: The active tab displays Alice, age 28, next year 29, grade A and ALICE.
SOURCE NOTES
Introduction to React: https://github.com/bodonnell-DePaul/webdev_week2/blob/main/README.md#introduction-to-react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full-react-demo\src\App.tsx
Focus: AppContent, lines 26-126
Open the source view: http://127.0.0.1:8765/?source=slide-2#slide-2
Open the live example: http://127.0.0.1:5176/#/state/counter
Topic: 3. State / Counter
Do: Open State → Counter, reset it, set Step to 1, and click + 1 once.
Expect: The counter becomes 1 without a document reload; AppContent still shows the State tab.
The source viewer contains an exact snapshot from the current local app at deck build time.
Edit the actual source file, then rebuild the deck to refresh its snapshot and line references.
TEACHING NOTES
CONCEPT
Students should be able to read a component, explain an update, choose an owner and identify an external system. The Source and Live links keep those outcomes anchored to one working app.
AppContent chooses the active demo. StateDemo supplies the Counter that we will inspect in detail. First locate that branch, then perform the counter interaction and ask what changed.
Tabs show independent teaching examples, not stages of one shared data pipeline. In particular, the product filter and shopping cart use different catalogs.
CODE
Open src/App.tsx at AppContent. Read the highlighted current source before trying the UI.
TRY IT
Open State → Counter, reset it, set Step to 1, and click + 1 once.
Expected: The counter becomes 1 without a document reload; AppContent still shows the State tab.
SOURCE NOTES
Introduction to React: https://github.com/bodonnell-DePaul/webdev_week2/blob/main/README.md#introduction-to-react
Understanding components: https://github.com/bodonnell-DePaul/webdev_week2/blob/main/README.md#understanding-components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Counter, lines 17-47
Open the source view: http://127.0.0.1:8765/?source=slide-3#slide-3
Open the live example: http://127.0.0.1:5176/#/state/counter
Topic: 3. State / Counter
Do: In State → Counter, click Reset, set Step to 3, then click + 3 once.
Expect: The count is 3; clicking − 3 returns it to 0.
The source viewer contains an exact snapshot from the current local app at deck build time.
Edit the actual source file, then rebuild the deck to refresh its snapshot and line references.
TEACHING NOTES
CONCEPT
Trace the actual Counter: the click handler calls setCount(prev =&gt; prev + step), React calculates the next UI, and the displayed number changes.
Rendering must stay pure. Network requests and storage writes do not belong in the render calculation. Initial mounting, parent updates and context updates can also cause renders without a click.
React's reconciliation is not a promise that a virtual DOM makes every program faster. Keep the explanation about state snapshots and observable DOM updates.
CODE
Open src/components/StateDemo.tsx at Counter. Read the highlighted current source before trying the UI.
TRY IT
In State → Counter, click Reset, set Step to 3, then click + 3 once.
Expected: The count is 3; clicking − 3 returns it to 0.
SOURCE NOTES
Introduction to React: https://github.com/bodonnell-DePaul/webdev_week2/blob/main/README.md#introduction-to-react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full-react-demo\src\types\index.ts
Focus: User, lines 8-17
Open the source view: http://127.0.0.1:8765/?source=slide-4#slide-4
Open the live example: http://127.0.0.1:5176/#/context/auth
Topic: 7. Context API / Demo authentication
Do: In Context API → Auth, log out if needed, click Admin, inspect the profile, then click Logout.
Expect: Admin Alice and the admin badge appear; Logout restores the role buttons. Notifications report both actions.
The source viewer contains an exact snapshot from the current local app at deck build time.
Edit the actual source file, then rebuild the deck to refresh its snapshot and line references.
TEACHING NOTES
CONCEPT
Read the actual shared User interface, including role's three-string union, optional avatar, and lastActive: Date. LoginForm constructs this shape when an instructor chooses a role.
TypeScript should reject a misspelled role in typed source. It cannot prove that parsed JSON has the promised fields or that a person really has that role. AuthProvider converts a saved lastActive to Date but does not perform a full schema check.
The live Admin button is explicitly mock authentication. Production identity and permissions must be established and enforced by a trusted server.
CODE
Open src/types/index.ts at User. Read the highlighted current source before trying the UI.
TRY IT
In Context API → Auth, log out if needed, click Admin, inspect the profile, then click Logout.
Expected: Admin Alice and the admin badge appear; Logout restores the role buttons. Notifications report both actions.
SOURCE NOTES
Introduction to React: https://github.com/bodonnell-DePaul/webdev_week2/blob/main/README.md#introduction-to-react
Advanced TypeScript: https://github.com/bodonnell-DePaul/webdev_week2/blob/main/README.md#advanced-typescript-concepts-explained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full-react-demo\src\main.tsx
Focus: createRoot, lines 6-10
Open the source view: http://127.0.0.1:8765/?source=slide-5#slide-5
Open the live example: http://127.0.0.1:5176/#/components/composition
Topic: 1. Components &amp; TSX / Component composition
Do: Open the app and select Components &amp; TSX; find Component Composition.
Expect: One mounted app contains the tab bar and the Header/content/Footer example.
The source viewer contains an exact snapshot from the current local app at deck build time.
Edit the actual source file, then rebuild the deck to refresh its snapshot and line references.
TEACHING NOTES
CONCEPT
Install dependencies when setting up the project, not on every code edit. package.json defines dev, build and lint; build runs TypeScript and then Vite. A running dev server alone is not proof that type checking passed.
main.tsx mounts App inside StrictMode. Use a supported Node version for this project's Vite version. The lecture links target http://127.0.0.1:5176/#/&lt;tab&gt;/&lt;example&gt;; the command binds that address and refuses a silent fallback to another port. If the matching app server is already running, use it rather than starting a second copy.
The app's fetch lesson uses a bundled /users.json fixture, not an external API. HTML slides and their built-in source viewer work offline. PowerPoint's Source links open that viewer at http://127.0.0.1:8765/, so start the slide server too. Live links in either format use the running Vite app on port 5176. Report real lint/build failures rather than assuming all teaching examples are production-ready.
CODE
Open src/main.tsx at createRoot. Read the highlighted current source before trying the UI.
TRY IT
Open the app and select Components &amp; TSX; find Component Composition.
Expected: One mounted app contains the tab bar and the Header/content/Footer example.
SOURCE NOTES
Development environment: https://github.com/bodonnell-DePaul/webdev_week2/blob/main/README.md#setting-up-your-development-environment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full-react-demo\src\main.tsx
Focus: createRoot, lines 6-10
Open the source view: http://127.0.0.1:8765/?source=slide-6#slide-6
Open the live example: http://127.0.0.1:5176/#/components/composition
Topic: 1. Components &amp; TSX / Component composition
Do: Open the app and select Components &amp; TSX; find Component Composition.
Expect: One mounted app contains the tab bar and the Header/content/Footer example.
The source viewer contains an exact snapshot from the current local app at deck build time.
Edit the actual source file, then rebuild the deck to refresh its snapshot and line references.
TEACHING NOTES
CONCEPT
Start at main.tsx, not a guessed component name: createRoot renders StrictMode → App. App nests ThemeProvider, AuthProvider and NotificationProvider around AppContent. AppContent selects one of ten actual demo components.
index.html supplies the root element and entry script. Some small components, including Counter, Greeting and GenericList, are defined inside their demo files rather than in separate files.
Switching tabs replaces the active demo component. Its local state normally resets on remount, while the providers above AppContent remain mounted. We return to that distinction when comparing state lifetimes.
CODE
Open src/main.tsx at createRoot. Read the highlighted current source before trying the UI.
TRY IT
Open the app and select Components &amp; TSX; find Component Composition.
Expected: One mounted app contains the tab bar and the Header/content/Footer example.
SOURCE NOTES
Development environment: https://github.com/bodonnell-DePaul/webdev_week2/blob/main/README.md#setting-up-your-development-environment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full-react-demo\src\components\ComponentsDemo.tsx
Focus: Footer, lines 30-39
Open the source view: http://127.0.0.1:8765/?source=slide-7#slide-7
Open the live example: http://127.0.0.1:5176/#/components/composition
Topic: 1. Components &amp; TSX / Component composition
Do: Locate Component Composition in Components &amp; TSX and compare its three visible parts.
Expect: The Header sits above an inline content area; Footer shows the current year below it.
The source viewer contains an exact snapshot from the current local app at deck build time.
Edit the actual source file, then rebuild the deck to refresh its snapshot and line references.
TEACHING NOTES
CONCEPT
Open the real Footer and compare its return value to the copyright line in Component Composition. The projected excerpt omits only inline styles.
React.FC is the annotation used in this app, not a requirement for every function component. A typed function parameter and inferred return type are also valid. Current JSX transforms do not require importing React solely to write markup.
Rendering the current year does not set up a clock: if it must change at a time boundary without another render, that needs a deliberate update mechanism.
CODE
Open src/components/ComponentsDemo.tsx at Footer. Read the highlighted current source before trying the UI.
TRY IT
Locate Component Composition in Components &amp; TSX and compare its three visible parts.
Expected: The Header sits above an inline content area; Footer shows the current year below it.
SOURCE NOTES
Understanding components: https://github.com/bodonnell-DePaul/webdev_week2/blob/main/README.md#understanding-components
Introduction to React: https://github.com/bodonnell-DePaul/webdev_week2/blob/main/README.md#introduction-to-react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full-react-demo\src\components\ComponentsDemo.tsx
Focus: ComponentsDemo, lines 42-70
Open the source view: http://127.0.0.1:8765/?source=slide-8#slide-8
Open the live example: http://127.0.0.1:5176/#/components/expressions
Topic: 1. Components &amp; TSX / TSX expressions
Do: Read each rendered line in Components &amp; TSX → Curly Braces.
Expect: The expressions display Alice, 28, Logged In, 29, A and ALICE.
The source viewer contains an exact snapshot from the current local app at deck build time.
Edit the actual source file, then rebuild the deck to refresh its snapshot and line references.
TEACHING NOTES
CONCEPT
Predict Alice, 29, Logged In, A and ALICE before opening Live. The slide shortens the surrounding markup; Source shows every line, including the age and status labels.
With the automatic JSX transform, tags become JSX-runtime calls, not HTML strings. Braces supply JavaScript expression results. A quoted attribute is a string; an attribute in braces evaluates its expression.
Objects are not rendered directly as children. Select a property or format them intentionally. true, false, null and undefined are omitted as children, but the number 0 is rendered.
CODE
Open src/components/ComponentsDemo.tsx at ComponentsDemo. Read the highlighted current source before trying the UI.
TRY IT
Read each rendered line in Components &amp; TSX → Curly Braces.
Expected: The expressions display Alice, 28, Logged In, 29, A and ALICE.
SOURCE NOTES
Understanding components: https://github.com/bodonnell-DePaul/webdev_week2/blob/main/README.md#understanding-components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full-react-demo\src\components\ComponentsDemo.tsx
Focus: Fragment, lines 96-108
Open the source view: http://127.0.0.1:8765/?source=slide-9#slide-9
Open the live example: http://127.0.0.1:5176/#/components/fragments
Topic: 1. Components &amp; TSX / Fragments
Do: Inspect the two green paragraphs in the Fragments card with browser Elements.
Expect: Both paragraphs are siblings; the fragment adds no wrapping DOM element.
The source viewer contains an exact snapshot from the current local app at deck build time.
Edit the actual source file, then rebuild the deck to refresh its snapshot and line references.
TEACHING NOTES
CONCEPT
Source shows the exact fragment surrounding two green paragraphs. In Elements, distinguish the card's real section from the fragment, which contributes no element.
A return is one expression; React is not limited to returning one DOM element. Most DOM props use camelCase, while aria-* and data-* retain their hyphens. htmlFor associates a label with an input ID.
Close JSX tags. Put JSX comments between children, not as braced comments in an opening tag's attribute list.
CODE
Open src/components/ComponentsDemo.tsx at Fragment. Read the highlighted current source before trying the UI.
TRY IT
Inspect the two green paragraphs in the Fragments card with browser Elements.
Expected: Both paragraphs are siblings; the fragment adds no wrapping DOM element.
SOURCE NOTES
Understanding components: https://github.com/bodonnell-DePaul/webdev_week2/blob/main/README.md#understanding-components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full-react-demo\src\components\ComponentsDemo.tsx
Focus: ComponentsDemo, lines 71-84
Open the source view: http://127.0.0.1:8765/?source=slide-10#slide-10
Open the live example: http://127.0.0.1:5176/#/components/composition
Topic: 1. Components &amp; TSX / Component composition
Do: Locate Component Composition in Components &amp; TSX and compare its three visible parts.
Expect: The Header sits above an inline content area; Footer shows the current year below it.
The source viewer contains an exact snapshot from the current local app at deck build time.
Edit the actual source file, then rebuild the deck to refresh its snapshot and line references.
TEACHING NOTES
CONCEPT
Read the diagram against the actual JSX. ComponentsDemo renders Header, an ordinary div containing the main-content paragraph, and Footer. There is no separate MainContent component in this example.
Ask which responsibilities could be reused on another page. Header and Footer already have named boundaries; extracting every div would not automatically improve the design.
The Home/About anchors in this small Header are illustrative markup, not separate implemented pages. Use the app's topic navigation for the lecture.
CODE
Open src/components/ComponentsDemo.tsx at ComponentsDemo. Read the highlighted current source before trying the UI.
TRY IT
Locate Component Composition in Components &amp; TSX and compare its three visible parts.
Expected: The Header sits above an inline content area; Footer shows the current year below it.
SOURCE NOTES
Understanding components: https://github.com/bodonnell-DePaul/webdev_week2/blob/main/README.md#understanding-components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full-react-demo\src\components\ComponentsDemo.tsx
Focus: items.map, lines 85-95
Open the source view: http://127.0.0.1:8765/?source=slide-11#slide-11
Open the live example: http://127.0.0.1:5176/#/components/lists
Topic: 1. Components &amp; TSX / Lists and keys
Do: In Array Rendering, click + Add Feature once.
Expect: One list item is appended; on a fresh mount it is Feature-5.
The source viewer contains an exact snapshot from the current local app at deck build time.
Edit the actual source file, then rebuild the deck to refresh its snapshot and line references.
TEACHING NOTES
CONCEPT
Show the actual index key honestly; do not claim this list already uses IDs. Appending a feature leaves existing positions unchanged, but deletion, reordering or stateful child rows can expose index-identity problems.
An improvement for a changing list is to model items with persistent IDs and use key={item.id}. The product table and cart later demonstrate ID keys in running code.
key is scoped to siblings and is not passed as an ordinary child prop. Do not generate random keys while rendering. Stable identity is about preserving the correct item, not a guarantee that only one DOM node ever updates.
CODE
Open src/components/ComponentsDemo.tsx at items.map. Read the highlighted current source before trying the UI.
TRY IT
In Array Rendering, click + Add Feature once.
Expected: One list item is appended; on a fresh mount it is Feature-5.
SOURCE NOTES
Understanding components: https://github.com/bodonnell-DePaul/webdev_week2/blob/main/README.md#understanding-components
Best practices: https://github.com/bodonnell-DePaul/webdev_week2/blob/main/README.md#best-practices-and-code-quality
Application components: https://github.com/bodonnell-DePaul/webdev_week2/blob/main/README.md#sample-application-components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full-react-demo\src\components\PropsDemo.tsx
Focus: Greeting, lines 17-30
Open the source view: http://127.0.0.1:8765/?source=slide-12#slide-12
Open the live example: http://127.0.0.1:5176/#/props/defaults
Topic: 2. Props / Greeting defaults
Do: Compare Alice, Bob and Charlie in Props → Basic Props with Defaults.
Expect: Alice is 25 with a VIP badge; Bob is 30 without it; Charlie is 18 without it.
The source viewer contains an exact snapshot from the current local app at deck build time.
Edit the actual source file, then rebuild the deck to refresh its snapshot and line references.
TEACHING NOTES
CONCEPT
Read GreetingProps and the destructured defaults in the highlighted implementation. The slide omits CSS classes and reflows the JSX; Source contains the complete component.
React's contract is to treat props and the objects they reference as immutable. An ordinary TypeScript interface does not recursively freeze an object.
An omitted age uses 18. A provided age of 0 remains 0 because defaults do not replace every falsy value. TypeScript should reject &lt;Greeting /&gt; or an age supplied as a string.
CODE
Open src/components/PropsDemo.tsx at Greeting. Read the highlighted current source before trying the UI.
TRY IT
Compare Alice, Bob and Charlie in Props → Basic Props with Defaults.
Expected: Alice is 25 with a VIP badge; Bob is 30 without it; Charlie is 18 without it.
SOURCE NOTES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full-react-demo\src\components\PropsDemo.tsx
Focus: Greeting call sites, lines 85-98
Open the source view: http://127.0.0.1:8765/?source=slide-13#slide-13
Open the live example: http://127.0.0.1:5176/#/props/defaults
Topic: 2. Props / Greeting defaults
Do: Compare Alice, Bob and Charlie in Props → Basic Props with Defaults.
Expect: Alice is 25 with a VIP badge; Bob is 30 without it; Charlie is 18 without it.
The source viewer contains an exact snapshot from the current local app at deck build time.
Edit the actual source file, then rebuild the deck to refresh its snapshot and line references.
TEACHING NOTES
CONCEPT
Answer: Alice is 25 and VIP; Bob is 30 and not VIP; Charlie uses age 18 and isVip false. A supplied age of 0 would display Age: 0 in the current Greeting because age is rendered directly.
The VIP condition uses a boolean. By contrast, the hypothetical expression age &amp;&amp; &lt;p&gt;Age: {age}&lt;/p&gt; evaluates to numeric 0 when age is 0, so React renders 0. Use an explicit presence check when zero is valid.
Compare the prediction with Live; there is no need to edit source to demonstrate the three existing call sites.
CODE
Open src/components/PropsDemo.tsx at Greeting call sites. Read the highlighted current source before trying the UI.
TRY IT
Compare Alice, Bob and Charlie in Props → Basic Props with Defaults.
Expected: Alice is 25 with a VIP badge; Bob is 30 without it; Charlie is 18 without it.
SOURCE NOTES
Props and state: https://github.com/bodonnell-DePaul/webdev_week2/blob/main/README.md#working-with-props-and-state
Understanding components: https://github.com/bodonnell-DePaul/webdev_week2/blob/main/README.md#understanding-components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full-react-demo\src\components\PropsDemo.tsx
Focus: PropsDemo, lines 71-122
Open the source view: http://127.0.0.1:8765/?source=slide-14#slide-14
Open the live example: http://127.0.0.1:5176/#/props/callbacks
Topic: 2. Props / Callback props
Do: In Callback Props, clear the log if present, click Alice's Edit, then Bob's Delete.
Expect: The log records Edit clicked for Alice and Delete clicked for user #2; all three cards remain.
The source viewer contains an exact snapshot from the current local app at deck build time.
Edit the actual source file, then rebuild the deck to refresh its snapshot and line references.
TEACHING NOTES
CONCEPT
Follow sampleUsers into each UserCard and the callback props back to addLog. The only state owned by PropsDemo here is log; sampleUsers is a local sample array, not editable user state.
Clicking Delete reports an ID to the parent, which chooses to log it. All three cards remain. This is one-way data flow plus callbacks, not a child mutating a prop.
If actual editing or deletion were added, the appropriate owner would need real user state, validation and possibly persistence. Those are extensions, not hidden behavior of the current buttons.
CODE
Open src/components/PropsDemo.tsx at PropsDemo. Read the highlighted current source before trying the UI.
TRY IT
In Callback Props, clear the log if present, click Alice's Edit, then Bob's Delete.
Expected: The log records Edit clicked for Alice and Delete clicked for user #2; all three cards remain.
SOURCE NOTES
Props and state: https://github.com/bodonnell-DePaul/webdev_week2/blob/main/README.md#working-with-props-and-state
Application components: https://github.com/bodonnell-DePaul/webdev_week2/blob/main/README.md#sample-application-components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full-react-demo\src\components\PropsDemo.tsx
Focus: UserCard, lines 32-50
Open the source view: http://127.0.0.1:8765/?source=slide-15#slide-15
Open the live example: http://127.0.0.1:5176/#/props/callbacks
Topic: 2. Props / Callback props
Do: In Callback Props, clear the log if present, click Alice's Edit, then Bob's Delete.
Expect: The log records Edit clicked for Alice and Delete clicked for user #2; all three cards remain.
The source viewer contains an exact snapshot from the current local app at deck build time.
Edit the actual source file, then rebuild the deck to refresh its snapshot and line references.
TEACHING NOTES
CONCEPT
The first line is a member of UserCardProps; the JSX is an excerpt from the component's actions. Styles and the surrounding showActions condition are omitted on the slide, but visible in Source.
onEdit sends the whole user object, whereas onDelete sends the ID. Both callbacks append messages through PropsDemo's addLog; neither persists data.
Optional callback props can control whether an action is shown. Treat the supplied user as immutable even when handing it back through a callback.
CODE
Open src/components/PropsDemo.tsx at UserCard. Read the highlighted current source before trying the UI.
TRY IT
In Callback Props, clear the log if present, click Alice's Edit, then Bob's Delete.
Expected: The log records Edit clicked for Alice and Delete clicked for user #2; all three cards remain.
SOURCE NOTES
Props and state: https://github.com/bodonnell-DePaul/webdev_week2/blob/main/README.md#working-with-props-and-state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full-react-demo\src\components\PropsDemo.tsx
Focus: GenericList, lines 52-69
Open the source view: http://127.0.0.1:8765/?source=slide-16#slide-16
Open the live example: http://127.0.0.1:5176/#/props/generic-list
Topic: 2. Props / GenericList
Do: Compare the populated and empty lists in Props → Generic List Component.
Expect: The first list shows three names and emails; the empty list says Nothing here yet!
The source viewer contains an exact snapshot from the current local app at deck build time.
Edit the actual source file, then rebuild the deck to refresh its snapshot and line references.
TEACHING NOTES
CONCEPT
Read GenericList's guard and map after its interface. The populated call supplies sampleUsers, u =&gt; u.id and a name/email renderer. The empty string-list call supplies its own message.
Answer the checkpoint: why not items: any[]? It would lose the relationship between an item and the callbacks consuming it. T preserves that relationship without prescribing one data shape.
The app already handles an empty list with Nothing here yet! This is current behavior, not an extension we merely propose.
CODE
Open src/components/PropsDemo.tsx at GenericList. Read the highlighted current source before trying the UI.
TRY IT
Compare the populated and empty lists in Props → Generic List Component.
Expected: The first list shows three names and emails; the empty list says Nothing here yet!
SOURCE NOTES
Best practices: https://github.com/bodonnell-DePaul/webdev_week2/blob/main/README.md#best-practices-and-code-quality
Advanced TypeScript: https://github.com/bodonnell-DePaul/webdev_week2/blob/main/README.md#advanced-typescript-concepts-explained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full-react-demo\src\components\UseMemoDemo.tsx
Focus: filteredProducts, lines 56-91
Open the source view: http://127.0.0.1:8765/?source=slide-17#slide-17
Open the live example: http://127.0.0.1:5176/#/usememo/products
Topic: 9. useMemo / Product filters
Do: In Filtered Product List, search Electronics, choose Sort by Price, and check In stock only.
Expect: Wireless Mouse ($49.99) precedes Mechanical Keyboard ($129.99); the stats show 2 products, $89.99 average, and 2 in stock.
The source viewer contains an exact snapshot from the current local app at deck build time.
Edit the actual source file, then rebuild the deck to refresh its snapshot and line references.
TEACHING NOTES
CONCEPT
Preview UseMemoDemo without teaching all of memoization yet. The three filter controls have state; the visible rows and statistics are derived from those inputs and SAMPLE_PRODUCTS.
Ask students to classify the search text, the filtered array and its length. Storing all three independently would create unnecessary synchronization work.
The product list is a separate tab from the reducer cart. It does not add these products to a shared cart or share a filter with another tab.
CODE
Open src/components/UseMemoDemo.tsx at filteredProducts. Read the highlighted current source before trying the UI.
TRY IT
In Filtered Product List, search Electronics, choose Sort by Price, and check In stock only.
Expected: Wireless Mouse ($49.99) precedes Mechanical Keyboard ($129.99); the stats show 2 products, $89.99 average, and 2 in stock.
SOURCE NOTES
Props and state: https://github.com/bodonnell-DePaul/webdev_week2/blob/main/README.md#working-with-props-and-state
Hooks deep dive: https://github.com/bodonnell-DePaul/webdev_week2/blob/main/README.md#react-hooks-deep-dive
Application components: https://github.com/bodonnell-DePaul/webdev_week2/blob/main/README.md#sample-application-components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Counter, lines 17-47
Open the source view: http://127.0.0.1:8765/?source=slide-18#slide-18
Open the live example: http://127.0.0.1:5176/#/state/counter
Topic: 3. State / Counter
Do: In State → Counter, click Reset, set Step to 3, then click + 3 once.
Expect: The count is 3; clicking − 3 returns it to 0.
The source viewer contains an exact snapshot from the current local app at deck build time.
Edit the actual source file, then rebuild the deck to refresh its snapshot and line references.
TEACHING NOTES
CONCEPT
The running Counter has two state values, not a fixed step. Follow each button handler and the Step input, then demonstrate Reset → Step 3 → +3 → −3.
A plain local variable does not both survive renders and request UI updates. useState provides those responsibilities; useRef can retain a value without requesting a render.
The explicit number generic is valid but inferable from the initial number. Explicit types are especially helpful for arrays initialized to [] and unions such as User | null.
CODE
Open src/components/StateDemo.tsx at Counter. Read the highlighted current source before trying the UI.
TRY IT
In State → Counter, click Reset, set Step to 3, then click + 3 once.
Expected: The count is 3; clicking − 3 returns it to 0.
SOURCE NOTES
Props and state: https://github.com/bodonnell-DePaul/webdev_week2/blob/main/README.md#working-with-props-and-state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Counter, lines 17-47
Open the source view: http://127.0.0.1:8765/?source=slide-19#slide-19
Open the live example: http://127.0.0.1:5176/#/state/counter
Topic: 3. State / Counter
Do: In the actual Counter, reset, set Step to 1 and click + 1 once. Locate its single functional updater in Source.
Expect: The live count becomes 1; the three-call handlers are a slide-only comparison.
The source viewer contains an exact snapshot from the current local app at deck build time.
Edit the actual source file, then rebuild the deck to refresh its snapshot and line references.
TEACHING NOTES
CONCEPT
Answer: A ends at 1; B ends at 3. These are alternative handlers, not consecutive code blocks in one handler. A reads the same count = 0 snapshot each time; B composes three queued transformations.
The actual Counter invokes one updater per button click. Do not claim it includes a three-update button. Ordinary separate intentional clicks are not the same as three setters batched inside one handler.
An updater must be pure. Strict Mode may call it again during development checks; do not put storage writes or logging side effects inside state updaters.
CODE
Open src/components/StateDemo.tsx at Counter. Read the highlighted current source before trying the UI.
TRY IT
In the actual Counter, reset, set Step to 1 and click + 1 once. Locate its single functional updater in Source.
Expected: The live count becomes 1; the three-call handlers are a slide-only comparison.
SOURCE NOTES
Props and state: https://github.com/bodonnell-DePaul/webdev_week2/blob/main/README.md#working-with-props-and-state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updateField, lines 99-105
Open the source view: http://127.0.0.1:8765/?source=slide-20#slide-20
Open the live example: http://127.0.0.1:5176/#/state/form
Topic: 3. State / Registration form
Do: Reset Complex Form State if necessary, then edit firstName and age.
Expect: The two controlled fields update independently; entering age does not erase firstName.
The source viewer contains an exact snapshot from the current local app at deck build time.
Edit the actual source file, then rebuild the deck to refresh its snapshot and line references.
TEACHING NOTES
CONCEPT
The mutation example is deliberately not the running implementation. Open updateField to confirm that FormState uses a functional updater, object spread and a computed property name.
Spread is shallow, not a deep clone. A changed nested object would need its own copied path. React uses Object.is for same-value bailout decisions, so reusing a mutated reference is unsafe.
State immutability is also what lets later reducer and memo examples reason about changed versus unchanged arrays.
CODE
Open src/components/StateDemo.tsx at updateField. Read the highlighted current source before trying the UI.
TRY IT
Reset Complex Form State if necessary, then edit firstName and age.
Expected: The two controlled fields update independently; entering age does not erase firstName.
SOURCE NOTES
Advanced TypeScript: https://github.com/bodonnell-DePaul/webdev_week2/blob/main/README.md#advanced-typescript-concepts-explained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ArrayState, lines 49-86
Open the source view: http://127.0.0.1:8765/?source=slide-21#slide-21
Open the live example: http://127.0.0.1:5176/#/state/arrays
Topic: 3. State / Array state
Do: In Array State, enter Pear, click Add, then remove Pear with its adjacent × button.
Expect: Pear is appended, the input clears, and removing it leaves the other items unchanged.
The source viewer contains an exact snapshot from the current local app at deck build time.
Edit the actual source file, then rebuild the deck to refresh its snapshot and line references.
TEACHING NOTES
CONCEPT
Add Pear, observe the cleared input, then remove that row. Try whitespace-only input: the guard prevents an empty item.
The running sample identifies rows by index and uses index keys. That keeps this string-array exercise small, but stable item IDs are the stronger model for reorderable lists or rows containing their own state.
filter returns a new array. map also returns a new array but does not automatically clone every contained object. Avoid push, splice and in-place sort on state arrays.
CODE
Open src/components/StateDemo.tsx at ArrayState. Read the highlighted current source before trying the UI.
TRY IT
In Array State, enter Pear, click Add, then remove Pear with its adjacent × button.
Expected: Pear is appended, the input clears, and removing it leaves the other items unchanged.
SOURCE NOTES
Advanced TypeScript: https://github.com/bodonnell-DePaul/webdev_week2/blob/main/README.md#advanced-typescript-concepts-explained
Props and state: https://github.com/bodonnell-DePaul/webdev_week2/blob/main/README.md#working-with-props-and-state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FormState types, lines 88-115
Open the source view: http://127.0.0.1:8765/?source=slide-22#slide-22
Open the live example: http://127.0.0.1:5176/#/state/form
Topic: 3. State / Registration form
Do: In Complex Form State, reset if needed and submit blank fields. Then enter Ada, Lovelace, ada@example.com and age 18; submit again.
Expect: The first submit shows four field errors; the second shows the submitted values and a Reset button.
The source viewer contains an exact snapshot from the current local app at deck build time.
Edit the actual source file, then rebuild the deck to refresh its snapshot and line references.
TEACHING NOTES
CONCEPT
Read the actual four-field FormData state and the error state Partial&lt;Record&lt;keyof FormData, string&gt;&gt;. keyof yields field names; Record assigns string values; Partial lets fields without errors be omitted.
Partial&lt;FormData&gt; alone would preserve age as a number, so it would be the wrong type for an age error message. The running example already uses the correct mapped error shape.
The imported FormData interface is the app's model. EventsDemo separately uses the browser's built-in FormData constructor; they are not the same thing.
CODE
Open src/components/StateDemo.tsx at FormState types. Read the highlighted current source before trying the UI.
TRY IT
In Complex Form State, reset if needed and submit blank fields. Then enter Ada, Lovelace, ada@example.com and age 18; submit again.
Expected: The first submit shows four field errors; the second shows the submitted values and a Reset button.
SOURCE NOTES
Advanced TypeScript: https://github.com/bodonnell-DePaul/webdev_week2/blob/main/README.md#advanced-typescript-concepts-explained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updateField, lines 99-105
Open the source view: http://127.0.0.1:8765/?source=slide-23#slide-23
Open the live example: http://127.0.0.1:5176/#/state/form
Topic: 3. State / Registration form
Do: Edit age and firstName in Complex Form State, then compare the current updateField signature in Source with the proposed signature.
Expect: The UI continues to accept the existing handlers; Source shows string | number, not the generic refinement on the slide.
The source viewer contains an exact snapshot from the current local app at deck build time.
Edit the actual source file, then rebuild the deck to refresh its snapshot and line references.
TEACHING NOTES
CONCEPT
The running signature is (field: keyof FormData, value: string | number). It permits an incorrect source-level pairing such as updateField('age', 'eighteen'), even though the current age handler passes a number.
For ordinary literal-key calls, K and FormData[K] preserve the key/value relationship. This is a proposed type refinement, not an implemented feature. The slide omits the current error-clearing block to isolate the signature; a real refactor must retain it.
Types cannot validate input at runtime. Numeric parsing, valid ranges and useful feedback still require explicit behavior.
CODE
Open src/components/StateDemo.tsx at updateField. Read the highlighted current source before trying the UI.
TRY IT
Edit age and firstName in Complex Form State, then compare the current updateField signature in Source with the proposed signature.
Expected: The UI continues to accept the existing handlers; Source shows string | number, not the generic refinement on the slide.
SOURCE NOTES
Advanced TypeScript: https://github.com/bodonnell-DePaul/webdev_week2/blob/main/README.md#advanced-typescript-concepts-explained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validate, lines 106-115
Open the source view: http://127.0.0.1:8765/?source=slide-24#slide-24
Open the live example: http://127.0.0.1:5176/#/state/form
Topic: 3. State / Registration form
Do: In Complex Form State, reset if needed and submit blank fields. Then enter Ada, Lovelace, ada@example.com and age 18; submit again.
Expect: The first submit shows four field errors; the second shows the submitted values and a Reset button.
The source viewer contains an exact snapshot from the current local app at deck build time.
Edit the actual source file, then rebuild the deck to refresh its snapshot and line references.
TEACHING NOTES
CONCEPT
The excerpt selects the name and age rules; Source also checks lastName and email. Predict four errors on blank submission, then verify that supplying the four requested values reaches the success view.
This is small client-side validation, not a full validation policy. The email regex is intentionally basic; numeric parsing conflates some inputs; a real backend must validate independently.
For production accessibility, explicitly associate every label and error message with its input and expose aria-invalid/aria-describedby. Do not claim those enhancements already exist in this form.
CODE
Open src/components/StateDemo.tsx at validate. Read the highlighted current source before trying the UI.
TRY IT
In Complex Form State, reset if needed and submit blank fields. Then enter Ada, Lovelace, ada@example.com and age 18; submit again.
Expected: The first submit shows four field errors; the second shows the submitted values and a Reset button.
SOURCE NOTES
Advanced TypeScript: https://github.com/bodonnell-DePaul/webdev_week2/blob/main/README.md#advanced-typescript-concepts-explained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age input, lines 150-152
Open the source view: http://127.0.0.1:8765/?source=slide-25#slide-25
Open the live example: http://127.0.0.1:5176/#/state/form
Topic: 3. State / Registration form
Do: Reset the form if needed, enter age 17 and submit. Change age to 18 and submit again.
Expect: Age 17 produces Must be 18+; 18 passes the age rule, while other empty fields still have errors.
The source viewer contains an exact snapshot from the current local app at deck build time.
Edit the actual source file, then rebuild the deck to refresh its snapshot and line references.
TEACHING NOTES
CONCEPT
The highlighted source starts at the unique number-input attribute in FormState; it shows the actual controlled value and parsing handler. Follow that handler back to updateField.
parseInt(value) || 0 conflates empty, invalid and zero, and parseInt can truncate fractional input. A production refinement is to keep raw text until validation and check finite integer/range constraints explicitly. That is not the current implementation.
Counter uses a different fallback, parseInt(value) || 1. An HTML min attribute does not clamp every possible keystroke. Checkboxes instead use checked and the event's checked boolean.
CODE
Open src/components/StateDemo.tsx at age input. Read the highlighted current source before trying the UI.
TRY IT
Reset the form if needed, enter age 17 and submit. Change age to 18 and submit again.
Expected: Age 17 produces Must be 18+; 18 passes the age rule, while other empty fields still have errors.
SOURCE NOTES
Props and state: https://github.com/bodonnell-DePaul/webdev_week2/blob/main/README.md#working-with-props-and-state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handleSubmit, lines 116-124
Open the source view: http://127.0.0.1:8765/?source=slide-26#slide-26
Open the live example: http://127.0.0.1:5176/#/state/form
Topic: 3. State / Registration form
Do: In Complex Form State, reset if needed and submit blank fields. Then enter Ada, Lovelace, ada@example.com and age 18; submit again.
Expect: The first submit shows four field errors; the second shows the submitted values and a Reset button.
The source viewer contains an exact snapshot from the current local app at deck build time.
Edit the actual source file, then rebuild the deck to refresh its snapshot and line references.
TEACHING NOTES
CONCEPT
Read handleSubmit: preventDefault, call validate, and setSubmitted(true) only on success. No network request or async pending state occurs in this handler.
Try an invalid then a valid submission. The success block renders the same formData values, and Reset returns to the blank form.
For an actual server operation, add explicit pending/error feedback, guard duplicate submissions and restore pending state in finally. An error boundary does not replace handling errors in event handlers or failed requests.
CODE
Open src/components/StateDemo.tsx at handleSubmit. Read the highlighted current source before trying the UI.
TRY IT
In Complex Form State, reset if needed and submit blank fields. Then enter Ada, Lovelace, ada@example.com and age 18; submit again.
Expected: The first submit shows four field errors; the second shows the submitted values and a Reset button.
SOURCE NOTES
Event handling: https://github.com/bodonnell-DePaul/webdev_week2/blob/main/README.md#event-handling-in-react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full-react-demo\src\components\EventsDemo.tsx
Focus: EventsDemo handlers, lines 24-52
Open the source view: http://127.0.0.1:8765/?source=slide-27#slide-27
Open the live example: http://127.0.0.1:5176/#/events/mouse
Topic: 4. Events / Mouse events
Do: In Events → Mouse Events, click Click Me once and double-click Double-Click Me.
Expect: Click Me's count increases by one; the Event Log records both interactions.
The source viewer contains an exact snapshot from the current local app at deck build time.
Edit the actual source file, then rebuild the deck to refresh its snapshot and line references.
TEACHING NOTES
CONCEPT
The source uses React.MouseEvent and related namespace-qualified types. Type-only imports are another option; inline handlers often infer their event types.
currentTarget is the element with the handler, while target is where the event originated. EventsDemo uses currentTarget.value for keyboard input and target.value in its direct input-change handler.
Run a click and a double-click, then read their log entries. onKeyDown is the current keyboard API used here. Do not promise identical browser behavior for every event or replace semantic keyboard-accessible controls with mouse-only UI.
CODE
Open src/components/EventsDemo.tsx at EventsDemo handlers. Read the highlighted current source before trying the UI.
TRY IT
In Events → Mouse Events, click Click Me once and double-click Double-Click Me.
Expected: Click Me's count increases by one; the Event Log records both interactions.
SOURCE NOTES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full-react-demo\src\components\EventsDemo.tsx
Focus: Mouse Events JSX, lines 69-81
Open the source view: http://127.0.0.1:8765/?source=slide-28#slide-28
Open the live example: http://127.0.0.1:5176/#/events/mouse
Topic: 4. Events / Mouse events
Do: In Events → Mouse Events, click Click Me once and double-click Double-Click Me.
Expect: Click Me's count increases by one; the Event Log records both interactions.
The source viewer contains an exact snapshot from the current local app at deck build time.
Edit the actual source file, then rebuild the deck to refresh its snapshot and line references.
TEACHING NOTES
CONCEPT
Read the actual onClick={handleClick} and onDoubleClick={handleDoubleClick} props in the Mouse Events card. Predict when each handler runs, then test it.
The left comparison is intentionally wrong for this handler and may also fail type checking. A wrapper such as () =&gt; onDelete(user.id) is useful when supplying arguments, as seen in UserCard.
A deliberate higher-order function can return a handler, but do not confuse that pattern with accidentally invoking a state-updating handler during render.
CODE
Open src/components/EventsDemo.tsx at Mouse Events JSX. Read the highlighted current source before trying the UI.
TRY IT
In Events → Mouse Events, click Click Me once and double-click Double-Click Me.
Expected: Click Me's count increases by one; the Event Log records both interactions.
SOURCE NOTES
Understanding components: https://github.com/bodonnell-DePaul/webdev_week2/blob/main/README.md#understanding-components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full-react-demo\src\components\EventsDemo.tsx
Focus: handleKeyDown, lines 35-40
Open the source view: http://127.0.0.1:8765/?source=slide-29#slide-29
Open the live example: http://127.0.0.1:5176/#/events/keyboard
Topic: 4. Events / Keyboard events
Do: Type React in Keyboard Events, press ArrowLeft, then press Enter and inspect Event Log.
Expect: ArrowLeft creates no entry; Enter logs the value React.
The source viewer contains an exact snapshot from the current local app at deck build time.
Edit the actual source file, then rebuild the deck to refresh its snapshot and line references.
TEACHING NOTES
CONCEPT
Predict whether an arrow key creates a message: it does not, because the handler explicitly checks e.key === 'Enter'. Moving the caret also does not change the text value.
The input is uncontrolled in this card: it has no value prop. The handler reads its current DOM value at the event boundary. Contrast this with the controlled fields in StateDemo.
The element generic supplies the type of currentTarget, making its value property available without an unsafe cast.
CODE
Open src/components/EventsDemo.tsx at handleKeyDown. Read the highlighted current source before trying the UI.
TRY IT
Type React in Keyboard Events, press ArrowLeft, then press Enter and inspect Event Log.
Expected: ArrowLeft creates no entry; Enter logs the value React.
SOURCE NOTES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full-react-demo\src\components\EventsDemo.tsx
Focus: handleFormSubmit, lines 42-47
Open the source view: http://127.0.0.1:8765/?source=slide-30#slide-30
Open the live example: http://127.0.0.1:5176/#/events/form
Topic: 4. Events / Form submission
Do: In Form Submit, type hello and click Submit; look at Event Log.
Expect: A Form submitted with: "hello" entry appears without a document reload.
The source viewer contains an exact snapshot from the current local app at deck build time.
Edit the actual source file, then rebuild the deck to refresh its snapshot and line references.
TEACHING NOTES
CONCEPT
The input's name="demo-input" is the key used by the browser FormData object. This constructor is not the FormData interface imported by StateDemo.
Typing also records onChange entries. On submission, look for the distinct Form submitted with message at the top of Event Log; this is evidence of the submit handler, not merely of typing.
preventDefault cancels the browser's default submit action. It does not stop bubbling. No server request, validation workflow or persistent submission is implemented in this card.
CODE
Open src/components/EventsDemo.tsx at handleFormSubmit. Read the highlighted current source before trying the UI.
TRY IT
In Form Submit, type hello and click Submit; look at Event Log.
Expected: A Form submitted with: "hello" entry appears without a document reload.
SOURCE NOTES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full-react-demo\src\components\EventsDemo.tsx
Focus: handleLinkClick, lines 54-66
Open the source view: http://127.0.0.1:8765/?source=slide-31#slide-31
Open the live example: http://127.0.0.1:5176/#/events/prevent-default
Topic: 4. Events / Browser defaults
Do: Click the navigation-prevented link, then right-click the adjacent custom-menu box.
Expect: The app stays on the page and logs both interceptions; the box suppresses the browser menu but does not render a replacement menu.
The source viewer contains an exact snapshot from the current local app at deck build time.
Edit the actual source file, then rebuild the deck to refresh its snapshot and line references.
TEACHING NOTES
CONCEPT
Trace both handlers to e.preventDefault() and log. Test the link and the right-click box, then read the entries.
The box's label mentions a custom menu, but the current implementation only suppresses the native one; it does not render an alternative menu. Make that limitation explicit.
Do not treat cancelled navigation or disabled browser menus as default best practice. Production custom interactions need meaningful behavior, semantics, focus handling and keyboard alternatives.
CODE
Open src/components/EventsDemo.tsx at handleLinkClick. Read the highlighted current source before trying the UI.
TRY IT
Click the navigation-prevented link, then right-click the adjacent custom-menu box.
Expected: The app stays on the page and logs both interceptions; the box suppresses the browser menu but does not render a replacement menu.
SOURCE NOTES
Event handling: https://github.com/bodonnell-DePaul/webdev_week2/blob/main/README.md#event-handling-in-react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full-react-demo\src\components\EventsDemo.tsx
Focus: log, lines 20-23
Open the source view: http://127.0.0.1:8765/?source=slide-32#slide-32
Open the live example: http://127.0.0.1:5176/#/events/event-log
Topic: 4. Events / Event log
Do: Click Clear in Event Log, click Click Me twice, then type React in Keyboard Events and press Enter.
Expect: Three timestamped entries appear, newest first, with Enter at the top.
The source viewer contains an exact snapshot from the current local app at deck build time.
Edit the actual source file, then rebuild the deck to refresh its snapshot and line references.
TEACHING NOTES
CONCEPT
Predict the ordering before running the three-action sequence. Answer: Enter is newest and appears above the two Button clicked entries. Clear restores the instructional empty message.
The spread and slice return new arrays. Unlike PropsDemo's append-only log, this log prepends and truncates; do not describe both logs as having the same policy.
This teaching handler computes a timestamp inside a state updater. For strict purity, a production refinement would compute it before setLogs and pass the prepared entry into a pure updater. The slide shows the current code, not that refinement.
CODE
Open src/components/EventsDemo.tsx at log. Read the highlighted current source before trying the UI.
TRY IT
Click Clear in Event Log, click Click Me twice, then type React in Keyboard Events and press Enter.
Expected: Three timestamped entries appear, newest first, with Enter at the top.
SOURCE NOTES
Event handling: https://github.com/bodonnell-DePaul/webdev_week2/blob/main/README.md#event-handling-in-react
Props and state: https://github.com/bodonnell-DePaul/webdev_week2/blob/main/README.md#working-with-props-and-state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full-react-demo\src\components\StateDemo.tsx
Focus: FormState, lines 88-163
Open the source view: http://127.0.0.1:8765/?source=slide-33#slide-33
Open the live example: http://127.0.0.1:5176/#/state/form
Topic: 3. State / Registration form
Do: In Complex Form State, reset if needed and submit blank fields. Then enter Ada, Lovelace, ada@example.com and age 18; submit again.
Expect: The first submit shows four field errors; the second shows the submitted values and a Reset button.
The source viewer contains an exact snapshot from the current local app at deck build time.
Edit the actual source file, then rebuild the deck to refresh its snapshot and line references.
TEACHING NOTES
CONCEPT
Suggested answers: FormState owns formData, errors and submitted. Input handlers call updateField; handleSubmit prevents default, validates, and conditionally changes submitted. Reset clears the submitted flag and field data.
Blank submission produces four errors. Age 17 fails; 18 passes the age rule. Other missing fields still fail. A valid four-field submission reveals the success block.
Candidate improvements include raw numeric text plus explicit parsing, a generic key/value setter, associated input labels/error descriptions, or pending/error feedback for a real request. None should be described as already implemented. This is a discussion exercise, not an invented graded assignment.
CODE
Open src/components/StateDemo.tsx at FormState. Read the highlighted current source before trying the UI.
TRY IT
In Complex Form State, reset if needed and submit blank fields. Then enter Ada, Lovelace, ada@example.com and age 18; submit again.
Expected: The first submit shows four field errors; the second shows the submitted values and a Reset button.
SOURCE NOTES
Props and state: https://github.com/bodonnell-DePaul/webdev_week2/blob/main/README.md#working-with-props-and-state
Advanced TypeScript: https://github.com/bodonnell-DePaul/webdev_week2/blob/main/README.md#advanced-typescript-concepts-explained
Event handling: https://github.com/bodonnell-DePaul/webdev_week2/blob/main/README.md#event-handling-in-react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full-react-demo\src\components\CustomHooksDemo.tsx
Focus: CustomHooksDemo hook calls, lines 22-36
Open the source view: http://127.0.0.1:8765/?source=slide-34#slide-34
Open the live example: http://127.0.0.1:5176/#/hooks/fetch
Topic: 6. Custom Hooks / Fetching users
Do: Open Custom Hooks → Generic Data Fetching and wait for the bundled /users.json request.
Expect: The loading message is replaced by the local sample users' names and emails; no external API is needed.
The source viewer contains an exact snapshot from the current local app at deck build time.
Edit the actual source file, then rebuild the deck to refresh its snapshot and line references.
TEACHING NOTES
CONCEPT
Locate useFetch, both useLocalStorage calls and useWindowDimensions at the top of CustomHooksDemo. The loading/error/data choices occur later in JSX, not around those hook calls.
Ask what would go wrong if useState were called only when isLoggedIn is true: a later render could change hook order. These rules apply to the standard hooks taught here, including useState, useEffect, useContext, useMemo and useCallback.
React's separate use API has different conditional-call rules and is outside this lecture. Do not treat it as an exception for ordinary state and effect hooks.
CODE
Open src/components/CustomHooksDemo.tsx at CustomHooksDemo hook calls. Read the highlighted current source before trying the UI.
TRY IT
Open Custom Hooks → Generic Data Fetching and wait for the bundled /users.json request.
Expected: The loading message is replaced by the local sample users' names and emails; no external API is needed.
SOURCE NOTES
Hooks deep dive: https://github.com/bodonnell-DePaul/webdev_week2/blob/main/README.md#react-hooks-deep-dive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full-react-demo\src\components\EffectDemo.tsx
Focus: document.title effect, lines 32-38
Open the source view: http://127.0.0.1:8765/?source=slide-35#slide-35
Open the live example: http://127.0.0.1:5176/#/effects/dependencies
Topic: 5. useEffect / Document title
Do: In useEffect → Dependency Array, click +1 and inspect the browser tab title.
Expect: The visible count and the Count: … | React Demo browser title agree.
The source viewer contains an exact snapshot from the current local app at deck build time.
Edit the actual source file, then rebuild the deck to refresh its snapshot and line references.
TEACHING NOTES
CONCEPT
Compare the count paragraph with the browser tab title. Follow the exact effect, including its cleanup, rather than showing only the assignment.
When count changes, React cleans up the previous effect and sets up the next one. Leaving the tab unmounts EffectDemo and restores the captured title. Effects do not run for every abandoned render attempt.
Do not use an effect to copy a derived filtered list or a full name into extra state. The product pipeline later derives values during render. An explicit submit action belongs in its event handler.
CODE
Open src/components/EffectDemo.tsx at document.title effect. Read the highlighted current source before trying the UI.
TRY IT
In useEffect → Dependency Array, click +1 and inspect the browser tab title.
Expected: The visible count and the Count: … | React Demo browser title agree.
SOURCE NOTES
Hooks deep dive: https://github.com/bodonnell-DePaul/webdev_week2/blob/main/README.md#react-hooks-deep-dive
Application components: https://github.com/bodonnell-DePaul/webdev_week2/blob/main/README.md#sample-application-components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full-react-demo\src\components\EffectDemo.tsx
Focus: effectRunCount, lines 23-31
Open the source view: http://127.0.0.1:8765/?source=slide-36#slide-36
Open the live example: http://127.0.0.1:5176/#/effects/every-render
Topic: 5. useEffect / Effect executions
Do: Observe the effect-run count, click +1 in the Dependency Array card, then read the effect-run count again.
Expect: The displayed effect count increases after the committed update; the initial count may include Strict Mode checks.
The source viewer contains an exact snapshot from the current local app at deck build time.
Edit the actual source file, then rebuild the deck to refresh its snapshot and line references.
TEACHING NOTES
CONCEPT
The no-dependency-array effect increments a ref and writes its display through a DOM ref. It avoids using a state setter solely to count effect runs, which would schedule another render and repeat the effect indefinitely.
This DOM write is instrumentation for the lesson, not a recommendation to bypass React for normal UI. A ref persists without causing a render when its current value changes.
React compares dependencies with Object.is. Include reactive values the effect reads, not a hand-picked schedule. Empty dependencies do not prevent remounting or Strict Mode checks. The effect count may start above one; demonstrate changes rather than promising an exact initial number.
CODE
Open src/components/EffectDemo.tsx at effectRunCount. Read the highlighted current source before trying the UI.
TRY IT
Observe the effect-run count, click +1 in the Dependency Array card, then read the effect-run count again.
Expected: The displayed effect count increases after the committed update; the initial count may include Strict Mode checks.
SOURCE NOTES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full-react-demo\src\components\EffectDemo.tsx
Focus: resize effect, lines 39-45
Open the source view: http://127.0.0.1:8765/?source=slide-37#slide-37
Open the live example: http://127.0.0.1:5176/#/effects/resize
Topic: 5. useEffect / Resize listener
Do: Resize the browser while viewing useEffect → Resize Listener with Cleanup.
Expect: Window width updates to the current viewport width in pixels.
The source viewer contains an exact snapshot from the current local app at deck build time.
Edit the actual source file, then rebuild the deck to refresh its snapshot and line references.
TEACHING NOTES
CONCEPT
Read the listener's local function, registration and returned cleanup. Resize the browser, then switch tabs and return to discuss unmount/remount.
The state setter has stable identity. The effect does not read a changing component value that would require another dependency. A Strict Mode setup-cleanup-setup sequence should leave the intended active listener.
Both EffectDemo's initializer and the later custom dimensions hook access window directly. That is appropriate for this browser-only demo; server-rendered reuse would require a server-safe design.
CODE
Open src/components/EffectDemo.tsx at resize effect. Read the highlighted current source before trying the UI.
TRY IT
Resize the browser while viewing useEffect → Resize Listener with Cleanup.
Expected: Window width updates to the current viewport width in pixels.
SOURCE NOTES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full-react-demo\src\components\EffectDemo.tsx
Focus: timer effect, lines 46-60
Open the source view: http://127.0.0.1:8765/?source=slide-38#slide-38
Open the live example: http://127.0.0.1:5176/#/effects/timer
Topic: 5. useEffect / Interval timer
Do: Click Reset, then Start; wait for at least two ticks, click Stop, wait again, and finally click Reset.
Expect: Seconds increase while running, stay fixed after Stop, and return to 0 after Reset.
The source viewer contains an exact snapshot from the current local app at deck build time.
Edit the actual source file, then rebuild the deck to refresh its snapshot and line references.
TEACHING NOTES
CONCEPT
Answer: Stop sets timerRunning false and cleanup clears the interval, but seconds stays at its current value. Reset stops the timer and sets seconds to 0. Switching to another tab unmounts EffectDemo and clears the interval; returning mounts fresh timer state at 0.
The interval callback uses a functional seconds updater, so the effect does not need to read seconds or recreate the interval every tick. timerRunning is the actual reactive dependency.
Timers are not precise clocks; browser scheduling can delay ticks. The lesson is setup/cleanup and state ownership, not elapsed-time accuracy.
CODE
Open src/components/EffectDemo.tsx at timer effect. Read the highlighted current source before trying the UI.
TRY IT
Click Reset, then Start; wait for at least two ticks, click Stop, wait again, and finally click Reset.
Expected: Seconds increase while running, stay fixed after Stop, and return to 0 after Reset.
SOURCE NOTES
Hooks deep dive: https://github.com/bodonnell-DePaul/webdev_week2/blob/main/README.md#react-hooks-deep-dive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full-react-demo\src\components\CustomHooksDemo.tsx
Focus: fetch UI, lines 98-129
Open the source view: http://127.0.0.1:8765/?source=slide-39#slide-39
Open the live example: http://127.0.0.1:5176/#/hooks/fetch
Topic: 6. Custom Hooks / Fetching users
Do: Open Custom Hooks → Generic Data Fetching and wait for the bundled /users.json request.
Expect: The loading message is replaced by the local sample users' names and emails; no external API is needed.
The source viewer contains an exact snapshot from the current local app at deck build time.
Edit the actual source file, then rebuild the deck to refresh its snapshot and line references.
TEACHING NOTES
CONCEPT
Read the actual loading ? ... : error ? ... : ... branches in CustomHooksDemo. The fixture is served by the app, so this demonstration needs no external API or backend. The initial loading state may be very brief on a local server.
For a failure demonstration, use browser DevTools request blocking for /users.json and remount the tab; unblock and remount afterward. The current hook has no retry button or refetch method.
An empty array is a successful response, but the current list has no dedicated empty-message text. A clear empty state and retry affordance are proposed UX improvements, not existing features.
CODE
Open src/components/CustomHooksDemo.tsx at fetch UI. Read the highlighted current source before trying the UI.
TRY IT
Open Custom Hooks → Generic Data Fetching and wait for the bundled /users.json request.
Expected: The loading message is replaced by the local sample users' names and emails; no external API is needed.
SOURCE NOTES
Hooks deep dive: https://github.com/bodonnell-DePaul/webdev_week2/blob/main/README.md#react-hooks-deep-dive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full-react-demo\src\hooks\useFetch.ts
Focus: useFetch, lines 17-49
Open the source view: http://127.0.0.1:8765/?source=slide-40#slide-40
Open the live example: http://127.0.0.1:5176/#/hooks/fetch
Topic: 6. Custom Hooks / Fetching users
Do: Open Custom Hooks, switch to State, then return to Custom Hooks while watching /users.json in the browser Network panel.
Expect: The current mounted hook displays the bundled users. Leaving a tab does not abort the HTTP request; cleanup prevents obsolete state writes.
The source viewer contains an exact snapshot from the current local app at deck build time.
Edit the actual source file, then rebuild the deck to refresh its snapshot and line references.
TEACHING NOTES
CONCEPT
The excerpts come from one effect. Source shows the missing surrounding try/catch/finally: data, error and final loading updates are guarded by cancelled. The effect resets loading and error for each URL; it does not clear previous data.
Cleanup sets a closure-local flag. This stops obsolete effects from committing async results, but it does not cancel network transport. AbortController would be a possible enhancement, not the implementation being demonstrated.
useFetch&lt;T&gt;(url) has one argument. It trusts parsed JSON and has no decoder, shared cache or automatic retry. Production refinements may include schema validation, deliberate stale-data policy, request abortion and a data-loading library. Never demonstrate an improved two-argument hook as if this app used it.
CODE
Open src/hooks/useFetch.ts at useFetch. Read the highlighted current source before trying the UI.
TRY IT
Open Custom Hooks, switch to State, then return to Custom Hooks while watching /users.json in the browser Network panel.
Expected: The current mounted hook displays the bundled users. Leaving a tab does not abort the HTTP request; cleanup prevents obsolete state writes.
SOURCE NOTES
Hooks deep dive: https://github.com/bodonnell-DePaul/webdev_week2/blob/main/README.md#react-hooks-deep-dive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full-react-demo\src\components\CustomHooksDemo.tsx
Focus: DemoUser / useFetch, lines 16-24
Open the source view: http://127.0.0.1:8765/?source=slide-41#slide-41
Open the live example: http://127.0.0.1:5176/#/hooks/fetch
Topic: 6. Custom Hooks / Fetching users
Do: Open Custom Hooks → Generic Data Fetching and wait for the bundled /users.json request.
Expect: The loading message is replaced by the local sample users' names and emails; no external API is needed.
The source viewer contains an exact snapshot from the current local app at deck build time.
Edit the actual source file, then rebuild the deck to refresh its snapshot and line references.
TEACHING NOTES
CONCEPT
The real call is useFetch&lt;DemoUser[]&gt;('/users.json'). DemoUser has id, name and email; it is not the richer auth User model with role and lastActive. The generic provides compile-time information, not runtime validation.
The declaration function useFetch&lt;T&gt;(...) needs no trailing comma. A generic arrow declared in TSX can use &lt;T,&gt; to avoid being parsed as a JSX tag; this app uses a named generic function in a .ts file.
useLocalStorage returns [storedValue, setValue] as const so destructuring preserves distinct value and function types. It does not freeze data or imply that the setter has every guarantee of React's setter.
CODE
Open src/components/CustomHooksDemo.tsx at DemoUser / useFetch. Read the highlighted current source before trying the UI.
TRY IT
Open Custom Hooks → Generic Data Fetching and wait for the bundled /users.json request.
Expected: The loading message is replaced by the local sample users' names and emails; no external API is needed.
SOURCE NOTES
Hooks deep dive: https://github.com/bodonnell-DePaul/webdev_week2/blob/main/README.md#react-hooks-deep-dive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full-react-demo\src\hooks\useLocalStorage.ts
Focus: useLocalStorage, lines 17-39
Open the source view: http://127.0.0.1:8765/?source=slide-42#slide-42
Open the live example: http://127.0.0.1:5176/#/hooks/storage
Topic: 6. Custom Hooks / Persistent state
Do: In Custom Hooks → Persistent State, enter Ada and reload the page on the same app origin.
Expect: With browser storage available, the input and Stored value restore Ada after reload.
The source viewer contains an exact snapshot from the current local app at deck build time.
Edit the actual source file, then rebuild the deck to refresh its snapshot and line references.
TEACHING NOTES
CONCEPT
Open the actual hook: a lazy useState initializer reads the key, catches parse/read failures and falls back to initialValue. setValue resolves an updater against the captured storedValue, sets React state, and writes JSON immediately. Errors are logged, not returned to the UI.
Two updater calls in one handler can both use the same old storedValue and lose an update. A stronger design could expose React's real setter and persist committed state separately, with validated reads and visible errors. That design is an improvement, not the running hook.
Try typing Ada and reloading on the same origin. Use only non-sensitive demo values. There is no cross-tab synchronization or runtime JSON validation; fixed keys and JSON-serializable values are assumed. Strict Mode can call lazy initializers more than once during development.
CODE
Open src/hooks/useLocalStorage.ts at useLocalStorage. Read the highlighted current source before trying the UI.
TRY IT
In Custom Hooks → Persistent State, enter Ada and reload the page on the same app origin.
Expected: With browser storage available, the input and Stored value restore Ada after reload.
SOURCE NOTES
Hooks deep dive: https://github.com/bodonnell-DePaul/webdev_week2/blob/main/README.md#react-hooks-deep-dive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full-react-demo\src\hooks\useWindowDimensions.ts
Focus: useWindowDimensions, lines 18-39
Open the source view: http://127.0.0.1:8765/?source=slide-43#slide-43
Open the live example: http://127.0.0.1:5176/#/hooks/dimensions
Topic: 6. Custom Hooks / Window dimensions
Do: Resize the browser to widths around 1000, 800 and 500 pixels in Custom Hooks → Responsive Hook.
Expect: Width and height update; the bar is green, then amber, then red.
The source viewer contains an exact snapshot from the current local app at deck build time.
Edit the actual source file, then rebuild the deck to refresh its snapshot and line references.
TEACHING NOTES
CONCEPT
The hook initializes width and height from window, sets up one listener and returns dimensions. CustomHooksDemo consumes that object and chooses the displayed text and color.
The exact color condition is width &gt; 900 for green, width &gt; 600 for amber, otherwise red. At precisely 600 the bar is red, despite the simplified explanatory range text in the running UI.
This browser-only hook does not share a singleton subscription across callers. If many consumers need the same external store, a shared subscription design may be useful. Server rendering also needs a different initialization strategy.
CODE
Open src/hooks/useWindowDimensions.ts at useWindowDimensions. Read the highlighted current source before trying the UI.
TRY IT
Resize the browser to widths around 1000, 800 and 500 pixels in Custom Hooks → Responsive Hook.
Expected: Width and height update; the bar is green, then amber, then red.
SOURCE NOTES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full-react-demo\src\components\CustomHooksDemo.tsx
Focus: preferences, lines 26-31
Open the source view: http://127.0.0.1:8765/?source=slide-44#slide-44
Open the live example: http://127.0.0.1:5176/#/hooks/storage
Topic: 6. Custom Hooks / Persistent state
Do: Click Toggle Theme in Custom Hooks → Persistent State while observing the saved preference text and the app's colors.
Expect: The stored preference's theme text changes; the app shell's colors do not change.
The source viewer contains an exact snapshot from the current local app at deck build time.
Edit the actual source file, then rebuild the deck to refresh its snapshot and line references.
TEACHING NOTES
CONCEPT
Answer: no. The Custom Hooks button updates preferences under the demo-prefs storage key. AppContent reads ThemeContext, whose separate state is owned by ThemeProvider. No connection between those two values is implemented.
The name and preferences hooks also have independent state and different storage keys. Even two calls using the same key would not automatically synchronize their React state in this implementation.
To share a live value, put one state instance in an appropriate common owner and pass props or context. This prediction introduces the distinction between reusable behavior and shared state.
CODE
Open src/components/CustomHooksDemo.tsx at preferences. Read the highlighted current source before trying the UI.
TRY IT
Click Toggle Theme in Custom Hooks → Persistent State while observing the saved preference text and the app's colors.
Expected: The stored preference's theme text changes; the app shell's colors do not change.
SOURCE NOTES
Hooks deep dive: https://github.com/bodonnell-DePaul/webdev_week2/blob/main/README.md#react-hooks-deep-dive
Context API: https://github.com/bodonnell-DePaul/webdev_week2/blob/main/README.md#context-api-for-state-management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full-react-demo\src\context\AuthContext.tsx
Focus: AuthProvider, lines 30-67
Open the source view: http://127.0.0.1:8765/?source=slide-45#slide-45
Open the live example: http://127.0.0.1:5176/#/context/auth
Topic: 7. Context API / Demo authentication
Do: In Context API → Auth, log out if needed, click Admin, inspect the profile, then click Logout.
Expect: Admin Alice and the admin badge appear; Logout restores the role buttons. Notifications report both actions.
The source viewer contains an exact snapshot from the current local app at deck build time.
Edit the actual source file, then rebuild the deck to refresh its snapshot and line references.
TEACHING NOTES
CONCEPT
Follow the actual tree: AuthProvider is above AppContent and ContextDemo. ContextDemo reads isAuthenticated and chooses LoginForm or UserProfile. Those children use auth operations and notifications without callback props passed through AppContent.
ThemeToggler reads ThemeContext; NotificationTester reads NotificationContext. These are focused, separate providers, not one global object holding every local field.
Props and composition remain good solutions for nearby components. Context reads the closest matching provider above the consumer; returning a provider below a useContext call does not supply that earlier read.
CODE
Open src/context/AuthContext.tsx at AuthProvider. Read the highlighted current source before trying the UI.
TRY IT
In Context API → Auth, log out if needed, click Admin, inspect the profile, then click Logout.
Expected: Admin Alice and the admin badge appear; Logout restores the role buttons. Notifications report both actions.
SOURCE NOTES
Context API: https://github.com/bodonnell-DePaul/webdev_week2/blob/main/README.md#context-api-for-state-management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full-react-demo\src\context\AuthContext.tsx
Focus: useAuth, lines 68-74
Open the source view: http://127.0.0.1:8765/?source=slide-46#slide-46
Open the live example: http://127.0.0.1:5176/#/context/auth
Topic: 7. Context API / Demo authentication
Do: In Context API → Auth, log out if needed, click Admin, inspect the profile, then click Logout.
Expect: Admin Alice and the admin badge appear; Logout restores the role buttons. Notifications report both actions.
The source viewer contains an exact snapshot from the current local app at deck build time.
Edit the actual source file, then rebuild the deck to refresh its snapshot and line references.
TEACHING NOTES
CONCEPT
Inspect createContext&lt;AuthContextType | undefined&gt;(undefined), then the highlighted guard. The hook returns a non-optional context after the check; it does not silently supply dummy login/logout functions.
The live app succeeds because App mounts AuthProvider above every selected demo. There is no need to break the running provider tree to understand the failure branch.
The other context modules use the same consumer-hook pattern. These hooks read shared context; unlike a custom hook containing its own useState, they do not create independent copies of provider state.
CODE
Open src/context/AuthContext.tsx at useAuth. Read the highlighted current source before trying the UI.
TRY IT
In Context API → Auth, log out if needed, click Admin, inspect the profile, then click Logout.
Expected: Admin Alice and the admin badge appear; Logout restores the role buttons. Notifications report both actions.
SOURCE NOTES
Context API: https://github.com/bodonnell-DePaul/webdev_week2/blob/main/README.md#context-api-for-state-management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full-react-demo\src\context\AuthContext.tsx
Focus: AuthProvider, lines 30-67
Open the source view: http://127.0.0.1:8765/?source=slide-47#slide-47
Open the live example: http://127.0.0.1:5176/#/context/auth
Topic: 7. Context API / Demo authentication
Do: Log out if needed, choose Guest, then reload the app on the same origin and open Context API → Auth.
Expect: With valid accessible storage, Guest Charlie is restored from demoUser after mounting.
The source viewer contains an exact snapshot from the current local app at deck build time.
Edit the actual source file, then rebuild the deck to refresh its snapshot and line references.
TEACHING NOTES
CONCEPT
Source also shows the provider value and the mount effect that restores demoUser. It parses JSON and reconstructs lastActive as a Date; isAuthenticated and isAdmin are derived directly from user.
Restoring in an effect can briefly render the logged-out branch first. Shape validation, storage-failure feedback and an explicit restoration state are possible production improvements, not currently implemented.
This is mock login chosen by the instructor. A saved role is not proof of identity and hiding a UI element is not server authorization. Do not store credentials or secrets in this demo.
CODE
Open src/context/AuthContext.tsx at AuthProvider. Read the highlighted current source before trying the UI.
TRY IT
Log out if needed, choose Guest, then reload the app on the same origin and open Context API → Auth.
Expected: With valid accessible storage, Guest Charlie is restored from demoUser after mounting.
SOURCE NOTES
Context API: https://github.com/bodonnell-DePaul/webdev_week2/blob/main/README.md#context-api-for-state-management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full-react-demo\src\components\ContextDemo.tsx
Focus: UserProfile, lines 50-74
Open the source view: http://127.0.0.1:8765/?source=slide-48#slide-48
Open the live example: http://127.0.0.1:5176/#/context/auth
Topic: 7. Context API / Demo authentication
Do: In Context API → Auth, log out if needed, click Admin, inspect the profile, then click Logout.
Expect: Admin Alice and the admin badge appear; Logout restores the role buttons. Notifications report both actions.
The source viewer contains an exact snapshot from the current local app at deck build time.
Edit the actual source file, then rebuild the deck to refresh its snapshot and line references.
TEACHING NOTES
CONCEPT
The profile displays the name, email and role, plus an admin badge when isAdmin is true. Its logout button calls handleLogout; ContextDemo then switches back to LoginForm using isAuthenticated.
LoginForm similarly constructs a mock user, calls login and adds a success message. The toast UI lives in NotificationTester in the same Context tab, not in an app-wide overlay mounted beside every demo.
Hooks are called before the early return. null is a legitimate render result, not an exception.
CODE
Open src/components/ContextDemo.tsx at UserProfile. Read the highlighted current source before trying the UI.
TRY IT
In Context API → Auth, log out if needed, click Admin, inspect the profile, then click Logout.
Expected: Admin Alice and the admin badge appear; Logout restores the role buttons. Notifications report both actions.
SOURCE NOTES
Context API: https://github.com/bodonnell-DePaul/webdev_week2/blob/main/README.md#context-api-for-state-management
Event handling: https://github.com/bodonnell-DePaul/webdev_week2/blob/main/README.md#event-handling-in-react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full-react-demo\src\context\ThemeContext.tsx
Focus: ThemeProvider, lines 38-51
Open the source view: http://127.0.0.1:8765/?source=slide-49#slide-49
Open the live example: http://127.0.0.1:5176/#/context/theme
Topic: 7. Context API / Theme
Do: In Context API → Theme Context, click the Dark or Light toggle once.
Expect: Current theme changes and the app's colors switch with it.
The source viewer contains an exact snapshot from the current local app at deck build time.
Edit the actual source file, then rebuild the deck to refresh its snapshot and line references.
TEACHING NOTES
CONCEPT
Open ThemeProvider, then connect its value to ThemeToggler's label and AppContent's app/theme class. Toggle once and observe both parts change from the same value.
This theme persists when switching tabs because the provider stays mounted. It is not stored by ThemeProvider, so a full reload resets it to light. The demo-prefs object in Custom Hooks is independent and does not restore this provider.
The provider creates a fresh value object when it renders. Split responsibilities for clarity first; only stabilize provider values if profiling demonstrates useful avoided work.
CODE
Open src/context/ThemeContext.tsx at ThemeProvider. Read the highlighted current source before trying the UI.
TRY IT
In Context API → Theme Context, click the Dark or Light toggle once.
Expected: Current theme changes and the app's colors switch with it.
SOURCE NOTES
Context API: https://github.com/bodonnell-DePaul/webdev_week2/blob/main/README.md#context-api-for-state-management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full-react-demo\src\context\NotificationContext.tsx
Focus: NotificationProvider, lines 26-47
Open the source view: http://127.0.0.1:8765/?source=slide-50#slide-50
Open the live example: http://127.0.0.1:5176/#/context/notifications
Topic: 7. Context API / Notifications
Do: Click Success and wait about three seconds. Click Info and dismiss that message with ×.
Expect: Success auto-dismisses; Info can be removed manually. The rendered toast list is in this Context card.
The source viewer contains an exact snapshot from the current local app at deck build time.
Edit the actual source file, then rebuild the deck to refresh its snapshot and line references.
TEACHING NOTES
CONCEPT
The top excerpt is inside addNotification; the bottom is the removeNotification callback defined earlier in the provider. Source shows their true declaration order. NotificationTester calls these operations and maps the shared list to toast elements.
Click Success and observe the three-second removal, then dismiss Info manually. The provider's timer will later try to remove the already-removed ID; filtering simply leaves the list unchanged.
Current caveats: Date.now IDs can collide; timeout handles are not retained for provider-unmount cleanup; the shared type's optional duration is not used by this provider. Unique IDs, timer ownership/cleanup and accessible announcement/dismiss labels are production refinements, not implemented guarantees.
CODE
Open src/context/NotificationContext.tsx at NotificationProvider. Read the highlighted current source before trying the UI.
TRY IT
Click Success and wait about three seconds. Click Info and dismiss that message with ×.
Expected: Success auto-dismisses; Info can be removed manually. The rendered toast list is in this Context card.
SOURCE NOTES
Context API: https://github.com/bodonnell-DePaul/webdev_week2/blob/main/README.md#context-api-for-state-management
Hooks deep dive: https://github.com/bodonnell-DePaul/webdev_week2/blob/main/README.md#react-hooks-deep-dive
Application components: https://github.com/bodonnell-DePaul/webdev_week2/blob/main/README.md#sample-application-components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full-react-demo\src\components\PerformanceDemo.tsx
Focus: ExpensiveChild, lines 15-47
Open the source view: http://127.0.0.1:8765/?source=slide-51#slide-51
Open the live example: http://127.0.0.1:5176/#/performance/memo-child
Topic: 8. Performance / Memoized child
Do: In Performance, click Increment Parent, then click React inside ExpensiveChild.
Expect: Parent count increases and Last clicked becomes React; with stable props, the displayed child render count normally stays unchanged.
The source viewer contains an exact snapshot from the current local app at deck build time.
Edit the actual source file, then rebuild the deck to refresh its snapshot and line references.
TEACHING NOTES
CONCEPT
Locate memo around ExpensiveChild, useMemo for items and useCallback for handleItemClick. The same array and function references let the child normally skip a parent count update.
Click Increment Parent, then React. Parent count and Last clicked change without changing those props. memo does not block the child's own state/context updates, and caches may be discarded.
The displayed childRenderCount is a module variable incremented during render. It is illustrative instrumentation, not a reliable production render metric, and Strict Mode/HMR can affect it. Use React DevTools Profiler for measurement; do not promise a particular initial count or use this mutation pattern in real rendering logic.
CODE
Open src/components/PerformanceDemo.tsx at ExpensiveChild. Read the highlighted current source before trying the UI.
TRY IT
In Performance, click Increment Parent, then click React inside ExpensiveChild.
Expected: Parent count increases and Last clicked becomes React; with stable props, the displayed child render count normally stays unchanged.
SOURCE NOTES
Best practices: https://github.com/bodonnell-DePaul/webdev_week2/blob/main/README.md#best-practices-and-code-quality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full-react-demo\src\components\PerformanceDemo.tsx
Focus: fibonacci, lines 49-55
Open the source view: http://127.0.0.1:8765/?source=slide-52#slide-52
Open the live example: http://127.0.0.1:5176/#/performance/calculation
Topic: 8. Performance / Cached calculation
Do: On a fresh Performance tab, click Increment Parent twice, then click TypeScript in the child list.
Expect: The calculation shows Fibonacci of 2 = 1; changing Last clicked leaves that result unchanged.
The source viewer contains an exact snapshot from the current local app at deck build time.
Edit the actual source file, then rebuild the deck to refresh its snapshot and line references.
TEACHING NOTES
CONCEPT
On a freshly mounted Performance tab, two parent increments produce count 2 and Fibonacci result 1. Clicking TypeScript changes selectedItem but not count, so the cached calculation can be reused.
The current code uses count &gt; 35 ? 35 : count. Above 35, the UI still labels the original count but the computed result is F(35); do not present it as the uncapped mathematical result. The memo also still depends on the original count.
This intentionally recursive calculation is a teaching workload. A better algorithm or moving heavy work off the main thread may be more valuable than caching. Memoization does not make the first expensive calculation cheap.
CODE
Open src/components/PerformanceDemo.tsx at fibonacci. Read the highlighted current source before trying the UI.
TRY IT
On a fresh Performance tab, click Increment Parent twice, then click TypeScript in the child list.
Expected: The calculation shows Fibonacci of 2 = 1; changing Last clicked leaves that result unchanged.
SOURCE NOTES
Hooks deep dive: https://github.com/bodonnell-DePaul/webdev_week2/blob/main/README.md#react-hooks-deep-dive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full-react-demo\src\components\UseMemoDemo.tsx
Focus: fibResult, lines 48-54
Open the source view: http://127.0.0.1:8765/?source=slide-53#slide-53
Open the live example: http://127.0.0.1:5176/#/usememo/fibonacci
Topic: 9. useMemo / Fibonacci
Do: In useMemo → Fibonacci, set the input to 20, note the result and elapsed value, then increment the unrelated counter.
Expect: The result is 6765. The counter changes while the displayed last-calculation time stays the same, not necessarily zero.
The source viewer contains an exact snapshot from the current local app at deck build time.
Edit the actual source file, then rebuild the deck to refresh its snapshot and line references.
TEACHING NOTES
CONCEPT
Answer: F(20) is 6765. The unrelated counter changes, but the cached result and its elapsed field remain the same. The elapsed value is not necessarily 0; the running explanatory text's “stay at 0 ms” is not an accurate promise.
Changing fibInput invalidates this cache. The callback measures the synchronous recursive calculation and caps its argument at 40. Use a modest value such as 20 in class rather than deliberately blocking the UI at the cap.
Timing is pedagogical instrumentation inside the calculation. Strict Mode can invoke calculations again during development checks, so treat timing and invocation counts as illustrations, not benchmarks.
CODE
Open src/components/UseMemoDemo.tsx at fibResult. Read the highlighted current source before trying the UI.
TRY IT
In useMemo → Fibonacci, set the input to 20, note the result and elapsed value, then increment the unrelated counter.
Expected: The result is 6765. The counter changes while the displayed last-calculation time stays the same, not necessarily zero.
SOURCE NOTES
Hooks deep dive: https://github.com/bodonnell-DePaul/webdev_week2/blob/main/README.md#react-hooks-deep-dive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full-react-demo\src\components\UseMemoDemo.tsx
Focus: filteredProducts, lines 56-91
Open the source view: http://127.0.0.1:8765/?source=slide-54#slide-54
Open the live example: http://127.0.0.1:5176/#/usememo/products
Topic: 9. useMemo / Product filters
Do: In Filtered Product List, search Electronics, choose Sort by Price, and check In stock only.
Expect: Wireless Mouse ($49.99) precedes Mechanical Keyboard ($129.99); the stats show 2 products, $89.99 average, and 2 in stock.
The source viewer contains an exact snapshot from the current local app at deck build time.
Edit the actual source file, then rebuild the deck to refresh its snapshot and line references.
TEACHING NOTES
CONCEPT
Trace the three state declarations into filteredProducts. Search matches lowercase product name OR category; the stock filter then narrows that result. Sorting uses a copied array.
Try Electronics → price → in stock. The two surviving rows are Wireless Mouse and Mechanical Keyboard, in ascending price order. The current search does not trim whitespace, so trailing spaces can affect matches.
This ten-product catalog belongs only to UseMemoDemo. It is not the reducer's book/course catalog and is not fetched from useFetch. Ten records do not prove a performance need; the pipeline demonstrates dependency and derived-data structure.
CODE
Open src/components/UseMemoDemo.tsx at filteredProducts. Read the highlighted current source before trying the UI.
TRY IT
In Filtered Product List, search Electronics, choose Sort by Price, and check In stock only.
Expected: Wireless Mouse ($49.99) precedes Mechanical Keyboard ($129.99); the stats show 2 products, $89.99 average, and 2 in stock.
SOURCE NOTES
Application components: https://github.com/bodonnell-DePaul/webdev_week2/blob/main/README.md#sample-application-components
Application integration: https://github.com/bodonnell-DePaul/webdev_week2/blob/main/README.md#building-towards-a-complete-application
Hooks deep dive: https://github.com/bodonnell-DePaul/webdev_week2/blob/main/README.md#react-hooks-deep-dive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full-react-demo\src\components\UseMemoDemo.tsx
Focus: immutable sort, lines 74-81
Open the source view: http://127.0.0.1:8765/?source=slide-55#slide-55
Open the live example: http://127.0.0.1:5176/#/usememo/products
Topic: 9. useMemo / Product filters
Do: Clear the product search, uncheck In stock only, switch from Sort by Name to Sort by Price, then back.
Expect: All ten rows reorder by the selected comparator; price order starts with Developer Sticker Pack at $9.99.
The source viewer contains an exact snapshot from the current local app at deck build time.
Edit the actual source file, then rebuild the deck to refresh its snapshot and line references.
TEACHING NOTES
CONCEPT
The current filter begins with let result = SAMPLE_PRODUCTS, which initially aliases the source array. Copying immediately before sort protects it even if neither filter ran.
This is a comparison with a hypothetical mistake, not a bug claimed to exist in the running pipeline. The safe branch shown on the right is already implemented.
useMemo callbacks run during rendering and must not mutate shared inputs. A cache is not permission to perform side effects. For more complex sorting, preserve typed comparator choices and runtime validation at external boundaries.
CODE
Open src/components/UseMemoDemo.tsx at immutable sort. Read the highlighted current source before trying the UI.
TRY IT
Clear the product search, uncheck In stock only, switch from Sort by Name to Sort by Price, then back.
Expected: All ten rows reorder by the selected comparator; price order starts with Developer Sticker Pack at $9.99.
SOURCE NOTES
Application components: https://github.com/bodonnell-DePaul/webdev_week2/blob/main/README.md#sample-application-components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full-react-demo\src\components\UseMemoDemo.tsx
Focus: stats, lines 82-91
Open the source view: http://127.0.0.1:8765/?source=slide-56#slide-56
Open the live example: http://127.0.0.1:5176/#/usememo/products
Topic: 9. useMemo / Product filters
Do: Search for zzzz-no-match in Filtered Product List, then replace it with Electronics and check In stock only.
Expect: The no-match state reports 0 products and $0.00 average; the in-stock Electronics result reports 2 products and $89.99 average.
The source viewer contains an exact snapshot from the current local app at deck build time.
Edit the actual source file, then rebuild the deck to refresh its snapshot and line references.
TEACHING NOTES
CONCEPT
Read the dependency chain: three controls → filteredProducts → stats → rendered table and summary. total and average are not independently editable state.
The empty guard avoids dividing by zero. The current UI keeps table headers but renders no product rows; it does not display a dedicated no-matches message. Adding that message would improve feedback.
Because filteredProducts itself is memoized, its reference can remain stable when unrelated state changes. These caches are teaching choices; measure before retaining them in a small real feature.
CODE
Open src/components/UseMemoDemo.tsx at stats. Read the highlighted current source before trying the UI.
TRY IT
Search for zzzz-no-match in Filtered Product List, then replace it with Electronics and check In stock only.
Expected: The no-match state reports 0 products and $0.00 average; the in-stock Electronics result reports 2 products and $89.99 average.
SOURCE NOTES
Hooks deep dive: https://github.com/bodonnell-DePaul/webdev_week2/blob/main/README.md#react-hooks-deep-dive
Application components: https://github.com/bodonnell-DePaul/webdev_week2/blob/main/README.md#sample-application-components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full-react-demo\src\components\UseReducerDemo.tsx
Focus: CartAction, lines 15-34
Open the source view: http://127.0.0.1:8765/?source=slide-57#slide-57
Open the live example: http://127.0.0.1:5176/#/usereducer/overview
Topic: 10. useReducer / Reducer actions
Do: Read Why useReducer?, then add React Fundamentals Book from Product Catalog.
Expect: One ADD_ITEM action creates or increments that product's cart row and updates the cart count.
The source viewer contains an exact snapshot from the current local app at deck build time.
Edit the actual source file, then rebuild the deck to refresh its snapshot and line references.
TEACHING NOTES
CONCEPT
Open CartState and the CartAction discriminated union. The type field identifies an action and lets TypeScript narrow which payload exists in each switch case. CLEAR_CART and TOGGLE_CART intentionally have no payload.
The component calls useReducer(cartReducer, initialState). UI handlers dispatch descriptions; the reducer computes the next state. This centralizes transitions without making the cart app-wide or persistent.
useState is still appropriate for simple independent fields. Reducers are useful when transitions are easier to explain and test together. dispatch has stable identity; an inline arrow wrapping dispatch is still a new function when rendered.
CODE
Open src/components/UseReducerDemo.tsx at CartAction. Read the highlighted current source before trying the UI.
TRY IT
Read Why useReducer?, then add React Fundamentals Book from Product Catalog.
Expected: One ADD_ITEM action creates or increments that product's cart row and updates the cart count.
SOURCE NOTES
Hooks deep dive: https://github.com/bodonnell-DePaul/webdev_week2/blob/main/README.md#react-hooks-deep-dive
Advanced TypeScript: https://github.com/bodonnell-DePaul/webdev_week2/blob/main/README.md#advanced-typescript-concepts-explained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full-react-demo\src\components\UseReducerDemo.tsx
Focus: cartReducer, lines 40-55
Open the source view: http://127.0.0.1:8765/?source=slide-58#slide-58
Open the live example: http://127.0.0.1:5176/#/usereducer/catalog
Topic: 10. useReducer / Product catalog
Do: Show and clear the cart if needed, then click Add to Cart for React Fundamentals Book twice.
Expect: One book row has quantity 2; the cart shows 2 items and a $59.98 total.
The source viewer contains an exact snapshot from the current local app at deck build time.
Edit the actual source file, then rebuild the deck to refresh its snapshot and line references.
TEACHING NOTES
CONCEPT
Read the real ADD_ITEM branch, then inspect the catalog button's dispatch({type: 'ADD_ITEM', payload: product}). The reducer returns a new state object and a new items array, preserving unrelated fields such as isOpen.
Start from an empty cart and add React Fundamentals Book twice. Answer: one row, quantity 2, item count 2 and total $59.98. The catalog also reports ×2 in cart.
Keep reducers pure: no storage, network requests, timestamps or notifications inside the transition function. Development checks may call reducers again to detect impurities.
CODE
Open src/components/UseReducerDemo.tsx at cartReducer. Read the highlighted current source before trying the UI.
TRY IT
Show and clear the cart if needed, then click Add to Cart for React Fundamentals Book twice.
Expected: One book row has quantity 2; the cart shows 2 items and a $59.98 total.
SOURCE NOTES
Hooks deep dive: https://github.com/bodonnell-DePaul/webdev_week2/blob/main/README.md#react-hooks-deep-dive
Advanced TypeScript: https://github.com/bodonnell-DePaul/webdev_week2/blob/main/README.md#advanced-typescript-concepts-explained
Application components: https://github.com/bodonnell-DePaul/webdev_week2/blob/main/README.md#sample-application-components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full-react-demo\src\components\UseReducerDemo.tsx
Focus: UPDATE_QUANTITY, lines 59-71
Open the source view: http://127.0.0.1:8765/?source=slide-59#slide-59
Open the live example: http://127.0.0.1:5176/#/usereducer/cart
Topic: 10. useReducer / Shopping cart
Do: Show and clear the cart, add one React Fundamentals Book, then click its − button.
Expect: The quantity reaches zero, the row disappears, and the cart returns to its empty message and 0-item heading.
The source viewer contains an exact snapshot from the current local app at deck build time.
Edit the actual source file, then rebuild the deck to refresh its snapshot and line references.
TEACHING NOTES
CONCEPT
The code block is the items expression inside the branch's returned state object. Source shows the enclosing spread that preserves isOpen. UPDATE_QUANTITY is different from REMOVE_ITEM, which removes a row regardless of its quantity.
Predict the boundary case before clicking − at quantity 1: map produces quantity 0 and filter removes it in the same transition. No effect is needed to clean up zero-quantity rows afterward.
The current UI only dispatches deltas of -1 or +1. If actions came from an untrusted source, runtime checks for valid IDs and finite integer quantities would be needed; the TypeScript union is not runtime validation.
CODE
Open src/components/UseReducerDemo.tsx at UPDATE_QUANTITY. Read the highlighted current source before trying the UI.
TRY IT
Show and clear the cart, add one React Fundamentals Book, then click its − button.
Expected: The quantity reaches zero, the row disappears, and the cart returns to its empty message and 0-item heading.
SOURCE NOTES
Hooks deep dive: https://github.com/bodonnell-DePaul/webdev_week2/blob/main/README.md#react-hooks-deep-dive
Advanced TypeScript: https://github.com/bodonnell-DePaul/webdev_week2/blob/main/README.md#advanced-typescript-concepts-explained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full-react-demo\src\components\UseReducerDemo.tsx
Focus: summary, lines 93-103
Open the source view: http://127.0.0.1:8765/?source=slide-60#slide-60
Open the live example: http://127.0.0.1:5176/#/usereducer/cart
Topic: 10. useReducer / Shopping cart
Do: Show and clear the cart. Add React Fundamentals Book twice and Developer Sticker Pack once, then hide and show the cart.
Expect: Two rows represent 3 items and a $69.97 total; hiding and showing preserves those values.
The source viewer contains an exact snapshot from the current local app at deck build time.
Edit the actual source file, then rebuild the deck to refresh its snapshot and line references.
TEACHING NOTES
CONCEPT
Trace the reducer result into summary and then the cart heading, row subtotals and total. Adding two books and one sticker pack demonstrates that item count is not array length.
TOGGLE_CART returns a new state object but keeps the same items reference. The summary cache can therefore be reused while the visibility field changes. Removing or clearing items changes the input to the summary.
The example uses floating-point prices and toFixed(2) for display. Real financial calculations commonly use integer minor units or an appropriate decimal model; formatting alone is not an accounting guarantee.
CODE
Open src/components/UseReducerDemo.tsx at summary. Read the highlighted current source before trying the UI.
TRY IT
Show and clear the cart. Add React Fundamentals Book twice and Developer Sticker Pack once, then hide and show the cart.
Expected: Two rows represent 3 items and a $69.97 total; hiding and showing preserves those values.
SOURCE NOTES
Hooks deep dive: https://github.com/bodonnell-DePaul/webdev_week2/blob/main/README.md#react-hooks-deep-dive
Advanced TypeScript: https://github.com/bodonnell-DePaul/webdev_week2/blob/main/README.md#advanced-typescript-concepts-explained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full-react-demo\src\App.tsx
Focus: App / AppContent, lines 26-137
Open the source view: http://127.0.0.1:8765/?source=slide-61#slide-61
Open the live example: http://127.0.0.1:5176/#/usereducer/cart
Topic: 10. useReducer / Shopping cart
Do: Toggle the theme in Context API, open useReducer and add a book, visit State, then return to useReducer.
Expect: The cart is fresh after remounting, while the selected app theme remains across tab changes.
The source viewer contains an exact snapshot from the current local app at deck build time.
Edit the actual source file, then rebuild the deck to refresh its snapshot and line references.
TEACHING NOTES
CONCEPT
Read the actual containment order: ThemeProvider → AuthProvider → NotificationProvider → AppContent → the active demo component. AppContent's selection is what mounts a particular topic.
Counter state, product filters and the cart are local to their demo components and reset when those components unmount/remount. Theme and auth values remain because their providers stay above the changing tab. Storage-backed hooks can restore persisted values when remounted; they do not preserve the unmounted component itself.
No additional feature layer or app-wide notification display is mounted here. The product and cart tabs are separate examples. To make a future cart persist across tabs, deliberately lift or persist its state rather than assuming useReducer is global.
CODE
Open src/App.tsx at App / AppContent. Read the highlighted current source before trying the UI.
TRY IT
Toggle the theme in Context API, open useReducer and add a book, visit State, then return to useReducer.
Expected: The cart is fresh after remounting, while the selected app theme remains across tab changes.
SOURCE NOTES
Application integration: https://github.com/bodonnell-DePaul/webdev_week2/blob/main/README.md#building-towards-a-complete-application
Context API: https://github.com/bodonnell-DePaul/webdev_week2/blob/main/README.md#context-api-for-state-management
Props and state: https://github.com/bodonnell-DePaul/webdev_week2/blob/main/README.md#working-with-props-and-state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full-react-demo\src\context\AuthContext.tsx
Focus: AuthProvider, lines 30-67
Open the source view: http://127.0.0.1:8765/?source=slide-62#slide-62
Open the live example: http://127.0.0.1:5176/#/context/auth
Topic: 7. Context API / Demo authentication
Do: Choose Guest in Context API after logging out, inspect the guest profile, then log out again.
Expect: A local mock profile appears and disappears; the role choice is not verified against a server.
The source viewer contains an exact snapshot from the current local app at deck build time.
Edit the actual source file, then rebuild the deck to refresh its snapshot and line references.
TEACHING NOTES
CONCEPT
Use AuthProvider as a concrete boundary review: the app trusts a chosen mock role and parsed saved data. It is a lesson in UI ownership, not a completed authentication system.
Other explicit improvement candidates from this lecture are safer storage updater semantics, validated fetch results and retry/empty feedback, stable IDs for editable string lists, notification IDs/timer cleanup, and associated form labels/error descriptions. We have not silently implemented these while presenting the demo.
An error boundary could provide a fallback for descendant rendering failures, but none is part of the current app tree. It would not replace request-error or event-handler feedback. Profile actual slow work rather than treating the render counters and elapsed labels as production benchmarks.
CODE
Open src/context/AuthContext.tsx at AuthProvider. Read the highlighted current source before trying the UI.
TRY IT
Choose Guest in Context API after logging out, inspect the guest profile, then log out again.
Expected: A local mock profile appears and disappears; the role choice is not verified against a server.
SOURCE NOTES
Best practices: https://github.com/bodonnell-DePaul/webdev_week2/blob/main/README.md#best-practices-and-code-quality
Application integration: https://github.com/bodonnell-DePaul/webdev_week2/blob/main/README.md#building-towards-a-complete-application
Hooks deep dive: https://github.com/bodonnell-DePaul/webdev_week2/blob/main/README.md#react-hooks-deep-dive
Context API: https://github.com/bodonnell-DePaul/webdev_week2/blob/main/README.md#context-api-for-state-management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full-react-demo\src\components\UseMemoDemo.tsx
Focus: filteredProducts, lines 56-91
Open the source view: http://127.0.0.1:8765/?source=slide-63#slide-63
Open the live example: http://127.0.0.1:5176/#/usememo/products
Topic: 9. useMemo / Product filters
Do: In Filtered Product List, search Electronics, choose Sort by Price, and check In stock only.
Expect: Wireless Mouse ($49.99) precedes Mechanical Keyboard ($129.99); the stats show 2 products, $89.99 average, and 2 in stock.
The source viewer contains an exact snapshot from the current local app at deck build time.
Edit the actual source file, then rebuild the deck to refresh its snapshot and line references.
TEACHING NOTES
CONCEPT
Answer: Wireless Mouse at $49.99 followed by Mechanical Keyboard at $129.99; total 2, average $89.99, in-stock count 2. filteredProducts depends on searchTerm, sortBy and showInStockOnly; stats depends on filteredProducts.
The copy before sorting prevents mutation even when no earlier filter allocates a new array. A no-match search currently shows zero statistics and no table rows, not a dedicated empty-state message.
The proposed max-price extension would add one controlled input/state value, a deliberate empty/invalid-number policy, a filter step and the corresponding dependency. It is a practice design, not a control already running in this app. Ask whether ten products justify caching after correctness is established.
CODE
Open src/components/UseMemoDemo.tsx at filteredProducts. Read the highlighted current source before trying the UI.
TRY IT
In Filtered Product List, search Electronics, choose Sort by Price, and check In stock only.
Expected: Wireless Mouse ($49.99) precedes Mechanical Keyboard ($129.99); the stats show 2 products, $89.99 average, and 2 in stock.
SOURCE NOTES
Application components: https://github.com/bodonnell-DePaul/webdev_week2/blob/main/README.md#sample-application-components
Hooks deep dive: https://github.com/bodonnell-DePaul/webdev_week2/blob/main/README.md#react-hooks-deep-dive
Advanced TypeScript: https://github.com/bodonnell-DePaul/webdev_week2/blob/main/README.md#advanced-typescript-concepts-explained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full-react-demo\src\components\UseReducerDemo.tsx
Focus: cartReducer, lines 38-82
Open the source view: http://127.0.0.1:8765/?source=slide-64#slide-64
Open the live example: http://127.0.0.1:5176/#/usereducer/cart
Topic: 10. useReducer / Shopping cart
Do: Show and clear the cart. Add React Fundamentals Book twice, click − once, hide and show the cart, then click Remove.
Expect: The same row changes from quantity 2 / $59.98 to quantity 1 / $29.99; hiding preserves it; Remove produces the empty cart and 0-item heading.
The source viewer contains an exact snapshot from the current local app at deck build time.
Edit the actual source file, then rebuild the deck to refresh its snapshot and line references.
TEACHING NOTES
CONCEPT
Answer sequence: ADD_ITEM twice yields one row with quantity 2 and $59.98. UPDATE_QUANTITY with delta -1 yields quantity 1 and $29.99. Two TOGGLE_CART actions change only visibility. REMOVE_ITEM deletes the row; the empty branch no longer displays a monetary total.
Suggested pure reducer tests: adding an existing ID increases quantity without duplicating a row; decrementing 1 removes the item; CLEAR_CART retains isOpen; TOGGLE_CART retains the items reference; the previous state is unchanged.
The cart is still local to UseReducerDemo. A persistence or cross-tab-sharing extension would need an intentional owner and lifecycle strategy, not just a new reducer action.
CODE
Open src/components/UseReducerDemo.tsx at cartReducer. Read the highlighted current source before trying the UI.
TRY IT
Show and clear the cart. Add React Fundamentals Book twice, click − once, hide and show the cart, then click Remove.
Expected: The same row changes from quantity 2 / $59.98 to quantity 1 / $29.99; hiding preserves it; Remove produces the empty cart and 0-item heading.
SOURCE NOTES
Hooks deep dive: https://github.com/bodonnell-DePaul/webdev_week2/blob/main/README.md#react-hooks-deep-dive
Advanced TypeScript: https://github.com/bodonnell-DePaul/webdev_week2/blob/main/README.md#advanced-typescript-concepts-explained
Application integration: https://github.com/bodonnell-DePaul/webdev_week2/blob/main/README.md#building-towards-a-complete-application
Best practices: https://github.com/bodonnell-DePaul/webdev_week2/blob/main/README.md#best-practices-and-code-quality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-&gt; SOURCE -&gt; RUNNING EXAMPLE
Source: full-react-demo\src\App.tsx
Focus: AppContent, lines 26-126
Open the source view: http://127.0.0.1:8765/?source=slide-65#slide-65
Open the live example: http://127.0.0.1:5176/#/usereducer/cart
Topic: 10. useReducer / Shopping cart
Do: Open useReducer, show and clear the cart if needed, then add React Fundamentals Book and explain its visible count and total.
Expect: The cart shows one book, 1 item and $29.99; AppContent still owns which demo tab is mounted.
The source viewer contains an exact snapshot from the current local app at deck build time.
Edit the actual source file, then rebuild the deck to refresh its snapshot and line references.
TEACHING NOTES
CONCEPT
Exit ticket: choose the cart, product filter, timer or shared theme and answer the three questions using its real source and visible UI.
For the cart, a catalog click dispatches ADD_ITEM, the local reducer returns new items, the memo derives totals, and the cart renders them. AppContent decides whether that component remains mounted. For the timer, an effect owns an interval that must be cleared; for theme, a provider owns the shared value.
Review the distinction between implemented behavior and proposed production refinements. Reference the root README for broader explanations, react.dev/learn for the rendering/state model, react.dev/reference/react/useEffect for synchronization, and the TypeScript handbook for generics and utility types.
CODE
Open src/App.tsx at AppContent. Read the highlighted current source before trying the UI.
TRY IT
Open useReducer, show and clear the cart if needed, then add React Fundamentals Book and explain its visible count and total.
Expected: The cart shows one book, 1 item and $29.99; AppContent still owns which demo tab is mounted.
SOURCE NOTES
Introduction to React: https://github.com/bodonnell-DePaul/webdev_week2/blob/main/README.md#introduction-to-react
Props and state: https://github.com/bodonnell-DePaul/webdev_week2/blob/main/README.md#working-with-props-and-state
Hooks deep dive: https://github.com/bodonnell-DePaul/webdev_week2/blob/main/README.md#react-hooks-deep-dive
Context API: https://github.com/bodonnell-DePaul/webdev_week2/blob/main/README.md#context-api-for-state-management
Best practices: https://github.com/bodonnell-DePaul/webdev_week2/blob/main/README.md#best-practices-and-code-quality
Application integration: https://github.com/bodonnell-DePaul/webdev_week2/blob/main/README.md#building-towards-a-complete-application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127.0.0.1:8765/?source=slide-1#slide-1" TargetMode="External"/><Relationship Id="rId2" Type="http://schemas.openxmlformats.org/officeDocument/2006/relationships/hyperlink" Target="http://127.0.0.1:5176/#/components/expressions"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127.0.0.1:8765/?source=slide-2#slide-2" TargetMode="External"/><Relationship Id="rId2" Type="http://schemas.openxmlformats.org/officeDocument/2006/relationships/hyperlink" Target="http://127.0.0.1:5176/#/state/counter"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127.0.0.1:8765/?source=slide-3#slide-3" TargetMode="External"/><Relationship Id="rId2" Type="http://schemas.openxmlformats.org/officeDocument/2006/relationships/hyperlink" Target="http://127.0.0.1:5176/#/state/counter"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127.0.0.1:8765/?source=slide-4#slide-4" TargetMode="External"/><Relationship Id="rId2" Type="http://schemas.openxmlformats.org/officeDocument/2006/relationships/hyperlink" Target="http://127.0.0.1:5176/#/context/auth"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127.0.0.1:8765/?source=slide-5#slide-5" TargetMode="External"/><Relationship Id="rId2" Type="http://schemas.openxmlformats.org/officeDocument/2006/relationships/hyperlink" Target="http://127.0.0.1:5176/#/components/composition"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127.0.0.1:8765/?source=slide-6#slide-6" TargetMode="External"/><Relationship Id="rId2" Type="http://schemas.openxmlformats.org/officeDocument/2006/relationships/hyperlink" Target="http://127.0.0.1:5176/#/components/composition"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127.0.0.1:8765/?source=slide-7#slide-7" TargetMode="External"/><Relationship Id="rId2" Type="http://schemas.openxmlformats.org/officeDocument/2006/relationships/hyperlink" Target="http://127.0.0.1:5176/#/components/composition"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127.0.0.1:8765/?source=slide-8#slide-8" TargetMode="External"/><Relationship Id="rId2" Type="http://schemas.openxmlformats.org/officeDocument/2006/relationships/hyperlink" Target="http://127.0.0.1:5176/#/components/expressions"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127.0.0.1:8765/?source=slide-9#slide-9" TargetMode="External"/><Relationship Id="rId2" Type="http://schemas.openxmlformats.org/officeDocument/2006/relationships/hyperlink" Target="http://127.0.0.1:5176/#/components/fragments"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127.0.0.1:8765/?source=slide-10#slide-10" TargetMode="External"/><Relationship Id="rId2" Type="http://schemas.openxmlformats.org/officeDocument/2006/relationships/hyperlink" Target="http://127.0.0.1:5176/#/components/composition"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127.0.0.1:8765/?source=slide-11#slide-11" TargetMode="External"/><Relationship Id="rId2" Type="http://schemas.openxmlformats.org/officeDocument/2006/relationships/hyperlink" Target="http://127.0.0.1:5176/#/components/lists"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127.0.0.1:8765/?source=slide-12#slide-12" TargetMode="External"/><Relationship Id="rId2" Type="http://schemas.openxmlformats.org/officeDocument/2006/relationships/hyperlink" Target="http://127.0.0.1:5176/#/props/defaults"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127.0.0.1:8765/?source=slide-13#slide-13" TargetMode="External"/><Relationship Id="rId2" Type="http://schemas.openxmlformats.org/officeDocument/2006/relationships/hyperlink" Target="http://127.0.0.1:5176/#/props/defaults"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127.0.0.1:8765/?source=slide-14#slide-14" TargetMode="External"/><Relationship Id="rId2" Type="http://schemas.openxmlformats.org/officeDocument/2006/relationships/hyperlink" Target="http://127.0.0.1:5176/#/props/callbacks"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127.0.0.1:8765/?source=slide-15#slide-15" TargetMode="External"/><Relationship Id="rId2" Type="http://schemas.openxmlformats.org/officeDocument/2006/relationships/hyperlink" Target="http://127.0.0.1:5176/#/props/callbacks"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127.0.0.1:8765/?source=slide-16#slide-16" TargetMode="External"/><Relationship Id="rId2" Type="http://schemas.openxmlformats.org/officeDocument/2006/relationships/hyperlink" Target="http://127.0.0.1:5176/#/props/generic-list"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127.0.0.1:8765/?source=slide-17#slide-17" TargetMode="External"/><Relationship Id="rId2" Type="http://schemas.openxmlformats.org/officeDocument/2006/relationships/hyperlink" Target="http://127.0.0.1:5176/#/usememo/products"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127.0.0.1:8765/?source=slide-18#slide-18" TargetMode="External"/><Relationship Id="rId2" Type="http://schemas.openxmlformats.org/officeDocument/2006/relationships/hyperlink" Target="http://127.0.0.1:5176/#/state/counter"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127.0.0.1:8765/?source=slide-19#slide-19" TargetMode="External"/><Relationship Id="rId2" Type="http://schemas.openxmlformats.org/officeDocument/2006/relationships/hyperlink" Target="http://127.0.0.1:5176/#/state/counter"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127.0.0.1:8765/?source=slide-20#slide-20"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127.0.0.1:8765/?source=slide-21#slide-21" TargetMode="External"/><Relationship Id="rId2" Type="http://schemas.openxmlformats.org/officeDocument/2006/relationships/hyperlink" Target="http://127.0.0.1:5176/#/state/arrays"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127.0.0.1:8765/?source=slide-22#slide-22"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127.0.0.1:8765/?source=slide-23#slide-23"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127.0.0.1:8765/?source=slide-24#slide-24"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127.0.0.1:8765/?source=slide-25#slide-25"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127.0.0.1:8765/?source=slide-26#slide-26"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127.0.0.1:8765/?source=slide-27#slide-27" TargetMode="External"/><Relationship Id="rId2" Type="http://schemas.openxmlformats.org/officeDocument/2006/relationships/hyperlink" Target="http://127.0.0.1:5176/#/events/mouse" TargetMode="Externa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127.0.0.1:8765/?source=slide-28#slide-28" TargetMode="External"/><Relationship Id="rId2" Type="http://schemas.openxmlformats.org/officeDocument/2006/relationships/hyperlink" Target="http://127.0.0.1:5176/#/events/mouse"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127.0.0.1:8765/?source=slide-29#slide-29" TargetMode="External"/><Relationship Id="rId2" Type="http://schemas.openxmlformats.org/officeDocument/2006/relationships/hyperlink" Target="http://127.0.0.1:5176/#/events/keyboard" TargetMode="External"/><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127.0.0.1:8765/?source=slide-30#slide-30" TargetMode="External"/><Relationship Id="rId2" Type="http://schemas.openxmlformats.org/officeDocument/2006/relationships/hyperlink" Target="http://127.0.0.1:5176/#/events/form" TargetMode="External"/><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127.0.0.1:8765/?source=slide-31#slide-31" TargetMode="External"/><Relationship Id="rId2" Type="http://schemas.openxmlformats.org/officeDocument/2006/relationships/hyperlink" Target="http://127.0.0.1:5176/#/events/prevent-default" TargetMode="External"/><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127.0.0.1:8765/?source=slide-32#slide-32" TargetMode="External"/><Relationship Id="rId2" Type="http://schemas.openxmlformats.org/officeDocument/2006/relationships/hyperlink" Target="http://127.0.0.1:5176/#/events/event-log" TargetMode="External"/><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127.0.0.1:8765/?source=slide-33#slide-33" TargetMode="External"/><Relationship Id="rId2" Type="http://schemas.openxmlformats.org/officeDocument/2006/relationships/hyperlink" Target="http://127.0.0.1:5176/#/state/form" TargetMode="Externa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127.0.0.1:8765/?source=slide-34#slide-34" TargetMode="External"/><Relationship Id="rId2" Type="http://schemas.openxmlformats.org/officeDocument/2006/relationships/hyperlink" Target="http://127.0.0.1:5176/#/hooks/fetch" TargetMode="Externa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127.0.0.1:8765/?source=slide-35#slide-35" TargetMode="External"/><Relationship Id="rId2" Type="http://schemas.openxmlformats.org/officeDocument/2006/relationships/hyperlink" Target="http://127.0.0.1:5176/#/effects/dependencies" TargetMode="External"/><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127.0.0.1:8765/?source=slide-36#slide-36" TargetMode="External"/><Relationship Id="rId2" Type="http://schemas.openxmlformats.org/officeDocument/2006/relationships/hyperlink" Target="http://127.0.0.1:5176/#/effects/every-render" TargetMode="Externa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127.0.0.1:8765/?source=slide-37#slide-37" TargetMode="External"/><Relationship Id="rId2" Type="http://schemas.openxmlformats.org/officeDocument/2006/relationships/hyperlink" Target="http://127.0.0.1:5176/#/effects/resize"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127.0.0.1:8765/?source=slide-38#slide-38" TargetMode="External"/><Relationship Id="rId2" Type="http://schemas.openxmlformats.org/officeDocument/2006/relationships/hyperlink" Target="http://127.0.0.1:5176/#/effects/timer" TargetMode="External"/><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127.0.0.1:8765/?source=slide-39#slide-39" TargetMode="External"/><Relationship Id="rId2" Type="http://schemas.openxmlformats.org/officeDocument/2006/relationships/hyperlink" Target="http://127.0.0.1:5176/#/hooks/fetch" TargetMode="Externa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127.0.0.1:8765/?source=slide-40#slide-40" TargetMode="External"/><Relationship Id="rId2" Type="http://schemas.openxmlformats.org/officeDocument/2006/relationships/hyperlink" Target="http://127.0.0.1:5176/#/hooks/fetch" TargetMode="Externa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127.0.0.1:8765/?source=slide-41#slide-41" TargetMode="External"/><Relationship Id="rId2" Type="http://schemas.openxmlformats.org/officeDocument/2006/relationships/hyperlink" Target="http://127.0.0.1:5176/#/hooks/fetch"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127.0.0.1:8765/?source=slide-42#slide-42" TargetMode="External"/><Relationship Id="rId2" Type="http://schemas.openxmlformats.org/officeDocument/2006/relationships/hyperlink" Target="http://127.0.0.1:5176/#/hooks/storage" TargetMode="External"/><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127.0.0.1:8765/?source=slide-43#slide-43" TargetMode="External"/><Relationship Id="rId2" Type="http://schemas.openxmlformats.org/officeDocument/2006/relationships/hyperlink" Target="http://127.0.0.1:5176/#/hooks/dimensions"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127.0.0.1:8765/?source=slide-44#slide-44" TargetMode="External"/><Relationship Id="rId2" Type="http://schemas.openxmlformats.org/officeDocument/2006/relationships/hyperlink" Target="http://127.0.0.1:5176/#/hooks/storage"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127.0.0.1:8765/?source=slide-45#slide-45" TargetMode="External"/><Relationship Id="rId2" Type="http://schemas.openxmlformats.org/officeDocument/2006/relationships/hyperlink" Target="http://127.0.0.1:5176/#/context/auth"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127.0.0.1:8765/?source=slide-46#slide-46" TargetMode="External"/><Relationship Id="rId2" Type="http://schemas.openxmlformats.org/officeDocument/2006/relationships/hyperlink" Target="http://127.0.0.1:5176/#/context/auth" TargetMode="External"/><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127.0.0.1:8765/?source=slide-47#slide-47" TargetMode="External"/><Relationship Id="rId2" Type="http://schemas.openxmlformats.org/officeDocument/2006/relationships/hyperlink" Target="http://127.0.0.1:5176/#/context/auth"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127.0.0.1:8765/?source=slide-48#slide-48" TargetMode="External"/><Relationship Id="rId2" Type="http://schemas.openxmlformats.org/officeDocument/2006/relationships/hyperlink" Target="http://127.0.0.1:5176/#/context/auth" TargetMode="External"/><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127.0.0.1:8765/?source=slide-49#slide-49" TargetMode="External"/><Relationship Id="rId2" Type="http://schemas.openxmlformats.org/officeDocument/2006/relationships/hyperlink" Target="http://127.0.0.1:5176/#/context/theme" TargetMode="External"/><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127.0.0.1:8765/?source=slide-50#slide-50" TargetMode="External"/><Relationship Id="rId2" Type="http://schemas.openxmlformats.org/officeDocument/2006/relationships/hyperlink" Target="http://127.0.0.1:5176/#/context/notifications" TargetMode="External"/><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127.0.0.1:8765/?source=slide-51#slide-51" TargetMode="External"/><Relationship Id="rId2" Type="http://schemas.openxmlformats.org/officeDocument/2006/relationships/hyperlink" Target="http://127.0.0.1:5176/#/performance/memo-child" TargetMode="External"/><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127.0.0.1:8765/?source=slide-52#slide-52" TargetMode="External"/><Relationship Id="rId2" Type="http://schemas.openxmlformats.org/officeDocument/2006/relationships/hyperlink" Target="http://127.0.0.1:5176/#/performance/calculation" TargetMode="External"/><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127.0.0.1:8765/?source=slide-53#slide-53" TargetMode="External"/><Relationship Id="rId2" Type="http://schemas.openxmlformats.org/officeDocument/2006/relationships/hyperlink" Target="http://127.0.0.1:5176/#/usememo/fibonacci" TargetMode="Externa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127.0.0.1:8765/?source=slide-54#slide-54" TargetMode="External"/><Relationship Id="rId2" Type="http://schemas.openxmlformats.org/officeDocument/2006/relationships/hyperlink" Target="http://127.0.0.1:5176/#/usememo/products" TargetMode="External"/><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127.0.0.1:8765/?source=slide-55#slide-55" TargetMode="External"/><Relationship Id="rId2" Type="http://schemas.openxmlformats.org/officeDocument/2006/relationships/hyperlink" Target="http://127.0.0.1:5176/#/usememo/products" TargetMode="External"/><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127.0.0.1:8765/?source=slide-56#slide-56" TargetMode="External"/><Relationship Id="rId2" Type="http://schemas.openxmlformats.org/officeDocument/2006/relationships/hyperlink" Target="http://127.0.0.1:5176/#/usememo/products" TargetMode="External"/><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127.0.0.1:8765/?source=slide-57#slide-57" TargetMode="External"/><Relationship Id="rId2" Type="http://schemas.openxmlformats.org/officeDocument/2006/relationships/hyperlink" Target="http://127.0.0.1:5176/#/usereducer/overview" TargetMode="External"/><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hyperlink" Target="http://127.0.0.1:8765/?source=slide-58#slide-58" TargetMode="External"/><Relationship Id="rId2" Type="http://schemas.openxmlformats.org/officeDocument/2006/relationships/hyperlink" Target="http://127.0.0.1:5176/#/usereducer/catalog" TargetMode="External"/><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127.0.0.1:8765/?source=slide-59#slide-59" TargetMode="External"/><Relationship Id="rId2" Type="http://schemas.openxmlformats.org/officeDocument/2006/relationships/hyperlink" Target="http://127.0.0.1:5176/#/usereducer/cart" TargetMode="External"/><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127.0.0.1:8765/?source=slide-60#slide-60" TargetMode="External"/><Relationship Id="rId2" Type="http://schemas.openxmlformats.org/officeDocument/2006/relationships/hyperlink" Target="http://127.0.0.1:5176/#/usereducer/cart" TargetMode="External"/><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127.0.0.1:8765/?source=slide-61#slide-61" TargetMode="External"/><Relationship Id="rId2" Type="http://schemas.openxmlformats.org/officeDocument/2006/relationships/hyperlink" Target="http://127.0.0.1:5176/#/usereducer/cart" TargetMode="External"/><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127.0.0.1:8765/?source=slide-62#slide-62" TargetMode="External"/><Relationship Id="rId2" Type="http://schemas.openxmlformats.org/officeDocument/2006/relationships/hyperlink" Target="http://127.0.0.1:5176/#/context/auth" TargetMode="External"/><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hyperlink" Target="http://127.0.0.1:8765/?source=slide-63#slide-63" TargetMode="External"/><Relationship Id="rId2" Type="http://schemas.openxmlformats.org/officeDocument/2006/relationships/hyperlink" Target="http://127.0.0.1:5176/#/usememo/products" TargetMode="External"/><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127.0.0.1:8765/?source=slide-64#slide-64" TargetMode="External"/><Relationship Id="rId2" Type="http://schemas.openxmlformats.org/officeDocument/2006/relationships/hyperlink" Target="http://127.0.0.1:5176/#/usereducer/cart" TargetMode="External"/><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127.0.0.1:8765/?source=slide-65#slide-65" TargetMode="External"/><Relationship Id="rId2" Type="http://schemas.openxmlformats.org/officeDocument/2006/relationships/hyperlink" Target="http://127.0.0.1:5176/#/usereducer/cart" TargetMode="External"/><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B35"/>
        </a:solidFill>
      </p:bgPr>
    </p:bg>
    <p:spTree>
      <p:nvGrpSpPr>
        <p:cNvPr id="1" name=""/>
        <p:cNvGrpSpPr/>
        <p:nvPr/>
      </p:nvGrpSpPr>
      <p:grpSpPr>
        <a:xfrm>
          <a:off x="0" y="0"/>
          <a:ext cx="0" cy="0"/>
          <a:chOff x="0" y="0"/>
          <a:chExt cx="0" cy="0"/>
        </a:xfrm>
      </p:grpSpPr>
      <p:sp>
        <p:nvSpPr>
          <p:cNvPr id="2" name="slide-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WEB DEVELOPMENT / WEEK 2 / 00 / ONE APP, TEN TOPICS</a:t>
            </a:r>
            <a:endParaRPr lang="en-US" sz="1350" dirty="0"/>
          </a:p>
        </p:txBody>
      </p:sp>
      <p:sp>
        <p:nvSpPr>
          <p:cNvPr id="3" name="slide-1-text-1"/>
          <p:cNvSpPr/>
          <p:nvPr/>
        </p:nvSpPr>
        <p:spPr>
          <a:xfrm>
            <a:off x="609600" y="1257300"/>
            <a:ext cx="6619875" cy="1952625"/>
          </a:xfrm>
          <a:prstGeom prst="rect">
            <a:avLst/>
          </a:prstGeom>
          <a:noFill/>
          <a:ln/>
        </p:spPr>
        <p:txBody>
          <a:bodyPr wrap="square" lIns="0" tIns="0" rIns="0" bIns="0" rtlCol="0" anchor="t"/>
          <a:lstStyle/>
          <a:p>
            <a:pPr algn="l" indent="0" marL="0">
              <a:lnSpc>
                <a:spcPts val="6318"/>
              </a:lnSpc>
              <a:buNone/>
            </a:pPr>
            <a:r>
              <a:rPr lang="en-US" sz="5850" b="1" dirty="0">
                <a:solidFill>
                  <a:srgbClr val="F6F3EA"/>
                </a:solidFill>
                <a:latin typeface="Trebuchet MS" pitchFamily="34" charset="0"/>
                <a:ea typeface="Trebuchet MS" pitchFamily="34" charset="-122"/>
                <a:cs typeface="Trebuchet MS" pitchFamily="34" charset="-120"/>
              </a:rPr>
              <a:t>React +</a:t>
            </a:r>
            <a:endParaRPr lang="en-US" sz="5850" dirty="0"/>
          </a:p>
          <a:p>
            <a:pPr algn="l" indent="0" marL="0">
              <a:lnSpc>
                <a:spcPts val="6318"/>
              </a:lnSpc>
              <a:buNone/>
            </a:pPr>
            <a:r>
              <a:rPr lang="en-US" sz="5850" b="1" dirty="0">
                <a:solidFill>
                  <a:srgbClr val="F6F3EA"/>
                </a:solidFill>
                <a:latin typeface="Trebuchet MS" pitchFamily="34" charset="0"/>
                <a:ea typeface="Trebuchet MS" pitchFamily="34" charset="-122"/>
                <a:cs typeface="Trebuchet MS" pitchFamily="34" charset="-120"/>
              </a:rPr>
              <a:t>TypeScript</a:t>
            </a:r>
            <a:endParaRPr lang="en-US" sz="5850" dirty="0"/>
          </a:p>
        </p:txBody>
      </p:sp>
      <p:sp>
        <p:nvSpPr>
          <p:cNvPr id="4" name="slide-1-text-2"/>
          <p:cNvSpPr/>
          <p:nvPr/>
        </p:nvSpPr>
        <p:spPr>
          <a:xfrm>
            <a:off x="647700" y="3238500"/>
            <a:ext cx="6191250" cy="952500"/>
          </a:xfrm>
          <a:prstGeom prst="rect">
            <a:avLst/>
          </a:prstGeom>
          <a:noFill/>
          <a:ln/>
        </p:spPr>
        <p:txBody>
          <a:bodyPr wrap="square" lIns="0" tIns="0" rIns="0" bIns="0" rtlCol="0" anchor="t"/>
          <a:lstStyle/>
          <a:p>
            <a:pPr algn="l" indent="0" marL="0">
              <a:lnSpc>
                <a:spcPts val="2984"/>
              </a:lnSpc>
              <a:buNone/>
            </a:pPr>
            <a:r>
              <a:rPr lang="en-US" sz="2550" dirty="0">
                <a:solidFill>
                  <a:srgbClr val="BCE8D2"/>
                </a:solidFill>
                <a:latin typeface="Calibri" pitchFamily="34" charset="0"/>
                <a:ea typeface="Calibri" pitchFamily="34" charset="-122"/>
                <a:cs typeface="Calibri" pitchFamily="34" charset="-120"/>
              </a:rPr>
              <a:t>Concept → source → live UI</a:t>
            </a:r>
            <a:endParaRPr lang="en-US" sz="2550" dirty="0"/>
          </a:p>
          <a:p>
            <a:pPr algn="l" indent="0" marL="0">
              <a:lnSpc>
                <a:spcPts val="2984"/>
              </a:lnSpc>
              <a:buNone/>
            </a:pPr>
            <a:r>
              <a:rPr lang="en-US" sz="2550" dirty="0">
                <a:solidFill>
                  <a:srgbClr val="BCE8D2"/>
                </a:solidFill>
                <a:latin typeface="Calibri" pitchFamily="34" charset="0"/>
                <a:ea typeface="Calibri" pitchFamily="34" charset="-122"/>
                <a:cs typeface="Calibri" pitchFamily="34" charset="-120"/>
              </a:rPr>
              <a:t>One app, ten connected topics</a:t>
            </a:r>
            <a:endParaRPr lang="en-US" sz="2550" dirty="0"/>
          </a:p>
        </p:txBody>
      </p:sp>
      <p:sp>
        <p:nvSpPr>
          <p:cNvPr id="5" name="slide-1-text-3"/>
          <p:cNvSpPr/>
          <p:nvPr/>
        </p:nvSpPr>
        <p:spPr>
          <a:xfrm>
            <a:off x="647700" y="4810125"/>
            <a:ext cx="5715000" cy="933450"/>
          </a:xfrm>
          <a:prstGeom prst="rect">
            <a:avLst/>
          </a:prstGeom>
          <a:noFill/>
          <a:ln/>
        </p:spPr>
        <p:txBody>
          <a:bodyPr wrap="square" lIns="0" tIns="0" rIns="0" bIns="0" rtlCol="0" anchor="t"/>
          <a:lstStyle/>
          <a:p>
            <a:pPr algn="l" indent="0" marL="0">
              <a:lnSpc>
                <a:spcPts val="2369"/>
              </a:lnSpc>
              <a:buNone/>
            </a:pPr>
            <a:r>
              <a:rPr lang="en-US" sz="2025" dirty="0">
                <a:solidFill>
                  <a:srgbClr val="F6F3EA"/>
                </a:solidFill>
                <a:latin typeface="Calibri" pitchFamily="34" charset="0"/>
                <a:ea typeface="Calibri" pitchFamily="34" charset="-122"/>
                <a:cs typeface="Calibri" pitchFamily="34" charset="-120"/>
              </a:rPr>
              <a:t>Learn the concept. Read its source.</a:t>
            </a:r>
            <a:endParaRPr lang="en-US" sz="2025" dirty="0"/>
          </a:p>
          <a:p>
            <a:pPr algn="l" indent="0" marL="0">
              <a:lnSpc>
                <a:spcPts val="2369"/>
              </a:lnSpc>
              <a:buNone/>
            </a:pPr>
            <a:r>
              <a:rPr lang="en-US" sz="2025" dirty="0">
                <a:solidFill>
                  <a:srgbClr val="F6F3EA"/>
                </a:solidFill>
                <a:latin typeface="Calibri" pitchFamily="34" charset="0"/>
                <a:ea typeface="Calibri" pitchFamily="34" charset="-122"/>
                <a:cs typeface="Calibri" pitchFamily="34" charset="-120"/>
              </a:rPr>
              <a:t>Open the exact working example.</a:t>
            </a:r>
            <a:endParaRPr lang="en-US" sz="2025" dirty="0"/>
          </a:p>
        </p:txBody>
      </p:sp>
      <p:sp>
        <p:nvSpPr>
          <p:cNvPr id="6" name="slide-1-rect-4"/>
          <p:cNvSpPr/>
          <p:nvPr/>
        </p:nvSpPr>
        <p:spPr>
          <a:xfrm>
            <a:off x="7734300" y="1419225"/>
            <a:ext cx="3848100" cy="3924300"/>
          </a:xfrm>
          <a:prstGeom prst="roundRect">
            <a:avLst>
              <a:gd name="adj" fmla="val 2970"/>
            </a:avLst>
          </a:prstGeom>
          <a:solidFill>
            <a:srgbClr val="F6F3EA"/>
          </a:solidFill>
          <a:ln w="12700">
            <a:solidFill>
              <a:srgbClr val="F6F3EA">
                <a:alpha val="0"/>
              </a:srgbClr>
            </a:solidFill>
            <a:prstDash val="solid"/>
          </a:ln>
        </p:spPr>
      </p:sp>
      <p:sp>
        <p:nvSpPr>
          <p:cNvPr id="7" name="slide-1-text-5"/>
          <p:cNvSpPr/>
          <p:nvPr/>
        </p:nvSpPr>
        <p:spPr>
          <a:xfrm>
            <a:off x="8001000" y="1685925"/>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FULL-REACT-DEMO</a:t>
            </a:r>
            <a:endParaRPr lang="en-US" sz="1350" dirty="0"/>
          </a:p>
        </p:txBody>
      </p:sp>
      <p:sp>
        <p:nvSpPr>
          <p:cNvPr id="8" name="slide-1-rect-6"/>
          <p:cNvSpPr/>
          <p:nvPr/>
        </p:nvSpPr>
        <p:spPr>
          <a:xfrm>
            <a:off x="7981950" y="2190750"/>
            <a:ext cx="3352800" cy="466725"/>
          </a:xfrm>
          <a:prstGeom prst="roundRect">
            <a:avLst>
              <a:gd name="adj" fmla="val 12245"/>
            </a:avLst>
          </a:prstGeom>
          <a:solidFill>
            <a:srgbClr val="E5EDE2"/>
          </a:solidFill>
          <a:ln w="12700">
            <a:solidFill>
              <a:srgbClr val="E5EDE2">
                <a:alpha val="0"/>
              </a:srgbClr>
            </a:solidFill>
            <a:prstDash val="solid"/>
          </a:ln>
        </p:spPr>
      </p:sp>
      <p:sp>
        <p:nvSpPr>
          <p:cNvPr id="9" name="slide-1-text-7"/>
          <p:cNvSpPr/>
          <p:nvPr/>
        </p:nvSpPr>
        <p:spPr>
          <a:xfrm>
            <a:off x="8086725" y="2314575"/>
            <a:ext cx="628650" cy="257175"/>
          </a:xfrm>
          <a:prstGeom prst="rect">
            <a:avLst/>
          </a:prstGeom>
          <a:noFill/>
          <a:ln/>
        </p:spPr>
        <p:txBody>
          <a:bodyPr wrap="square" lIns="0" tIns="0" rIns="0" bIns="0" rtlCol="0" anchor="t"/>
          <a:lstStyle/>
          <a:p>
            <a:pPr algn="l" indent="0" marL="0">
              <a:lnSpc>
                <a:spcPts val="1667"/>
              </a:lnSpc>
              <a:buNone/>
            </a:pPr>
            <a:r>
              <a:rPr lang="en-US" sz="1425" b="1" dirty="0">
                <a:solidFill>
                  <a:srgbClr val="B34F25"/>
                </a:solidFill>
                <a:latin typeface="Calibri" pitchFamily="34" charset="0"/>
                <a:ea typeface="Calibri" pitchFamily="34" charset="-122"/>
                <a:cs typeface="Calibri" pitchFamily="34" charset="-120"/>
              </a:rPr>
              <a:t>01-02</a:t>
            </a:r>
            <a:endParaRPr lang="en-US" sz="1425" dirty="0"/>
          </a:p>
        </p:txBody>
      </p:sp>
      <p:sp>
        <p:nvSpPr>
          <p:cNvPr id="10" name="slide-1-text-8"/>
          <p:cNvSpPr/>
          <p:nvPr/>
        </p:nvSpPr>
        <p:spPr>
          <a:xfrm>
            <a:off x="8829675" y="2305050"/>
            <a:ext cx="2390775" cy="314325"/>
          </a:xfrm>
          <a:prstGeom prst="rect">
            <a:avLst/>
          </a:prstGeom>
          <a:noFill/>
          <a:ln/>
        </p:spPr>
        <p:txBody>
          <a:bodyPr wrap="square" lIns="0" tIns="0" rIns="0" bIns="0" rtlCol="0" anchor="t"/>
          <a:lstStyle/>
          <a:p>
            <a:pPr algn="l" indent="0" marL="0">
              <a:lnSpc>
                <a:spcPts val="2018"/>
              </a:lnSpc>
              <a:buNone/>
            </a:pPr>
            <a:r>
              <a:rPr lang="en-US" sz="1725" dirty="0">
                <a:solidFill>
                  <a:srgbClr val="183B34"/>
                </a:solidFill>
                <a:latin typeface="Calibri" pitchFamily="34" charset="0"/>
                <a:ea typeface="Calibri" pitchFamily="34" charset="-122"/>
                <a:cs typeface="Calibri" pitchFamily="34" charset="-120"/>
              </a:rPr>
              <a:t>Components + props</a:t>
            </a:r>
            <a:endParaRPr lang="en-US" sz="1725" dirty="0"/>
          </a:p>
        </p:txBody>
      </p:sp>
      <p:sp>
        <p:nvSpPr>
          <p:cNvPr id="11" name="slide-1-rect-9"/>
          <p:cNvSpPr/>
          <p:nvPr/>
        </p:nvSpPr>
        <p:spPr>
          <a:xfrm>
            <a:off x="7981950" y="2771775"/>
            <a:ext cx="3352800" cy="466725"/>
          </a:xfrm>
          <a:prstGeom prst="roundRect">
            <a:avLst>
              <a:gd name="adj" fmla="val 12245"/>
            </a:avLst>
          </a:prstGeom>
          <a:solidFill>
            <a:srgbClr val="F6F3EA"/>
          </a:solidFill>
          <a:ln w="12700">
            <a:solidFill>
              <a:srgbClr val="F6F3EA">
                <a:alpha val="0"/>
              </a:srgbClr>
            </a:solidFill>
            <a:prstDash val="solid"/>
          </a:ln>
        </p:spPr>
      </p:sp>
      <p:sp>
        <p:nvSpPr>
          <p:cNvPr id="12" name="slide-1-text-10"/>
          <p:cNvSpPr/>
          <p:nvPr/>
        </p:nvSpPr>
        <p:spPr>
          <a:xfrm>
            <a:off x="8086725" y="2895600"/>
            <a:ext cx="628650" cy="257175"/>
          </a:xfrm>
          <a:prstGeom prst="rect">
            <a:avLst/>
          </a:prstGeom>
          <a:noFill/>
          <a:ln/>
        </p:spPr>
        <p:txBody>
          <a:bodyPr wrap="square" lIns="0" tIns="0" rIns="0" bIns="0" rtlCol="0" anchor="t"/>
          <a:lstStyle/>
          <a:p>
            <a:pPr algn="l" indent="0" marL="0">
              <a:lnSpc>
                <a:spcPts val="1667"/>
              </a:lnSpc>
              <a:buNone/>
            </a:pPr>
            <a:r>
              <a:rPr lang="en-US" sz="1425" b="1" dirty="0">
                <a:solidFill>
                  <a:srgbClr val="B34F25"/>
                </a:solidFill>
                <a:latin typeface="Calibri" pitchFamily="34" charset="0"/>
                <a:ea typeface="Calibri" pitchFamily="34" charset="-122"/>
                <a:cs typeface="Calibri" pitchFamily="34" charset="-120"/>
              </a:rPr>
              <a:t>03-04</a:t>
            </a:r>
            <a:endParaRPr lang="en-US" sz="1425" dirty="0"/>
          </a:p>
        </p:txBody>
      </p:sp>
      <p:sp>
        <p:nvSpPr>
          <p:cNvPr id="13" name="slide-1-text-11"/>
          <p:cNvSpPr/>
          <p:nvPr/>
        </p:nvSpPr>
        <p:spPr>
          <a:xfrm>
            <a:off x="8829675" y="2886075"/>
            <a:ext cx="2390775" cy="314325"/>
          </a:xfrm>
          <a:prstGeom prst="rect">
            <a:avLst/>
          </a:prstGeom>
          <a:noFill/>
          <a:ln/>
        </p:spPr>
        <p:txBody>
          <a:bodyPr wrap="square" lIns="0" tIns="0" rIns="0" bIns="0" rtlCol="0" anchor="t"/>
          <a:lstStyle/>
          <a:p>
            <a:pPr algn="l" indent="0" marL="0">
              <a:lnSpc>
                <a:spcPts val="2018"/>
              </a:lnSpc>
              <a:buNone/>
            </a:pPr>
            <a:r>
              <a:rPr lang="en-US" sz="1725" dirty="0">
                <a:solidFill>
                  <a:srgbClr val="183B34"/>
                </a:solidFill>
                <a:latin typeface="Calibri" pitchFamily="34" charset="0"/>
                <a:ea typeface="Calibri" pitchFamily="34" charset="-122"/>
                <a:cs typeface="Calibri" pitchFamily="34" charset="-120"/>
              </a:rPr>
              <a:t>State + events</a:t>
            </a:r>
            <a:endParaRPr lang="en-US" sz="1725" dirty="0"/>
          </a:p>
        </p:txBody>
      </p:sp>
      <p:sp>
        <p:nvSpPr>
          <p:cNvPr id="14" name="slide-1-rect-12"/>
          <p:cNvSpPr/>
          <p:nvPr/>
        </p:nvSpPr>
        <p:spPr>
          <a:xfrm>
            <a:off x="7981950" y="3352800"/>
            <a:ext cx="3352800" cy="466725"/>
          </a:xfrm>
          <a:prstGeom prst="roundRect">
            <a:avLst>
              <a:gd name="adj" fmla="val 12245"/>
            </a:avLst>
          </a:prstGeom>
          <a:solidFill>
            <a:srgbClr val="E5EDE2"/>
          </a:solidFill>
          <a:ln w="12700">
            <a:solidFill>
              <a:srgbClr val="E5EDE2">
                <a:alpha val="0"/>
              </a:srgbClr>
            </a:solidFill>
            <a:prstDash val="solid"/>
          </a:ln>
        </p:spPr>
      </p:sp>
      <p:sp>
        <p:nvSpPr>
          <p:cNvPr id="15" name="slide-1-text-13"/>
          <p:cNvSpPr/>
          <p:nvPr/>
        </p:nvSpPr>
        <p:spPr>
          <a:xfrm>
            <a:off x="8086725" y="3476625"/>
            <a:ext cx="628650" cy="257175"/>
          </a:xfrm>
          <a:prstGeom prst="rect">
            <a:avLst/>
          </a:prstGeom>
          <a:noFill/>
          <a:ln/>
        </p:spPr>
        <p:txBody>
          <a:bodyPr wrap="square" lIns="0" tIns="0" rIns="0" bIns="0" rtlCol="0" anchor="t"/>
          <a:lstStyle/>
          <a:p>
            <a:pPr algn="l" indent="0" marL="0">
              <a:lnSpc>
                <a:spcPts val="1667"/>
              </a:lnSpc>
              <a:buNone/>
            </a:pPr>
            <a:r>
              <a:rPr lang="en-US" sz="1425" b="1" dirty="0">
                <a:solidFill>
                  <a:srgbClr val="B34F25"/>
                </a:solidFill>
                <a:latin typeface="Calibri" pitchFamily="34" charset="0"/>
                <a:ea typeface="Calibri" pitchFamily="34" charset="-122"/>
                <a:cs typeface="Calibri" pitchFamily="34" charset="-120"/>
              </a:rPr>
              <a:t>05-06</a:t>
            </a:r>
            <a:endParaRPr lang="en-US" sz="1425" dirty="0"/>
          </a:p>
        </p:txBody>
      </p:sp>
      <p:sp>
        <p:nvSpPr>
          <p:cNvPr id="16" name="slide-1-text-14"/>
          <p:cNvSpPr/>
          <p:nvPr/>
        </p:nvSpPr>
        <p:spPr>
          <a:xfrm>
            <a:off x="8829675" y="3467100"/>
            <a:ext cx="2390775" cy="314325"/>
          </a:xfrm>
          <a:prstGeom prst="rect">
            <a:avLst/>
          </a:prstGeom>
          <a:noFill/>
          <a:ln/>
        </p:spPr>
        <p:txBody>
          <a:bodyPr wrap="square" lIns="0" tIns="0" rIns="0" bIns="0" rtlCol="0" anchor="t"/>
          <a:lstStyle/>
          <a:p>
            <a:pPr algn="l" indent="0" marL="0">
              <a:lnSpc>
                <a:spcPts val="2018"/>
              </a:lnSpc>
              <a:buNone/>
            </a:pPr>
            <a:r>
              <a:rPr lang="en-US" sz="1725" dirty="0">
                <a:solidFill>
                  <a:srgbClr val="183B34"/>
                </a:solidFill>
                <a:latin typeface="Calibri" pitchFamily="34" charset="0"/>
                <a:ea typeface="Calibri" pitchFamily="34" charset="-122"/>
                <a:cs typeface="Calibri" pitchFamily="34" charset="-120"/>
              </a:rPr>
              <a:t>Effects + custom hooks</a:t>
            </a:r>
            <a:endParaRPr lang="en-US" sz="1725" dirty="0"/>
          </a:p>
        </p:txBody>
      </p:sp>
      <p:sp>
        <p:nvSpPr>
          <p:cNvPr id="17" name="slide-1-rect-15"/>
          <p:cNvSpPr/>
          <p:nvPr/>
        </p:nvSpPr>
        <p:spPr>
          <a:xfrm>
            <a:off x="7981950" y="3933825"/>
            <a:ext cx="3352800" cy="466725"/>
          </a:xfrm>
          <a:prstGeom prst="roundRect">
            <a:avLst>
              <a:gd name="adj" fmla="val 12245"/>
            </a:avLst>
          </a:prstGeom>
          <a:solidFill>
            <a:srgbClr val="F6F3EA"/>
          </a:solidFill>
          <a:ln w="12700">
            <a:solidFill>
              <a:srgbClr val="F6F3EA">
                <a:alpha val="0"/>
              </a:srgbClr>
            </a:solidFill>
            <a:prstDash val="solid"/>
          </a:ln>
        </p:spPr>
      </p:sp>
      <p:sp>
        <p:nvSpPr>
          <p:cNvPr id="18" name="slide-1-text-16"/>
          <p:cNvSpPr/>
          <p:nvPr/>
        </p:nvSpPr>
        <p:spPr>
          <a:xfrm>
            <a:off x="8086725" y="4057650"/>
            <a:ext cx="628650" cy="257175"/>
          </a:xfrm>
          <a:prstGeom prst="rect">
            <a:avLst/>
          </a:prstGeom>
          <a:noFill/>
          <a:ln/>
        </p:spPr>
        <p:txBody>
          <a:bodyPr wrap="square" lIns="0" tIns="0" rIns="0" bIns="0" rtlCol="0" anchor="t"/>
          <a:lstStyle/>
          <a:p>
            <a:pPr algn="l" indent="0" marL="0">
              <a:lnSpc>
                <a:spcPts val="1667"/>
              </a:lnSpc>
              <a:buNone/>
            </a:pPr>
            <a:r>
              <a:rPr lang="en-US" sz="1425" b="1" dirty="0">
                <a:solidFill>
                  <a:srgbClr val="B34F25"/>
                </a:solidFill>
                <a:latin typeface="Calibri" pitchFamily="34" charset="0"/>
                <a:ea typeface="Calibri" pitchFamily="34" charset="-122"/>
                <a:cs typeface="Calibri" pitchFamily="34" charset="-120"/>
              </a:rPr>
              <a:t>07-08</a:t>
            </a:r>
            <a:endParaRPr lang="en-US" sz="1425" dirty="0"/>
          </a:p>
        </p:txBody>
      </p:sp>
      <p:sp>
        <p:nvSpPr>
          <p:cNvPr id="19" name="slide-1-text-17"/>
          <p:cNvSpPr/>
          <p:nvPr/>
        </p:nvSpPr>
        <p:spPr>
          <a:xfrm>
            <a:off x="8829675" y="4048125"/>
            <a:ext cx="2390775" cy="314325"/>
          </a:xfrm>
          <a:prstGeom prst="rect">
            <a:avLst/>
          </a:prstGeom>
          <a:noFill/>
          <a:ln/>
        </p:spPr>
        <p:txBody>
          <a:bodyPr wrap="square" lIns="0" tIns="0" rIns="0" bIns="0" rtlCol="0" anchor="t"/>
          <a:lstStyle/>
          <a:p>
            <a:pPr algn="l" indent="0" marL="0">
              <a:lnSpc>
                <a:spcPts val="2018"/>
              </a:lnSpc>
              <a:buNone/>
            </a:pPr>
            <a:r>
              <a:rPr lang="en-US" sz="1725" dirty="0">
                <a:solidFill>
                  <a:srgbClr val="183B34"/>
                </a:solidFill>
                <a:latin typeface="Calibri" pitchFamily="34" charset="0"/>
                <a:ea typeface="Calibri" pitchFamily="34" charset="-122"/>
                <a:cs typeface="Calibri" pitchFamily="34" charset="-120"/>
              </a:rPr>
              <a:t>Context + performance</a:t>
            </a:r>
            <a:endParaRPr lang="en-US" sz="1725" dirty="0"/>
          </a:p>
        </p:txBody>
      </p:sp>
      <p:sp>
        <p:nvSpPr>
          <p:cNvPr id="20" name="slide-1-rect-18"/>
          <p:cNvSpPr/>
          <p:nvPr/>
        </p:nvSpPr>
        <p:spPr>
          <a:xfrm>
            <a:off x="7981950" y="4514850"/>
            <a:ext cx="3352800" cy="466725"/>
          </a:xfrm>
          <a:prstGeom prst="roundRect">
            <a:avLst>
              <a:gd name="adj" fmla="val 12245"/>
            </a:avLst>
          </a:prstGeom>
          <a:solidFill>
            <a:srgbClr val="E5EDE2"/>
          </a:solidFill>
          <a:ln w="12700">
            <a:solidFill>
              <a:srgbClr val="E5EDE2">
                <a:alpha val="0"/>
              </a:srgbClr>
            </a:solidFill>
            <a:prstDash val="solid"/>
          </a:ln>
        </p:spPr>
      </p:sp>
      <p:sp>
        <p:nvSpPr>
          <p:cNvPr id="21" name="slide-1-text-19"/>
          <p:cNvSpPr/>
          <p:nvPr/>
        </p:nvSpPr>
        <p:spPr>
          <a:xfrm>
            <a:off x="8086725" y="4638675"/>
            <a:ext cx="628650" cy="257175"/>
          </a:xfrm>
          <a:prstGeom prst="rect">
            <a:avLst/>
          </a:prstGeom>
          <a:noFill/>
          <a:ln/>
        </p:spPr>
        <p:txBody>
          <a:bodyPr wrap="square" lIns="0" tIns="0" rIns="0" bIns="0" rtlCol="0" anchor="t"/>
          <a:lstStyle/>
          <a:p>
            <a:pPr algn="l" indent="0" marL="0">
              <a:lnSpc>
                <a:spcPts val="1667"/>
              </a:lnSpc>
              <a:buNone/>
            </a:pPr>
            <a:r>
              <a:rPr lang="en-US" sz="1425" b="1" dirty="0">
                <a:solidFill>
                  <a:srgbClr val="B34F25"/>
                </a:solidFill>
                <a:latin typeface="Calibri" pitchFamily="34" charset="0"/>
                <a:ea typeface="Calibri" pitchFamily="34" charset="-122"/>
                <a:cs typeface="Calibri" pitchFamily="34" charset="-120"/>
              </a:rPr>
              <a:t>09-10</a:t>
            </a:r>
            <a:endParaRPr lang="en-US" sz="1425" dirty="0"/>
          </a:p>
        </p:txBody>
      </p:sp>
      <p:sp>
        <p:nvSpPr>
          <p:cNvPr id="22" name="slide-1-text-20"/>
          <p:cNvSpPr/>
          <p:nvPr/>
        </p:nvSpPr>
        <p:spPr>
          <a:xfrm>
            <a:off x="8829675" y="4629150"/>
            <a:ext cx="2390775" cy="314325"/>
          </a:xfrm>
          <a:prstGeom prst="rect">
            <a:avLst/>
          </a:prstGeom>
          <a:noFill/>
          <a:ln/>
        </p:spPr>
        <p:txBody>
          <a:bodyPr wrap="square" lIns="0" tIns="0" rIns="0" bIns="0" rtlCol="0" anchor="t"/>
          <a:lstStyle/>
          <a:p>
            <a:pPr algn="l" indent="0" marL="0">
              <a:lnSpc>
                <a:spcPts val="2018"/>
              </a:lnSpc>
              <a:buNone/>
            </a:pPr>
            <a:r>
              <a:rPr lang="en-US" sz="1725" dirty="0">
                <a:solidFill>
                  <a:srgbClr val="183B34"/>
                </a:solidFill>
                <a:latin typeface="Calibri" pitchFamily="34" charset="0"/>
                <a:ea typeface="Calibri" pitchFamily="34" charset="-122"/>
                <a:cs typeface="Calibri" pitchFamily="34" charset="-120"/>
              </a:rPr>
              <a:t>useMemo + useReducer</a:t>
            </a:r>
            <a:endParaRPr lang="en-US" sz="1725" dirty="0"/>
          </a:p>
        </p:txBody>
      </p:sp>
      <p:sp>
        <p:nvSpPr>
          <p:cNvPr id="23" name="slide-1-text-21"/>
          <p:cNvSpPr/>
          <p:nvPr/>
        </p:nvSpPr>
        <p:spPr>
          <a:xfrm>
            <a:off x="7753350" y="5591175"/>
            <a:ext cx="3848100" cy="323850"/>
          </a:xfrm>
          <a:prstGeom prst="rect">
            <a:avLst/>
          </a:prstGeom>
          <a:noFill/>
          <a:ln/>
        </p:spPr>
        <p:txBody>
          <a:bodyPr wrap="square" lIns="0" tIns="0" rIns="0" bIns="0" rtlCol="0" anchor="t"/>
          <a:lstStyle/>
          <a:p>
            <a:pPr algn="l" indent="0" marL="0">
              <a:lnSpc>
                <a:spcPts val="1931"/>
              </a:lnSpc>
              <a:buNone/>
            </a:pPr>
            <a:r>
              <a:rPr lang="en-US" sz="1650" dirty="0">
                <a:solidFill>
                  <a:srgbClr val="BCE8D2"/>
                </a:solidFill>
                <a:latin typeface="Calibri" pitchFamily="34" charset="0"/>
                <a:ea typeface="Calibri" pitchFamily="34" charset="-122"/>
                <a:cs typeface="Calibri" pitchFamily="34" charset="-120"/>
              </a:rPr>
              <a:t>One app / ten interactive topics</a:t>
            </a:r>
            <a:endParaRPr lang="en-US" sz="1650" dirty="0"/>
          </a:p>
        </p:txBody>
      </p:sp>
      <p:sp>
        <p:nvSpPr>
          <p:cNvPr id="24" name="slide-1-text-2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BCE8D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AppContent | App.tsx:26</a:t>
            </a:r>
            <a:endParaRPr lang="en-US" sz="1275" dirty="0"/>
          </a:p>
        </p:txBody>
      </p:sp>
      <p:sp>
        <p:nvSpPr>
          <p:cNvPr id="25" name="slide-1-text-2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BCE8D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TSX expressions</a:t>
            </a:r>
            <a:endParaRPr lang="en-US" sz="1275" dirty="0"/>
          </a:p>
        </p:txBody>
      </p:sp>
      <p:sp>
        <p:nvSpPr>
          <p:cNvPr id="26" name="slide-1-text-2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BCE8D2"/>
                </a:solidFill>
                <a:latin typeface="Calibri" pitchFamily="34" charset="0"/>
                <a:ea typeface="Calibri" pitchFamily="34" charset="-122"/>
                <a:cs typeface="Calibri" pitchFamily="34" charset="-120"/>
              </a:rPr>
              <a:t>01 / 65</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lide-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00 / ONE APP, TEN TOPICS</a:t>
            </a:r>
            <a:endParaRPr lang="en-US" sz="1350" dirty="0"/>
          </a:p>
        </p:txBody>
      </p:sp>
      <p:sp>
        <p:nvSpPr>
          <p:cNvPr id="3" name="slide-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Make the same round trip every time</a:t>
            </a:r>
            <a:endParaRPr lang="en-US" sz="3600" dirty="0"/>
          </a:p>
        </p:txBody>
      </p:sp>
      <p:sp>
        <p:nvSpPr>
          <p:cNvPr id="4" name="slide-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Explain a concept, locate its owner, then test one visible prediction.</a:t>
            </a:r>
            <a:endParaRPr lang="en-US" sz="1875" dirty="0"/>
          </a:p>
        </p:txBody>
      </p:sp>
      <p:sp>
        <p:nvSpPr>
          <p:cNvPr id="5" name="slide-2-rect-3"/>
          <p:cNvSpPr/>
          <p:nvPr/>
        </p:nvSpPr>
        <p:spPr>
          <a:xfrm>
            <a:off x="609600" y="2190750"/>
            <a:ext cx="5372100" cy="1724025"/>
          </a:xfrm>
          <a:prstGeom prst="roundRect">
            <a:avLst>
              <a:gd name="adj" fmla="val 5525"/>
            </a:avLst>
          </a:prstGeom>
          <a:solidFill>
            <a:srgbClr val="FFFFFF"/>
          </a:solidFill>
          <a:ln w="9525">
            <a:solidFill>
              <a:srgbClr val="D4DBD0"/>
            </a:solidFill>
            <a:prstDash val="solid"/>
          </a:ln>
        </p:spPr>
      </p:sp>
      <p:sp>
        <p:nvSpPr>
          <p:cNvPr id="6" name="slide-2-text-4"/>
          <p:cNvSpPr/>
          <p:nvPr/>
        </p:nvSpPr>
        <p:spPr>
          <a:xfrm>
            <a:off x="838200" y="2381250"/>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CONCEPT</a:t>
            </a:r>
            <a:endParaRPr lang="en-US" sz="1350" dirty="0"/>
          </a:p>
        </p:txBody>
      </p:sp>
      <p:sp>
        <p:nvSpPr>
          <p:cNvPr id="7" name="slide-2-text-5"/>
          <p:cNvSpPr/>
          <p:nvPr/>
        </p:nvSpPr>
        <p:spPr>
          <a:xfrm>
            <a:off x="838200" y="2733675"/>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Name the responsibility</a:t>
            </a:r>
            <a:endParaRPr lang="en-US" sz="2175" dirty="0"/>
          </a:p>
        </p:txBody>
      </p:sp>
      <p:sp>
        <p:nvSpPr>
          <p:cNvPr id="8" name="slide-2-text-6"/>
          <p:cNvSpPr/>
          <p:nvPr/>
        </p:nvSpPr>
        <p:spPr>
          <a:xfrm>
            <a:off x="838200" y="3209925"/>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Rendering, state, a contract or an effect?</a:t>
            </a:r>
            <a:endParaRPr lang="en-US" sz="1875" dirty="0"/>
          </a:p>
        </p:txBody>
      </p:sp>
      <p:sp>
        <p:nvSpPr>
          <p:cNvPr id="9" name="slide-2-rect-7"/>
          <p:cNvSpPr/>
          <p:nvPr/>
        </p:nvSpPr>
        <p:spPr>
          <a:xfrm>
            <a:off x="6210300" y="2190750"/>
            <a:ext cx="5372100" cy="1724025"/>
          </a:xfrm>
          <a:prstGeom prst="roundRect">
            <a:avLst>
              <a:gd name="adj" fmla="val 5525"/>
            </a:avLst>
          </a:prstGeom>
          <a:solidFill>
            <a:srgbClr val="FFFFFF"/>
          </a:solidFill>
          <a:ln w="9525">
            <a:solidFill>
              <a:srgbClr val="D4DBD0"/>
            </a:solidFill>
            <a:prstDash val="solid"/>
          </a:ln>
        </p:spPr>
      </p:sp>
      <p:sp>
        <p:nvSpPr>
          <p:cNvPr id="10" name="slide-2-text-8"/>
          <p:cNvSpPr/>
          <p:nvPr/>
        </p:nvSpPr>
        <p:spPr>
          <a:xfrm>
            <a:off x="6438900" y="2381250"/>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SOURCE</a:t>
            </a:r>
            <a:endParaRPr lang="en-US" sz="1350" dirty="0"/>
          </a:p>
        </p:txBody>
      </p:sp>
      <p:sp>
        <p:nvSpPr>
          <p:cNvPr id="11" name="slide-2-text-9"/>
          <p:cNvSpPr/>
          <p:nvPr/>
        </p:nvSpPr>
        <p:spPr>
          <a:xfrm>
            <a:off x="6438900" y="2733675"/>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Find the actual symbol</a:t>
            </a:r>
            <a:endParaRPr lang="en-US" sz="2175" dirty="0"/>
          </a:p>
        </p:txBody>
      </p:sp>
      <p:sp>
        <p:nvSpPr>
          <p:cNvPr id="12" name="slide-2-text-10"/>
          <p:cNvSpPr/>
          <p:nvPr/>
        </p:nvSpPr>
        <p:spPr>
          <a:xfrm>
            <a:off x="6438900" y="3209925"/>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Follow Source to the highlighted implementation.</a:t>
            </a:r>
            <a:endParaRPr lang="en-US" sz="1875" dirty="0"/>
          </a:p>
        </p:txBody>
      </p:sp>
      <p:sp>
        <p:nvSpPr>
          <p:cNvPr id="13" name="slide-2-rect-11"/>
          <p:cNvSpPr/>
          <p:nvPr/>
        </p:nvSpPr>
        <p:spPr>
          <a:xfrm>
            <a:off x="609600" y="4143375"/>
            <a:ext cx="5372100" cy="1724025"/>
          </a:xfrm>
          <a:prstGeom prst="roundRect">
            <a:avLst>
              <a:gd name="adj" fmla="val 5525"/>
            </a:avLst>
          </a:prstGeom>
          <a:solidFill>
            <a:srgbClr val="FFFFFF"/>
          </a:solidFill>
          <a:ln w="9525">
            <a:solidFill>
              <a:srgbClr val="D4DBD0"/>
            </a:solidFill>
            <a:prstDash val="solid"/>
          </a:ln>
        </p:spPr>
      </p:sp>
      <p:sp>
        <p:nvSpPr>
          <p:cNvPr id="14" name="slide-2-text-12"/>
          <p:cNvSpPr/>
          <p:nvPr/>
        </p:nvSpPr>
        <p:spPr>
          <a:xfrm>
            <a:off x="838200" y="43338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LIVE</a:t>
            </a:r>
            <a:endParaRPr lang="en-US" sz="1350" dirty="0"/>
          </a:p>
        </p:txBody>
      </p:sp>
      <p:sp>
        <p:nvSpPr>
          <p:cNvPr id="15" name="slide-2-text-13"/>
          <p:cNvSpPr/>
          <p:nvPr/>
        </p:nvSpPr>
        <p:spPr>
          <a:xfrm>
            <a:off x="838200" y="4686300"/>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Perform one action</a:t>
            </a:r>
            <a:endParaRPr lang="en-US" sz="2175" dirty="0"/>
          </a:p>
        </p:txBody>
      </p:sp>
      <p:sp>
        <p:nvSpPr>
          <p:cNvPr id="16" name="slide-2-text-14"/>
          <p:cNvSpPr/>
          <p:nvPr/>
        </p:nvSpPr>
        <p:spPr>
          <a:xfrm>
            <a:off x="838200" y="5162550"/>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Follow Live to the matching tab and card.</a:t>
            </a:r>
            <a:endParaRPr lang="en-US" sz="1875" dirty="0"/>
          </a:p>
        </p:txBody>
      </p:sp>
      <p:sp>
        <p:nvSpPr>
          <p:cNvPr id="17" name="slide-2-rect-15"/>
          <p:cNvSpPr/>
          <p:nvPr/>
        </p:nvSpPr>
        <p:spPr>
          <a:xfrm>
            <a:off x="6210300" y="4143375"/>
            <a:ext cx="5372100" cy="1724025"/>
          </a:xfrm>
          <a:prstGeom prst="roundRect">
            <a:avLst>
              <a:gd name="adj" fmla="val 5525"/>
            </a:avLst>
          </a:prstGeom>
          <a:solidFill>
            <a:srgbClr val="FFFFFF"/>
          </a:solidFill>
          <a:ln w="9525">
            <a:solidFill>
              <a:srgbClr val="D4DBD0"/>
            </a:solidFill>
            <a:prstDash val="solid"/>
          </a:ln>
        </p:spPr>
      </p:sp>
      <p:sp>
        <p:nvSpPr>
          <p:cNvPr id="18" name="slide-2-text-16"/>
          <p:cNvSpPr/>
          <p:nvPr/>
        </p:nvSpPr>
        <p:spPr>
          <a:xfrm>
            <a:off x="6438900" y="43338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EXPLAIN</a:t>
            </a:r>
            <a:endParaRPr lang="en-US" sz="1350" dirty="0"/>
          </a:p>
        </p:txBody>
      </p:sp>
      <p:sp>
        <p:nvSpPr>
          <p:cNvPr id="19" name="slide-2-text-17"/>
          <p:cNvSpPr/>
          <p:nvPr/>
        </p:nvSpPr>
        <p:spPr>
          <a:xfrm>
            <a:off x="6438900" y="4686300"/>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Account for the result</a:t>
            </a:r>
            <a:endParaRPr lang="en-US" sz="2175" dirty="0"/>
          </a:p>
        </p:txBody>
      </p:sp>
      <p:sp>
        <p:nvSpPr>
          <p:cNvPr id="20" name="slide-2-text-18"/>
          <p:cNvSpPr/>
          <p:nvPr/>
        </p:nvSpPr>
        <p:spPr>
          <a:xfrm>
            <a:off x="6438900" y="5162550"/>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Which input changed? What stayed the same?</a:t>
            </a:r>
            <a:endParaRPr lang="en-US" sz="1875" dirty="0"/>
          </a:p>
        </p:txBody>
      </p:sp>
      <p:sp>
        <p:nvSpPr>
          <p:cNvPr id="21" name="slide-2-text-19">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AppContent | App.tsx:26</a:t>
            </a:r>
            <a:endParaRPr lang="en-US" sz="1275" dirty="0"/>
          </a:p>
        </p:txBody>
      </p:sp>
      <p:sp>
        <p:nvSpPr>
          <p:cNvPr id="22" name="slide-2-text-20">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Counter</a:t>
            </a:r>
            <a:endParaRPr lang="en-US" sz="1275" dirty="0"/>
          </a:p>
        </p:txBody>
      </p:sp>
      <p:sp>
        <p:nvSpPr>
          <p:cNvPr id="23" name="slide-2-text-21"/>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02 / 65</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lide-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00 / ONE APP, TEN TOPICS</a:t>
            </a:r>
            <a:endParaRPr lang="en-US" sz="1350" dirty="0"/>
          </a:p>
        </p:txBody>
      </p:sp>
      <p:sp>
        <p:nvSpPr>
          <p:cNvPr id="3" name="slide-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Describe the UI; React updates the page</a:t>
            </a:r>
            <a:endParaRPr lang="en-US" sz="3600" dirty="0"/>
          </a:p>
        </p:txBody>
      </p:sp>
      <p:sp>
        <p:nvSpPr>
          <p:cNvPr id="4" name="slide-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A render calculates UI from the current props, state and context.</a:t>
            </a:r>
            <a:endParaRPr lang="en-US" sz="1875" dirty="0"/>
          </a:p>
        </p:txBody>
      </p:sp>
      <p:sp>
        <p:nvSpPr>
          <p:cNvPr id="5" name="slide-3-text-3"/>
          <p:cNvSpPr/>
          <p:nvPr/>
        </p:nvSpPr>
        <p:spPr>
          <a:xfrm>
            <a:off x="609600"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1</a:t>
            </a:r>
            <a:endParaRPr lang="en-US" sz="1350" dirty="0"/>
          </a:p>
        </p:txBody>
      </p:sp>
      <p:sp>
        <p:nvSpPr>
          <p:cNvPr id="6" name="slide-3-rect-4"/>
          <p:cNvSpPr/>
          <p:nvPr/>
        </p:nvSpPr>
        <p:spPr>
          <a:xfrm>
            <a:off x="609600" y="2800350"/>
            <a:ext cx="2371725" cy="2095500"/>
          </a:xfrm>
          <a:prstGeom prst="roundRect">
            <a:avLst>
              <a:gd name="adj" fmla="val 4091"/>
            </a:avLst>
          </a:prstGeom>
          <a:solidFill>
            <a:srgbClr val="FFFFFF"/>
          </a:solidFill>
          <a:ln w="9525">
            <a:solidFill>
              <a:srgbClr val="D4DBD0"/>
            </a:solidFill>
            <a:prstDash val="solid"/>
          </a:ln>
        </p:spPr>
      </p:sp>
      <p:sp>
        <p:nvSpPr>
          <p:cNvPr id="7" name="slide-3-text-5"/>
          <p:cNvSpPr/>
          <p:nvPr/>
        </p:nvSpPr>
        <p:spPr>
          <a:xfrm>
            <a:off x="800100"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Event</a:t>
            </a:r>
            <a:endParaRPr lang="en-US" sz="2175" dirty="0"/>
          </a:p>
        </p:txBody>
      </p:sp>
      <p:sp>
        <p:nvSpPr>
          <p:cNvPr id="8" name="slide-3-text-6"/>
          <p:cNvSpPr/>
          <p:nvPr/>
        </p:nvSpPr>
        <p:spPr>
          <a:xfrm>
            <a:off x="800100"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Click the</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Counter's +</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button.</a:t>
            </a:r>
            <a:endParaRPr lang="en-US" sz="1875" dirty="0"/>
          </a:p>
        </p:txBody>
      </p:sp>
      <p:sp>
        <p:nvSpPr>
          <p:cNvPr id="9" name="slide-3-arrow-7"/>
          <p:cNvSpPr/>
          <p:nvPr/>
        </p:nvSpPr>
        <p:spPr>
          <a:xfrm>
            <a:off x="3019425" y="3848100"/>
            <a:ext cx="419100" cy="0"/>
          </a:xfrm>
          <a:prstGeom prst="line">
            <a:avLst/>
          </a:prstGeom>
          <a:noFill/>
          <a:ln w="23813">
            <a:solidFill>
              <a:srgbClr val="B34F25"/>
            </a:solidFill>
            <a:prstDash val="solid"/>
            <a:headEnd type="none"/>
            <a:tailEnd type="triangle"/>
          </a:ln>
        </p:spPr>
      </p:sp>
      <p:sp>
        <p:nvSpPr>
          <p:cNvPr id="10" name="slide-3-text-8"/>
          <p:cNvSpPr/>
          <p:nvPr/>
        </p:nvSpPr>
        <p:spPr>
          <a:xfrm>
            <a:off x="3476625"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2</a:t>
            </a:r>
            <a:endParaRPr lang="en-US" sz="1350" dirty="0"/>
          </a:p>
        </p:txBody>
      </p:sp>
      <p:sp>
        <p:nvSpPr>
          <p:cNvPr id="11" name="slide-3-rect-9"/>
          <p:cNvSpPr/>
          <p:nvPr/>
        </p:nvSpPr>
        <p:spPr>
          <a:xfrm>
            <a:off x="3476625" y="2800350"/>
            <a:ext cx="2371725" cy="2095500"/>
          </a:xfrm>
          <a:prstGeom prst="roundRect">
            <a:avLst>
              <a:gd name="adj" fmla="val 4091"/>
            </a:avLst>
          </a:prstGeom>
          <a:solidFill>
            <a:srgbClr val="FFFFFF"/>
          </a:solidFill>
          <a:ln w="9525">
            <a:solidFill>
              <a:srgbClr val="D4DBD0"/>
            </a:solidFill>
            <a:prstDash val="solid"/>
          </a:ln>
        </p:spPr>
      </p:sp>
      <p:sp>
        <p:nvSpPr>
          <p:cNvPr id="12" name="slide-3-text-10"/>
          <p:cNvSpPr/>
          <p:nvPr/>
        </p:nvSpPr>
        <p:spPr>
          <a:xfrm>
            <a:off x="3667125"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State</a:t>
            </a:r>
            <a:endParaRPr lang="en-US" sz="2175" dirty="0"/>
          </a:p>
        </p:txBody>
      </p:sp>
      <p:sp>
        <p:nvSpPr>
          <p:cNvPr id="13" name="slide-3-text-11"/>
          <p:cNvSpPr/>
          <p:nvPr/>
        </p:nvSpPr>
        <p:spPr>
          <a:xfrm>
            <a:off x="3667125"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Queue a new</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count using</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setCount.</a:t>
            </a:r>
            <a:endParaRPr lang="en-US" sz="1875" dirty="0"/>
          </a:p>
        </p:txBody>
      </p:sp>
      <p:sp>
        <p:nvSpPr>
          <p:cNvPr id="14" name="slide-3-arrow-12"/>
          <p:cNvSpPr/>
          <p:nvPr/>
        </p:nvSpPr>
        <p:spPr>
          <a:xfrm>
            <a:off x="5886450" y="3848100"/>
            <a:ext cx="419100" cy="0"/>
          </a:xfrm>
          <a:prstGeom prst="line">
            <a:avLst/>
          </a:prstGeom>
          <a:noFill/>
          <a:ln w="23813">
            <a:solidFill>
              <a:srgbClr val="B34F25"/>
            </a:solidFill>
            <a:prstDash val="solid"/>
            <a:headEnd type="none"/>
            <a:tailEnd type="triangle"/>
          </a:ln>
        </p:spPr>
      </p:sp>
      <p:sp>
        <p:nvSpPr>
          <p:cNvPr id="15" name="slide-3-text-13"/>
          <p:cNvSpPr/>
          <p:nvPr/>
        </p:nvSpPr>
        <p:spPr>
          <a:xfrm>
            <a:off x="6343650"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3</a:t>
            </a:r>
            <a:endParaRPr lang="en-US" sz="1350" dirty="0"/>
          </a:p>
        </p:txBody>
      </p:sp>
      <p:sp>
        <p:nvSpPr>
          <p:cNvPr id="16" name="slide-3-rect-14"/>
          <p:cNvSpPr/>
          <p:nvPr/>
        </p:nvSpPr>
        <p:spPr>
          <a:xfrm>
            <a:off x="6343650" y="2800350"/>
            <a:ext cx="2371725" cy="2095500"/>
          </a:xfrm>
          <a:prstGeom prst="roundRect">
            <a:avLst>
              <a:gd name="adj" fmla="val 4091"/>
            </a:avLst>
          </a:prstGeom>
          <a:solidFill>
            <a:srgbClr val="FFFFFF"/>
          </a:solidFill>
          <a:ln w="9525">
            <a:solidFill>
              <a:srgbClr val="D4DBD0"/>
            </a:solidFill>
            <a:prstDash val="solid"/>
          </a:ln>
        </p:spPr>
      </p:sp>
      <p:sp>
        <p:nvSpPr>
          <p:cNvPr id="17" name="slide-3-text-15"/>
          <p:cNvSpPr/>
          <p:nvPr/>
        </p:nvSpPr>
        <p:spPr>
          <a:xfrm>
            <a:off x="6534150"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Render</a:t>
            </a:r>
            <a:endParaRPr lang="en-US" sz="2175" dirty="0"/>
          </a:p>
        </p:txBody>
      </p:sp>
      <p:sp>
        <p:nvSpPr>
          <p:cNvPr id="18" name="slide-3-text-16"/>
          <p:cNvSpPr/>
          <p:nvPr/>
        </p:nvSpPr>
        <p:spPr>
          <a:xfrm>
            <a:off x="6534150"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Call Counter</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with its next</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state snapshot.</a:t>
            </a:r>
            <a:endParaRPr lang="en-US" sz="1875" dirty="0"/>
          </a:p>
        </p:txBody>
      </p:sp>
      <p:sp>
        <p:nvSpPr>
          <p:cNvPr id="19" name="slide-3-arrow-17"/>
          <p:cNvSpPr/>
          <p:nvPr/>
        </p:nvSpPr>
        <p:spPr>
          <a:xfrm>
            <a:off x="8753475" y="3848100"/>
            <a:ext cx="419100" cy="0"/>
          </a:xfrm>
          <a:prstGeom prst="line">
            <a:avLst/>
          </a:prstGeom>
          <a:noFill/>
          <a:ln w="23813">
            <a:solidFill>
              <a:srgbClr val="B34F25"/>
            </a:solidFill>
            <a:prstDash val="solid"/>
            <a:headEnd type="none"/>
            <a:tailEnd type="triangle"/>
          </a:ln>
        </p:spPr>
      </p:sp>
      <p:sp>
        <p:nvSpPr>
          <p:cNvPr id="20" name="slide-3-text-18"/>
          <p:cNvSpPr/>
          <p:nvPr/>
        </p:nvSpPr>
        <p:spPr>
          <a:xfrm>
            <a:off x="9210675"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4</a:t>
            </a:r>
            <a:endParaRPr lang="en-US" sz="1350" dirty="0"/>
          </a:p>
        </p:txBody>
      </p:sp>
      <p:sp>
        <p:nvSpPr>
          <p:cNvPr id="21" name="slide-3-rect-19"/>
          <p:cNvSpPr/>
          <p:nvPr/>
        </p:nvSpPr>
        <p:spPr>
          <a:xfrm>
            <a:off x="9210675" y="2800350"/>
            <a:ext cx="2371725" cy="2095500"/>
          </a:xfrm>
          <a:prstGeom prst="roundRect">
            <a:avLst>
              <a:gd name="adj" fmla="val 4091"/>
            </a:avLst>
          </a:prstGeom>
          <a:solidFill>
            <a:srgbClr val="E5EDE2"/>
          </a:solidFill>
          <a:ln w="9525">
            <a:solidFill>
              <a:srgbClr val="D4DBD0"/>
            </a:solidFill>
            <a:prstDash val="solid"/>
          </a:ln>
        </p:spPr>
      </p:sp>
      <p:sp>
        <p:nvSpPr>
          <p:cNvPr id="22" name="slide-3-text-20"/>
          <p:cNvSpPr/>
          <p:nvPr/>
        </p:nvSpPr>
        <p:spPr>
          <a:xfrm>
            <a:off x="9401175"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Commit</a:t>
            </a:r>
            <a:endParaRPr lang="en-US" sz="2175" dirty="0"/>
          </a:p>
        </p:txBody>
      </p:sp>
      <p:sp>
        <p:nvSpPr>
          <p:cNvPr id="23" name="slide-3-text-21"/>
          <p:cNvSpPr/>
          <p:nvPr/>
        </p:nvSpPr>
        <p:spPr>
          <a:xfrm>
            <a:off x="9401175"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Update the</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number on</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 page.</a:t>
            </a:r>
            <a:endParaRPr lang="en-US" sz="1875" dirty="0"/>
          </a:p>
        </p:txBody>
      </p:sp>
      <p:sp>
        <p:nvSpPr>
          <p:cNvPr id="24" name="slide-3-rect-22"/>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5" name="slide-3-text-23"/>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 render is not a page reload, and it need not change every DOM node.</a:t>
            </a:r>
            <a:endParaRPr lang="en-US" sz="1875" dirty="0"/>
          </a:p>
        </p:txBody>
      </p:sp>
      <p:sp>
        <p:nvSpPr>
          <p:cNvPr id="26" name="slide-3-text-24">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Counter | StateDemo.tsx:17</a:t>
            </a:r>
            <a:endParaRPr lang="en-US" sz="1275" dirty="0"/>
          </a:p>
        </p:txBody>
      </p:sp>
      <p:sp>
        <p:nvSpPr>
          <p:cNvPr id="27" name="slide-3-text-25">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Counter</a:t>
            </a:r>
            <a:endParaRPr lang="en-US" sz="1275" dirty="0"/>
          </a:p>
        </p:txBody>
      </p:sp>
      <p:sp>
        <p:nvSpPr>
          <p:cNvPr id="28" name="slide-3-text-26"/>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03 / 65</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lide-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00 / ONE APP, TEN TOPICS</a:t>
            </a:r>
            <a:endParaRPr lang="en-US" sz="1350" dirty="0"/>
          </a:p>
        </p:txBody>
      </p:sp>
      <p:sp>
        <p:nvSpPr>
          <p:cNvPr id="3" name="slide-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TypeScript checks contracts, not reality</a:t>
            </a:r>
            <a:endParaRPr lang="en-US" sz="3600" dirty="0"/>
          </a:p>
        </p:txBody>
      </p:sp>
      <p:sp>
        <p:nvSpPr>
          <p:cNvPr id="4" name="slide-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app's User model describes a value; it does not authenticate anyone.</a:t>
            </a:r>
            <a:endParaRPr lang="en-US" sz="1875" dirty="0"/>
          </a:p>
        </p:txBody>
      </p:sp>
      <p:sp>
        <p:nvSpPr>
          <p:cNvPr id="5" name="slide-4-rect-3"/>
          <p:cNvSpPr/>
          <p:nvPr/>
        </p:nvSpPr>
        <p:spPr>
          <a:xfrm>
            <a:off x="609600" y="2228850"/>
            <a:ext cx="3479800" cy="3067050"/>
          </a:xfrm>
          <a:prstGeom prst="roundRect">
            <a:avLst>
              <a:gd name="adj" fmla="val 3106"/>
            </a:avLst>
          </a:prstGeom>
          <a:solidFill>
            <a:srgbClr val="FFFFFF"/>
          </a:solidFill>
          <a:ln w="9525">
            <a:solidFill>
              <a:srgbClr val="D4DBD0"/>
            </a:solidFill>
            <a:prstDash val="solid"/>
          </a:ln>
        </p:spPr>
      </p:sp>
      <p:sp>
        <p:nvSpPr>
          <p:cNvPr id="6" name="slide-4-text-4"/>
          <p:cNvSpPr/>
          <p:nvPr/>
        </p:nvSpPr>
        <p:spPr>
          <a:xfrm>
            <a:off x="838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SHAPE</a:t>
            </a:r>
            <a:endParaRPr lang="en-US" sz="1350" dirty="0"/>
          </a:p>
        </p:txBody>
      </p:sp>
      <p:sp>
        <p:nvSpPr>
          <p:cNvPr id="7" name="slide-4-text-5"/>
          <p:cNvSpPr/>
          <p:nvPr/>
        </p:nvSpPr>
        <p:spPr>
          <a:xfrm>
            <a:off x="838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Required and optional</a:t>
            </a:r>
            <a:endParaRPr lang="en-US" sz="2400" dirty="0"/>
          </a:p>
        </p:txBody>
      </p:sp>
      <p:sp>
        <p:nvSpPr>
          <p:cNvPr id="8" name="slide-4-text-6"/>
          <p:cNvSpPr/>
          <p:nvPr/>
        </p:nvSpPr>
        <p:spPr>
          <a:xfrm>
            <a:off x="838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id, name and email</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are required.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avatar is optional.</a:t>
            </a:r>
            <a:endParaRPr lang="en-US" sz="1950" dirty="0"/>
          </a:p>
        </p:txBody>
      </p:sp>
      <p:sp>
        <p:nvSpPr>
          <p:cNvPr id="9" name="slide-4-rect-7"/>
          <p:cNvSpPr/>
          <p:nvPr/>
        </p:nvSpPr>
        <p:spPr>
          <a:xfrm>
            <a:off x="4356100" y="2228850"/>
            <a:ext cx="3479800" cy="3067050"/>
          </a:xfrm>
          <a:prstGeom prst="roundRect">
            <a:avLst>
              <a:gd name="adj" fmla="val 3106"/>
            </a:avLst>
          </a:prstGeom>
          <a:solidFill>
            <a:srgbClr val="FFFFFF"/>
          </a:solidFill>
          <a:ln w="9525">
            <a:solidFill>
              <a:srgbClr val="D4DBD0"/>
            </a:solidFill>
            <a:prstDash val="solid"/>
          </a:ln>
        </p:spPr>
      </p:sp>
      <p:sp>
        <p:nvSpPr>
          <p:cNvPr id="10" name="slide-4-text-8"/>
          <p:cNvSpPr/>
          <p:nvPr/>
        </p:nvSpPr>
        <p:spPr>
          <a:xfrm>
            <a:off x="45847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CHOICES</a:t>
            </a:r>
            <a:endParaRPr lang="en-US" sz="1350" dirty="0"/>
          </a:p>
        </p:txBody>
      </p:sp>
      <p:sp>
        <p:nvSpPr>
          <p:cNvPr id="11" name="slide-4-text-9"/>
          <p:cNvSpPr/>
          <p:nvPr/>
        </p:nvSpPr>
        <p:spPr>
          <a:xfrm>
            <a:off x="45847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A role union</a:t>
            </a:r>
            <a:endParaRPr lang="en-US" sz="2400" dirty="0"/>
          </a:p>
        </p:txBody>
      </p:sp>
      <p:sp>
        <p:nvSpPr>
          <p:cNvPr id="12" name="slide-4-text-10"/>
          <p:cNvSpPr/>
          <p:nvPr/>
        </p:nvSpPr>
        <p:spPr>
          <a:xfrm>
            <a:off x="45847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Only admin, user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or guest is valid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in typed code.</a:t>
            </a:r>
            <a:endParaRPr lang="en-US" sz="1950" dirty="0"/>
          </a:p>
        </p:txBody>
      </p:sp>
      <p:sp>
        <p:nvSpPr>
          <p:cNvPr id="13" name="slide-4-rect-11"/>
          <p:cNvSpPr/>
          <p:nvPr/>
        </p:nvSpPr>
        <p:spPr>
          <a:xfrm>
            <a:off x="8102600" y="2228850"/>
            <a:ext cx="3479800" cy="3067050"/>
          </a:xfrm>
          <a:prstGeom prst="roundRect">
            <a:avLst>
              <a:gd name="adj" fmla="val 3106"/>
            </a:avLst>
          </a:prstGeom>
          <a:solidFill>
            <a:srgbClr val="FFFFFF"/>
          </a:solidFill>
          <a:ln w="9525">
            <a:solidFill>
              <a:srgbClr val="D4DBD0"/>
            </a:solidFill>
            <a:prstDash val="solid"/>
          </a:ln>
        </p:spPr>
      </p:sp>
      <p:sp>
        <p:nvSpPr>
          <p:cNvPr id="14" name="slide-4-text-12"/>
          <p:cNvSpPr/>
          <p:nvPr/>
        </p:nvSpPr>
        <p:spPr>
          <a:xfrm>
            <a:off x="8331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BOUNDARY</a:t>
            </a:r>
            <a:endParaRPr lang="en-US" sz="1350" dirty="0"/>
          </a:p>
        </p:txBody>
      </p:sp>
      <p:sp>
        <p:nvSpPr>
          <p:cNvPr id="15" name="slide-4-text-13"/>
          <p:cNvSpPr/>
          <p:nvPr/>
        </p:nvSpPr>
        <p:spPr>
          <a:xfrm>
            <a:off x="8331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Validate real data</a:t>
            </a:r>
            <a:endParaRPr lang="en-US" sz="2400" dirty="0"/>
          </a:p>
        </p:txBody>
      </p:sp>
      <p:sp>
        <p:nvSpPr>
          <p:cNvPr id="16" name="slide-4-text-14"/>
          <p:cNvSpPr/>
          <p:nvPr/>
        </p:nvSpPr>
        <p:spPr>
          <a:xfrm>
            <a:off x="8331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JSON and saved values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still need runtime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validation.</a:t>
            </a:r>
            <a:endParaRPr lang="en-US" sz="1950" dirty="0"/>
          </a:p>
        </p:txBody>
      </p:sp>
      <p:sp>
        <p:nvSpPr>
          <p:cNvPr id="17" name="slide-4-rect-15"/>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8" name="slide-4-text-16"/>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Types disappear at runtime. A client-side role is not an authorization check.</a:t>
            </a:r>
            <a:endParaRPr lang="en-US" sz="1875" dirty="0"/>
          </a:p>
        </p:txBody>
      </p:sp>
      <p:sp>
        <p:nvSpPr>
          <p:cNvPr id="19" name="slide-4-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User | index.ts:8</a:t>
            </a:r>
            <a:endParaRPr lang="en-US" sz="1275" dirty="0"/>
          </a:p>
        </p:txBody>
      </p:sp>
      <p:sp>
        <p:nvSpPr>
          <p:cNvPr id="20" name="slide-4-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Demo authentication</a:t>
            </a:r>
            <a:endParaRPr lang="en-US" sz="1275" dirty="0"/>
          </a:p>
        </p:txBody>
      </p:sp>
      <p:sp>
        <p:nvSpPr>
          <p:cNvPr id="21" name="slide-4-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04 / 65</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lide-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00 / ONE APP, TEN TOPICS</a:t>
            </a:r>
            <a:endParaRPr lang="en-US" sz="1350" dirty="0"/>
          </a:p>
        </p:txBody>
      </p:sp>
      <p:sp>
        <p:nvSpPr>
          <p:cNvPr id="3" name="slide-5-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Run the app that the slides describe</a:t>
            </a:r>
            <a:endParaRPr lang="en-US" sz="3600" dirty="0"/>
          </a:p>
        </p:txBody>
      </p:sp>
      <p:sp>
        <p:nvSpPr>
          <p:cNvPr id="4" name="slide-5-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 the existing full-react-demo project; do not scaffold another app.</a:t>
            </a:r>
            <a:endParaRPr lang="en-US" sz="1875" dirty="0"/>
          </a:p>
        </p:txBody>
      </p:sp>
      <p:sp>
        <p:nvSpPr>
          <p:cNvPr id="5" name="slide-5-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5-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TERMINAL / FROM THE REPOSITORY ROOT</a:t>
            </a:r>
            <a:endParaRPr lang="en-US" sz="1350" dirty="0"/>
          </a:p>
        </p:txBody>
      </p:sp>
      <p:sp>
        <p:nvSpPr>
          <p:cNvPr id="7" name="slide-5-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cd full-react-demo</a:t>
            </a:r>
            <a:endParaRPr lang="en-US" sz="1575" dirty="0"/>
          </a:p>
        </p:txBody>
      </p:sp>
      <p:sp>
        <p:nvSpPr>
          <p:cNvPr id="8" name="slide-5-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npm install</a:t>
            </a:r>
            <a:endParaRPr lang="en-US" sz="1575" dirty="0"/>
          </a:p>
        </p:txBody>
      </p:sp>
      <p:sp>
        <p:nvSpPr>
          <p:cNvPr id="9" name="slide-5-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npm run dev -- --host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127</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--port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5176</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--strictPort</a:t>
            </a:r>
            <a:endParaRPr lang="en-US" sz="1575" dirty="0"/>
          </a:p>
        </p:txBody>
      </p:sp>
      <p:sp>
        <p:nvSpPr>
          <p:cNvPr id="10" name="slide-5-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1" name="slide-5-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Check before class:</a:t>
            </a:r>
            <a:endParaRPr lang="en-US" sz="1575" dirty="0"/>
          </a:p>
        </p:txBody>
      </p:sp>
      <p:sp>
        <p:nvSpPr>
          <p:cNvPr id="12" name="slide-5-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npm run build</a:t>
            </a:r>
            <a:endParaRPr lang="en-US" sz="1575" dirty="0"/>
          </a:p>
        </p:txBody>
      </p:sp>
      <p:sp>
        <p:nvSpPr>
          <p:cNvPr id="13" name="slide-5-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npm run lint</a:t>
            </a:r>
            <a:endParaRPr lang="en-US" sz="1575" dirty="0"/>
          </a:p>
        </p:txBody>
      </p:sp>
      <p:sp>
        <p:nvSpPr>
          <p:cNvPr id="14" name="slide-5-text-12"/>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START</a:t>
            </a:r>
            <a:endParaRPr lang="en-US" sz="1350" dirty="0"/>
          </a:p>
        </p:txBody>
      </p:sp>
      <p:sp>
        <p:nvSpPr>
          <p:cNvPr id="15" name="slide-5-text-13"/>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127.0.0.1:5176</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for Live links.</a:t>
            </a:r>
            <a:endParaRPr lang="en-US" sz="1950" dirty="0"/>
          </a:p>
        </p:txBody>
      </p:sp>
      <p:sp>
        <p:nvSpPr>
          <p:cNvPr id="16" name="slide-5-text-14"/>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INSPECT</a:t>
            </a:r>
            <a:endParaRPr lang="en-US" sz="1350" dirty="0"/>
          </a:p>
        </p:txBody>
      </p:sp>
      <p:sp>
        <p:nvSpPr>
          <p:cNvPr id="17" name="slide-5-text-15"/>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Browser tools +</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React DevTools.</a:t>
            </a:r>
            <a:endParaRPr lang="en-US" sz="1950" dirty="0"/>
          </a:p>
        </p:txBody>
      </p:sp>
      <p:sp>
        <p:nvSpPr>
          <p:cNvPr id="18" name="slide-5-text-16"/>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CHECK</a:t>
            </a:r>
            <a:endParaRPr lang="en-US" sz="1350" dirty="0"/>
          </a:p>
        </p:txBody>
      </p:sp>
      <p:sp>
        <p:nvSpPr>
          <p:cNvPr id="19" name="slide-5-text-17"/>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Build checks types;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lint checks rules.</a:t>
            </a:r>
            <a:endParaRPr lang="en-US" sz="1950" dirty="0"/>
          </a:p>
        </p:txBody>
      </p:sp>
      <p:sp>
        <p:nvSpPr>
          <p:cNvPr id="20" name="slide-5-rect-18"/>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1" name="slide-5-text-19"/>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HTML Source works offline; PowerPoint Source needs 8765. Live links need the app on 5176.</a:t>
            </a:r>
            <a:endParaRPr lang="en-US" sz="1875" dirty="0"/>
          </a:p>
        </p:txBody>
      </p:sp>
      <p:sp>
        <p:nvSpPr>
          <p:cNvPr id="22" name="slide-5-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createRoot | main.tsx:6</a:t>
            </a:r>
            <a:endParaRPr lang="en-US" sz="1275" dirty="0"/>
          </a:p>
        </p:txBody>
      </p:sp>
      <p:sp>
        <p:nvSpPr>
          <p:cNvPr id="23" name="slide-5-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Component composition</a:t>
            </a:r>
            <a:endParaRPr lang="en-US" sz="1275" dirty="0"/>
          </a:p>
        </p:txBody>
      </p:sp>
      <p:sp>
        <p:nvSpPr>
          <p:cNvPr id="24" name="slide-5-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05 / 65</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lide-6-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00 / ONE APP, TEN TOPICS</a:t>
            </a:r>
            <a:endParaRPr lang="en-US" sz="1350" dirty="0"/>
          </a:p>
        </p:txBody>
      </p:sp>
      <p:sp>
        <p:nvSpPr>
          <p:cNvPr id="3" name="slide-6-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Follow the entry point into ten tabs</a:t>
            </a:r>
            <a:endParaRPr lang="en-US" sz="3600" dirty="0"/>
          </a:p>
        </p:txBody>
      </p:sp>
      <p:sp>
        <p:nvSpPr>
          <p:cNvPr id="4" name="slide-6-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These locations all belong to full-react-demo/src.</a:t>
            </a:r>
            <a:endParaRPr lang="en-US" sz="1875" dirty="0"/>
          </a:p>
        </p:txBody>
      </p:sp>
      <p:sp>
        <p:nvSpPr>
          <p:cNvPr id="5" name="slide-6-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6-text-4"/>
          <p:cNvSpPr/>
          <p:nvPr/>
        </p:nvSpPr>
        <p:spPr>
          <a:xfrm>
            <a:off x="781050" y="2333625"/>
            <a:ext cx="256222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Location</a:t>
            </a:r>
            <a:endParaRPr lang="en-US" sz="1800" dirty="0"/>
          </a:p>
        </p:txBody>
      </p:sp>
      <p:sp>
        <p:nvSpPr>
          <p:cNvPr id="7" name="slide-6-text-5"/>
          <p:cNvSpPr/>
          <p:nvPr/>
        </p:nvSpPr>
        <p:spPr>
          <a:xfrm>
            <a:off x="3686175" y="2333625"/>
            <a:ext cx="377190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Responsibility</a:t>
            </a:r>
            <a:endParaRPr lang="en-US" sz="1800" dirty="0"/>
          </a:p>
        </p:txBody>
      </p:sp>
      <p:sp>
        <p:nvSpPr>
          <p:cNvPr id="8" name="slide-6-text-6"/>
          <p:cNvSpPr/>
          <p:nvPr/>
        </p:nvSpPr>
        <p:spPr>
          <a:xfrm>
            <a:off x="7800975" y="2333625"/>
            <a:ext cx="36099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Actual example</a:t>
            </a:r>
            <a:endParaRPr lang="en-US" sz="1800" dirty="0"/>
          </a:p>
        </p:txBody>
      </p:sp>
      <p:sp>
        <p:nvSpPr>
          <p:cNvPr id="9" name="slide-6-rect-7"/>
          <p:cNvSpPr/>
          <p:nvPr/>
        </p:nvSpPr>
        <p:spPr>
          <a:xfrm>
            <a:off x="609600" y="2724150"/>
            <a:ext cx="10972800" cy="647700"/>
          </a:xfrm>
          <a:prstGeom prst="rect">
            <a:avLst/>
          </a:prstGeom>
          <a:solidFill>
            <a:srgbClr val="FFFFFF"/>
          </a:solidFill>
          <a:ln w="12700">
            <a:solidFill>
              <a:srgbClr val="FFFFFF">
                <a:alpha val="0"/>
              </a:srgbClr>
            </a:solidFill>
            <a:prstDash val="solid"/>
          </a:ln>
        </p:spPr>
      </p:sp>
      <p:sp>
        <p:nvSpPr>
          <p:cNvPr id="10" name="slide-6-text-8"/>
          <p:cNvSpPr/>
          <p:nvPr/>
        </p:nvSpPr>
        <p:spPr>
          <a:xfrm>
            <a:off x="781050" y="2819400"/>
            <a:ext cx="2562225" cy="4762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main.tsx</a:t>
            </a:r>
            <a:endParaRPr lang="en-US" sz="1800" dirty="0"/>
          </a:p>
        </p:txBody>
      </p:sp>
      <p:sp>
        <p:nvSpPr>
          <p:cNvPr id="11" name="slide-6-text-9"/>
          <p:cNvSpPr/>
          <p:nvPr/>
        </p:nvSpPr>
        <p:spPr>
          <a:xfrm>
            <a:off x="3686175" y="2819400"/>
            <a:ext cx="3771900"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Mount App in StrictMode</a:t>
            </a:r>
            <a:endParaRPr lang="en-US" sz="1800" dirty="0"/>
          </a:p>
        </p:txBody>
      </p:sp>
      <p:sp>
        <p:nvSpPr>
          <p:cNvPr id="12" name="slide-6-text-10"/>
          <p:cNvSpPr/>
          <p:nvPr/>
        </p:nvSpPr>
        <p:spPr>
          <a:xfrm>
            <a:off x="7800975" y="2819400"/>
            <a:ext cx="3609975"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createRoot(...).render(...)</a:t>
            </a:r>
            <a:endParaRPr lang="en-US" sz="1800" dirty="0"/>
          </a:p>
        </p:txBody>
      </p:sp>
      <p:sp>
        <p:nvSpPr>
          <p:cNvPr id="13" name="slide-6-rect-11"/>
          <p:cNvSpPr/>
          <p:nvPr/>
        </p:nvSpPr>
        <p:spPr>
          <a:xfrm>
            <a:off x="609600" y="3390900"/>
            <a:ext cx="10972800" cy="647700"/>
          </a:xfrm>
          <a:prstGeom prst="rect">
            <a:avLst/>
          </a:prstGeom>
          <a:solidFill>
            <a:srgbClr val="F6F3EA"/>
          </a:solidFill>
          <a:ln w="12700">
            <a:solidFill>
              <a:srgbClr val="F6F3EA">
                <a:alpha val="0"/>
              </a:srgbClr>
            </a:solidFill>
            <a:prstDash val="solid"/>
          </a:ln>
        </p:spPr>
      </p:sp>
      <p:sp>
        <p:nvSpPr>
          <p:cNvPr id="14" name="slide-6-text-12"/>
          <p:cNvSpPr/>
          <p:nvPr/>
        </p:nvSpPr>
        <p:spPr>
          <a:xfrm>
            <a:off x="781050" y="3486150"/>
            <a:ext cx="2562225" cy="4762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App.tsx</a:t>
            </a:r>
            <a:endParaRPr lang="en-US" sz="1800" dirty="0"/>
          </a:p>
        </p:txBody>
      </p:sp>
      <p:sp>
        <p:nvSpPr>
          <p:cNvPr id="15" name="slide-6-text-13"/>
          <p:cNvSpPr/>
          <p:nvPr/>
        </p:nvSpPr>
        <p:spPr>
          <a:xfrm>
            <a:off x="3686175" y="3486150"/>
            <a:ext cx="3771900"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Providers and active tab</a:t>
            </a:r>
            <a:endParaRPr lang="en-US" sz="1800" dirty="0"/>
          </a:p>
        </p:txBody>
      </p:sp>
      <p:sp>
        <p:nvSpPr>
          <p:cNvPr id="16" name="slide-6-text-14"/>
          <p:cNvSpPr/>
          <p:nvPr/>
        </p:nvSpPr>
        <p:spPr>
          <a:xfrm>
            <a:off x="7800975" y="3486150"/>
            <a:ext cx="3609975"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App → AppContent</a:t>
            </a:r>
            <a:endParaRPr lang="en-US" sz="1800" dirty="0"/>
          </a:p>
        </p:txBody>
      </p:sp>
      <p:sp>
        <p:nvSpPr>
          <p:cNvPr id="17" name="slide-6-rect-15"/>
          <p:cNvSpPr/>
          <p:nvPr/>
        </p:nvSpPr>
        <p:spPr>
          <a:xfrm>
            <a:off x="609600" y="4057650"/>
            <a:ext cx="10972800" cy="647700"/>
          </a:xfrm>
          <a:prstGeom prst="rect">
            <a:avLst/>
          </a:prstGeom>
          <a:solidFill>
            <a:srgbClr val="FFFFFF"/>
          </a:solidFill>
          <a:ln w="12700">
            <a:solidFill>
              <a:srgbClr val="FFFFFF">
                <a:alpha val="0"/>
              </a:srgbClr>
            </a:solidFill>
            <a:prstDash val="solid"/>
          </a:ln>
        </p:spPr>
      </p:sp>
      <p:sp>
        <p:nvSpPr>
          <p:cNvPr id="18" name="slide-6-text-16"/>
          <p:cNvSpPr/>
          <p:nvPr/>
        </p:nvSpPr>
        <p:spPr>
          <a:xfrm>
            <a:off x="781050" y="4152900"/>
            <a:ext cx="2562225" cy="4762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components/</a:t>
            </a:r>
            <a:endParaRPr lang="en-US" sz="1800" dirty="0"/>
          </a:p>
        </p:txBody>
      </p:sp>
      <p:sp>
        <p:nvSpPr>
          <p:cNvPr id="19" name="slide-6-text-17"/>
          <p:cNvSpPr/>
          <p:nvPr/>
        </p:nvSpPr>
        <p:spPr>
          <a:xfrm>
            <a:off x="3686175" y="4152900"/>
            <a:ext cx="3771900"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Ten interactive topic demos</a:t>
            </a:r>
            <a:endParaRPr lang="en-US" sz="1800" dirty="0"/>
          </a:p>
        </p:txBody>
      </p:sp>
      <p:sp>
        <p:nvSpPr>
          <p:cNvPr id="20" name="slide-6-text-18"/>
          <p:cNvSpPr/>
          <p:nvPr/>
        </p:nvSpPr>
        <p:spPr>
          <a:xfrm>
            <a:off x="7800975" y="4152900"/>
            <a:ext cx="3609975"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StateDemo, UseReducerDemo</a:t>
            </a:r>
            <a:endParaRPr lang="en-US" sz="1800" dirty="0"/>
          </a:p>
        </p:txBody>
      </p:sp>
      <p:sp>
        <p:nvSpPr>
          <p:cNvPr id="21" name="slide-6-rect-19"/>
          <p:cNvSpPr/>
          <p:nvPr/>
        </p:nvSpPr>
        <p:spPr>
          <a:xfrm>
            <a:off x="609600" y="4724400"/>
            <a:ext cx="10972800" cy="647700"/>
          </a:xfrm>
          <a:prstGeom prst="rect">
            <a:avLst/>
          </a:prstGeom>
          <a:solidFill>
            <a:srgbClr val="F6F3EA"/>
          </a:solidFill>
          <a:ln w="12700">
            <a:solidFill>
              <a:srgbClr val="F6F3EA">
                <a:alpha val="0"/>
              </a:srgbClr>
            </a:solidFill>
            <a:prstDash val="solid"/>
          </a:ln>
        </p:spPr>
      </p:sp>
      <p:sp>
        <p:nvSpPr>
          <p:cNvPr id="22" name="slide-6-text-20"/>
          <p:cNvSpPr/>
          <p:nvPr/>
        </p:nvSpPr>
        <p:spPr>
          <a:xfrm>
            <a:off x="781050" y="4819650"/>
            <a:ext cx="2562225" cy="4762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hooks/</a:t>
            </a:r>
            <a:endParaRPr lang="en-US" sz="1800" dirty="0"/>
          </a:p>
        </p:txBody>
      </p:sp>
      <p:sp>
        <p:nvSpPr>
          <p:cNvPr id="23" name="slide-6-text-21"/>
          <p:cNvSpPr/>
          <p:nvPr/>
        </p:nvSpPr>
        <p:spPr>
          <a:xfrm>
            <a:off x="3686175" y="4819650"/>
            <a:ext cx="3771900"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Reusable stateful behavior</a:t>
            </a:r>
            <a:endParaRPr lang="en-US" sz="1800" dirty="0"/>
          </a:p>
        </p:txBody>
      </p:sp>
      <p:sp>
        <p:nvSpPr>
          <p:cNvPr id="24" name="slide-6-text-22"/>
          <p:cNvSpPr/>
          <p:nvPr/>
        </p:nvSpPr>
        <p:spPr>
          <a:xfrm>
            <a:off x="7800975" y="4819650"/>
            <a:ext cx="3609975"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useFetch, useLocalStorage</a:t>
            </a:r>
            <a:endParaRPr lang="en-US" sz="1800" dirty="0"/>
          </a:p>
        </p:txBody>
      </p:sp>
      <p:sp>
        <p:nvSpPr>
          <p:cNvPr id="25" name="slide-6-rect-23"/>
          <p:cNvSpPr/>
          <p:nvPr/>
        </p:nvSpPr>
        <p:spPr>
          <a:xfrm>
            <a:off x="609600" y="5391150"/>
            <a:ext cx="10972800" cy="647700"/>
          </a:xfrm>
          <a:prstGeom prst="rect">
            <a:avLst/>
          </a:prstGeom>
          <a:solidFill>
            <a:srgbClr val="FFFFFF"/>
          </a:solidFill>
          <a:ln w="12700">
            <a:solidFill>
              <a:srgbClr val="FFFFFF">
                <a:alpha val="0"/>
              </a:srgbClr>
            </a:solidFill>
            <a:prstDash val="solid"/>
          </a:ln>
        </p:spPr>
      </p:sp>
      <p:sp>
        <p:nvSpPr>
          <p:cNvPr id="26" name="slide-6-text-24"/>
          <p:cNvSpPr/>
          <p:nvPr/>
        </p:nvSpPr>
        <p:spPr>
          <a:xfrm>
            <a:off x="781050" y="5486400"/>
            <a:ext cx="2562225" cy="4762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context/ and types/</a:t>
            </a:r>
            <a:endParaRPr lang="en-US" sz="1800" dirty="0"/>
          </a:p>
        </p:txBody>
      </p:sp>
      <p:sp>
        <p:nvSpPr>
          <p:cNvPr id="27" name="slide-6-text-25"/>
          <p:cNvSpPr/>
          <p:nvPr/>
        </p:nvSpPr>
        <p:spPr>
          <a:xfrm>
            <a:off x="3686175" y="5486400"/>
            <a:ext cx="3771900"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Shared values and models</a:t>
            </a:r>
            <a:endParaRPr lang="en-US" sz="1800" dirty="0"/>
          </a:p>
        </p:txBody>
      </p:sp>
      <p:sp>
        <p:nvSpPr>
          <p:cNvPr id="28" name="slide-6-text-26"/>
          <p:cNvSpPr/>
          <p:nvPr/>
        </p:nvSpPr>
        <p:spPr>
          <a:xfrm>
            <a:off x="7800975" y="5486400"/>
            <a:ext cx="3609975" cy="4762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AuthProvider, User</a:t>
            </a:r>
            <a:endParaRPr lang="en-US" sz="1800" dirty="0"/>
          </a:p>
        </p:txBody>
      </p:sp>
      <p:sp>
        <p:nvSpPr>
          <p:cNvPr id="29" name="slide-6-text-2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createRoot | main.tsx:6</a:t>
            </a:r>
            <a:endParaRPr lang="en-US" sz="1275" dirty="0"/>
          </a:p>
        </p:txBody>
      </p:sp>
      <p:sp>
        <p:nvSpPr>
          <p:cNvPr id="30" name="slide-6-text-2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Component composition</a:t>
            </a:r>
            <a:endParaRPr lang="en-US" sz="1275" dirty="0"/>
          </a:p>
        </p:txBody>
      </p:sp>
      <p:sp>
        <p:nvSpPr>
          <p:cNvPr id="31" name="slide-6-text-2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06 / 65</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slide-7-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01 / COMPONENTS AND TSX</a:t>
            </a:r>
            <a:endParaRPr lang="en-US" sz="1350" dirty="0"/>
          </a:p>
        </p:txBody>
      </p:sp>
      <p:sp>
        <p:nvSpPr>
          <p:cNvPr id="3" name="slide-7-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A component is a function with a UI result</a:t>
            </a:r>
            <a:endParaRPr lang="en-US" sz="3600" dirty="0"/>
          </a:p>
        </p:txBody>
      </p:sp>
      <p:sp>
        <p:nvSpPr>
          <p:cNvPr id="4" name="slide-7-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Footer is a real component inside ComponentsDemo.tsx.</a:t>
            </a:r>
            <a:endParaRPr lang="en-US" sz="1875" dirty="0"/>
          </a:p>
        </p:txBody>
      </p:sp>
      <p:sp>
        <p:nvSpPr>
          <p:cNvPr id="5" name="slide-7-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7-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FOOTER / CURRENT COMPONENT, STYLES OMITTED</a:t>
            </a:r>
            <a:endParaRPr lang="en-US" sz="1350" dirty="0"/>
          </a:p>
        </p:txBody>
      </p:sp>
      <p:sp>
        <p:nvSpPr>
          <p:cNvPr id="7" name="slide-7-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Footer: React.FC = () =&gt; {</a:t>
            </a:r>
            <a:endParaRPr lang="en-US" sz="1575" dirty="0"/>
          </a:p>
        </p:txBody>
      </p:sp>
      <p:sp>
        <p:nvSpPr>
          <p:cNvPr id="8" name="slide-7-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currentYear: number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new</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Date().getFullYear();</a:t>
            </a:r>
            <a:endParaRPr lang="en-US" sz="1575" dirty="0"/>
          </a:p>
        </p:txBody>
      </p:sp>
      <p:sp>
        <p:nvSpPr>
          <p:cNvPr id="9" name="slide-7-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7-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&lt;footer&gt;</a:t>
            </a:r>
            <a:endParaRPr lang="en-US" sz="1575" dirty="0"/>
          </a:p>
        </p:txBody>
      </p:sp>
      <p:sp>
        <p:nvSpPr>
          <p:cNvPr id="11" name="slide-7-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&amp;copy; {currentYear} My Application</a:t>
            </a:r>
            <a:endParaRPr lang="en-US" sz="1575" dirty="0"/>
          </a:p>
        </p:txBody>
      </p:sp>
      <p:sp>
        <p:nvSpPr>
          <p:cNvPr id="12" name="slide-7-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&lt;/footer&gt;</a:t>
            </a:r>
            <a:endParaRPr lang="en-US" sz="1575" dirty="0"/>
          </a:p>
        </p:txBody>
      </p:sp>
      <p:sp>
        <p:nvSpPr>
          <p:cNvPr id="13" name="slide-7-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4" name="slide-7-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5" name="slide-7-text-13"/>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NAME</a:t>
            </a:r>
            <a:endParaRPr lang="en-US" sz="1350" dirty="0"/>
          </a:p>
        </p:txBody>
      </p:sp>
      <p:sp>
        <p:nvSpPr>
          <p:cNvPr id="16" name="slide-7-text-14"/>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Uppercase Footer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means a component.</a:t>
            </a:r>
            <a:endParaRPr lang="en-US" sz="1950" dirty="0"/>
          </a:p>
        </p:txBody>
      </p:sp>
      <p:sp>
        <p:nvSpPr>
          <p:cNvPr id="17" name="slide-7-text-15"/>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CALCULATE</a:t>
            </a:r>
            <a:endParaRPr lang="en-US" sz="1350" dirty="0"/>
          </a:p>
        </p:txBody>
      </p:sp>
      <p:sp>
        <p:nvSpPr>
          <p:cNvPr id="18" name="slide-7-text-16"/>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currentYear becomes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visible text.</a:t>
            </a:r>
            <a:endParaRPr lang="en-US" sz="1950" dirty="0"/>
          </a:p>
        </p:txBody>
      </p:sp>
      <p:sp>
        <p:nvSpPr>
          <p:cNvPr id="19" name="slide-7-text-17"/>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COMPOSE</a:t>
            </a:r>
            <a:endParaRPr lang="en-US" sz="1350" dirty="0"/>
          </a:p>
        </p:txBody>
      </p:sp>
      <p:sp>
        <p:nvSpPr>
          <p:cNvPr id="20" name="slide-7-text-18"/>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Render it with</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&lt;Footer /&gt;.</a:t>
            </a:r>
            <a:endParaRPr lang="en-US" sz="1950" dirty="0"/>
          </a:p>
        </p:txBody>
      </p:sp>
      <p:sp>
        <p:nvSpPr>
          <p:cNvPr id="21" name="slide-7-text-19">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Footer | ComponentsDemo.tsx:30</a:t>
            </a:r>
            <a:endParaRPr lang="en-US" sz="1275" dirty="0"/>
          </a:p>
        </p:txBody>
      </p:sp>
      <p:sp>
        <p:nvSpPr>
          <p:cNvPr id="22" name="slide-7-text-20">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Component composition</a:t>
            </a:r>
            <a:endParaRPr lang="en-US" sz="1275" dirty="0"/>
          </a:p>
        </p:txBody>
      </p:sp>
      <p:sp>
        <p:nvSpPr>
          <p:cNvPr id="23" name="slide-7-text-21"/>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07 / 65</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slide-8-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01 / COMPONENTS AND TSX</a:t>
            </a:r>
            <a:endParaRPr lang="en-US" sz="1350" dirty="0"/>
          </a:p>
        </p:txBody>
      </p:sp>
      <p:sp>
        <p:nvSpPr>
          <p:cNvPr id="3" name="slide-8-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Curly braces are the TSX boundary</a:t>
            </a:r>
            <a:endParaRPr lang="en-US" sz="3600" dirty="0"/>
          </a:p>
        </p:txBody>
      </p:sp>
      <p:sp>
        <p:nvSpPr>
          <p:cNvPr id="4" name="slide-8-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Outside braces: markup. Inside braces: an expression that produces a value.</a:t>
            </a:r>
            <a:endParaRPr lang="en-US" sz="1875" dirty="0"/>
          </a:p>
        </p:txBody>
      </p:sp>
      <p:sp>
        <p:nvSpPr>
          <p:cNvPr id="5" name="slide-8-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8-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COMPONENTSDEMO / RELEVANT EXCERPTS</a:t>
            </a:r>
            <a:endParaRPr lang="en-US" sz="1350" dirty="0"/>
          </a:p>
        </p:txBody>
      </p:sp>
      <p:sp>
        <p:nvSpPr>
          <p:cNvPr id="7" name="slide-8-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userName: string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'Alice'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8" name="slide-8-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userAge: number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28</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9" name="slide-8-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isLoggedIn: boolean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true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0" name="slide-8-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score: number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95</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1" name="slide-8-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2" name="slide-8-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&lt;p&gt;Welcome, {userName}!&lt;/p&gt;</a:t>
            </a:r>
            <a:endParaRPr lang="en-US" sz="1575" dirty="0"/>
          </a:p>
        </p:txBody>
      </p:sp>
      <p:sp>
        <p:nvSpPr>
          <p:cNvPr id="13" name="slide-8-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&lt;p&gt;Next year you'll be {userAge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a:t>
            </a:r>
            <a:endParaRPr lang="en-US" sz="1575" dirty="0"/>
          </a:p>
        </p:txBody>
      </p:sp>
      <p:sp>
        <p:nvSpPr>
          <p:cNvPr id="14" name="slide-8-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&lt;p&gt;{isLoggedIn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'Logged In'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'Logged Out'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a:t>
            </a:r>
            <a:endParaRPr lang="en-US" sz="1575" dirty="0"/>
          </a:p>
        </p:txBody>
      </p:sp>
      <p:sp>
        <p:nvSpPr>
          <p:cNvPr id="15" name="slide-8-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&lt;p&gt;Grade: {score &gt;=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90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a:t>
            </a:r>
            <a:endParaRPr lang="en-US" sz="1575" dirty="0"/>
          </a:p>
        </p:txBody>
      </p:sp>
      <p:sp>
        <p:nvSpPr>
          <p:cNvPr id="16" name="slide-8-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score &gt;=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80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'B'</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'C'</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a:t>
            </a:r>
            <a:endParaRPr lang="en-US" sz="1575" dirty="0"/>
          </a:p>
        </p:txBody>
      </p:sp>
      <p:sp>
        <p:nvSpPr>
          <p:cNvPr id="17" name="slide-8-text-15"/>
          <p:cNvSpPr/>
          <p:nvPr/>
        </p:nvSpPr>
        <p:spPr>
          <a:xfrm>
            <a:off x="838200" y="528637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&lt;p&gt;{userName.toUpperCase()}&lt;/p&gt;</a:t>
            </a:r>
            <a:endParaRPr lang="en-US" sz="1575" dirty="0"/>
          </a:p>
        </p:txBody>
      </p:sp>
      <p:sp>
        <p:nvSpPr>
          <p:cNvPr id="18" name="slide-8-text-16"/>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EVALUATE</a:t>
            </a:r>
            <a:endParaRPr lang="en-US" sz="1350" dirty="0"/>
          </a:p>
        </p:txBody>
      </p:sp>
      <p:sp>
        <p:nvSpPr>
          <p:cNvPr id="19" name="slide-8-text-17"/>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Values, arithmetic,</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ternaries and calls.</a:t>
            </a:r>
            <a:endParaRPr lang="en-US" sz="1950" dirty="0"/>
          </a:p>
        </p:txBody>
      </p:sp>
      <p:sp>
        <p:nvSpPr>
          <p:cNvPr id="20" name="slide-8-text-18"/>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NOT STATEMENTS</a:t>
            </a:r>
            <a:endParaRPr lang="en-US" sz="1350" dirty="0"/>
          </a:p>
        </p:txBody>
      </p:sp>
      <p:sp>
        <p:nvSpPr>
          <p:cNvPr id="21" name="slide-8-text-19"/>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An if statement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belongs before JSX.</a:t>
            </a:r>
            <a:endParaRPr lang="en-US" sz="1950" dirty="0"/>
          </a:p>
        </p:txBody>
      </p:sp>
      <p:sp>
        <p:nvSpPr>
          <p:cNvPr id="22" name="slide-8-text-20"/>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COMPILE</a:t>
            </a:r>
            <a:endParaRPr lang="en-US" sz="1350" dirty="0"/>
          </a:p>
        </p:txBody>
      </p:sp>
      <p:sp>
        <p:nvSpPr>
          <p:cNvPr id="23" name="slide-8-text-21"/>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JSX runtime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receives values.</a:t>
            </a:r>
            <a:endParaRPr lang="en-US" sz="1950" dirty="0"/>
          </a:p>
        </p:txBody>
      </p:sp>
      <p:sp>
        <p:nvSpPr>
          <p:cNvPr id="24" name="slide-8-text-2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ComponentsDemo | ComponentsDemo.tsx:42</a:t>
            </a:r>
            <a:endParaRPr lang="en-US" sz="1275" dirty="0"/>
          </a:p>
        </p:txBody>
      </p:sp>
      <p:sp>
        <p:nvSpPr>
          <p:cNvPr id="25" name="slide-8-text-2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TSX expressions</a:t>
            </a:r>
            <a:endParaRPr lang="en-US" sz="1275" dirty="0"/>
          </a:p>
        </p:txBody>
      </p:sp>
      <p:sp>
        <p:nvSpPr>
          <p:cNvPr id="26" name="slide-8-text-2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08 / 65</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slide-9-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01 / COMPONENTS AND TSX</a:t>
            </a:r>
            <a:endParaRPr lang="en-US" sz="1350" dirty="0"/>
          </a:p>
        </p:txBody>
      </p:sp>
      <p:sp>
        <p:nvSpPr>
          <p:cNvPr id="3" name="slide-9-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Four TSX habits to make automatic</a:t>
            </a:r>
            <a:endParaRPr lang="en-US" sz="3600" dirty="0"/>
          </a:p>
        </p:txBody>
      </p:sp>
      <p:sp>
        <p:nvSpPr>
          <p:cNvPr id="4" name="slide-9-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 the Fragment card to distinguish the component tree from the DOM.</a:t>
            </a:r>
            <a:endParaRPr lang="en-US" sz="1875" dirty="0"/>
          </a:p>
        </p:txBody>
      </p:sp>
      <p:sp>
        <p:nvSpPr>
          <p:cNvPr id="5" name="slide-9-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9-text-4"/>
          <p:cNvSpPr/>
          <p:nvPr/>
        </p:nvSpPr>
        <p:spPr>
          <a:xfrm>
            <a:off x="781050" y="2333625"/>
            <a:ext cx="241935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Habit</a:t>
            </a:r>
            <a:endParaRPr lang="en-US" sz="1800" dirty="0"/>
          </a:p>
        </p:txBody>
      </p:sp>
      <p:sp>
        <p:nvSpPr>
          <p:cNvPr id="7" name="slide-9-text-5"/>
          <p:cNvSpPr/>
          <p:nvPr/>
        </p:nvSpPr>
        <p:spPr>
          <a:xfrm>
            <a:off x="3543300" y="2333625"/>
            <a:ext cx="408622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Use</a:t>
            </a:r>
            <a:endParaRPr lang="en-US" sz="1800" dirty="0"/>
          </a:p>
        </p:txBody>
      </p:sp>
      <p:sp>
        <p:nvSpPr>
          <p:cNvPr id="8" name="slide-9-text-6"/>
          <p:cNvSpPr/>
          <p:nvPr/>
        </p:nvSpPr>
        <p:spPr>
          <a:xfrm>
            <a:off x="7972425" y="2333625"/>
            <a:ext cx="343852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Why</a:t>
            </a:r>
            <a:endParaRPr lang="en-US" sz="1800" dirty="0"/>
          </a:p>
        </p:txBody>
      </p:sp>
      <p:sp>
        <p:nvSpPr>
          <p:cNvPr id="9" name="slide-9-rect-7"/>
          <p:cNvSpPr/>
          <p:nvPr/>
        </p:nvSpPr>
        <p:spPr>
          <a:xfrm>
            <a:off x="609600" y="2724150"/>
            <a:ext cx="10972800" cy="752475"/>
          </a:xfrm>
          <a:prstGeom prst="rect">
            <a:avLst/>
          </a:prstGeom>
          <a:solidFill>
            <a:srgbClr val="FFFFFF"/>
          </a:solidFill>
          <a:ln w="12700">
            <a:solidFill>
              <a:srgbClr val="FFFFFF">
                <a:alpha val="0"/>
              </a:srgbClr>
            </a:solidFill>
            <a:prstDash val="solid"/>
          </a:ln>
        </p:spPr>
      </p:sp>
      <p:sp>
        <p:nvSpPr>
          <p:cNvPr id="10" name="slide-9-text-8"/>
          <p:cNvSpPr/>
          <p:nvPr/>
        </p:nvSpPr>
        <p:spPr>
          <a:xfrm>
            <a:off x="781050" y="2819400"/>
            <a:ext cx="2419350" cy="581025"/>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Group siblings</a:t>
            </a:r>
            <a:endParaRPr lang="en-US" sz="1800" dirty="0"/>
          </a:p>
        </p:txBody>
      </p:sp>
      <p:sp>
        <p:nvSpPr>
          <p:cNvPr id="11" name="slide-9-text-9"/>
          <p:cNvSpPr/>
          <p:nvPr/>
        </p:nvSpPr>
        <p:spPr>
          <a:xfrm>
            <a:off x="3543300" y="2819400"/>
            <a:ext cx="40862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onsolas" pitchFamily="34" charset="0"/>
                <a:ea typeface="Consolas" pitchFamily="34" charset="-122"/>
                <a:cs typeface="Consolas" pitchFamily="34" charset="-120"/>
              </a:rPr>
              <a:t>&lt;&gt; ... &lt;/&gt;</a:t>
            </a:r>
            <a:endParaRPr lang="en-US" sz="1800" dirty="0"/>
          </a:p>
        </p:txBody>
      </p:sp>
      <p:sp>
        <p:nvSpPr>
          <p:cNvPr id="12" name="slide-9-text-10"/>
          <p:cNvSpPr/>
          <p:nvPr/>
        </p:nvSpPr>
        <p:spPr>
          <a:xfrm>
            <a:off x="7972425" y="2819400"/>
            <a:ext cx="34385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No extra DOM wrapper</a:t>
            </a:r>
            <a:endParaRPr lang="en-US" sz="1800" dirty="0"/>
          </a:p>
        </p:txBody>
      </p:sp>
      <p:sp>
        <p:nvSpPr>
          <p:cNvPr id="13" name="slide-9-rect-11"/>
          <p:cNvSpPr/>
          <p:nvPr/>
        </p:nvSpPr>
        <p:spPr>
          <a:xfrm>
            <a:off x="609600" y="3495675"/>
            <a:ext cx="10972800" cy="752475"/>
          </a:xfrm>
          <a:prstGeom prst="rect">
            <a:avLst/>
          </a:prstGeom>
          <a:solidFill>
            <a:srgbClr val="F6F3EA"/>
          </a:solidFill>
          <a:ln w="12700">
            <a:solidFill>
              <a:srgbClr val="F6F3EA">
                <a:alpha val="0"/>
              </a:srgbClr>
            </a:solidFill>
            <a:prstDash val="solid"/>
          </a:ln>
        </p:spPr>
      </p:sp>
      <p:sp>
        <p:nvSpPr>
          <p:cNvPr id="14" name="slide-9-text-12"/>
          <p:cNvSpPr/>
          <p:nvPr/>
        </p:nvSpPr>
        <p:spPr>
          <a:xfrm>
            <a:off x="781050" y="3590925"/>
            <a:ext cx="2419350" cy="581025"/>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Name attributes</a:t>
            </a:r>
            <a:endParaRPr lang="en-US" sz="1800" dirty="0"/>
          </a:p>
        </p:txBody>
      </p:sp>
      <p:sp>
        <p:nvSpPr>
          <p:cNvPr id="15" name="slide-9-text-13"/>
          <p:cNvSpPr/>
          <p:nvPr/>
        </p:nvSpPr>
        <p:spPr>
          <a:xfrm>
            <a:off x="3543300" y="3590925"/>
            <a:ext cx="40862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onsolas" pitchFamily="34" charset="0"/>
                <a:ea typeface="Consolas" pitchFamily="34" charset="-122"/>
                <a:cs typeface="Consolas" pitchFamily="34" charset="-120"/>
              </a:rPr>
              <a:t>className, onClick</a:t>
            </a:r>
            <a:endParaRPr lang="en-US" sz="1800" dirty="0"/>
          </a:p>
        </p:txBody>
      </p:sp>
      <p:sp>
        <p:nvSpPr>
          <p:cNvPr id="16" name="slide-9-text-14"/>
          <p:cNvSpPr/>
          <p:nvPr/>
        </p:nvSpPr>
        <p:spPr>
          <a:xfrm>
            <a:off x="7972425" y="3590925"/>
            <a:ext cx="34385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React prop names</a:t>
            </a:r>
            <a:endParaRPr lang="en-US" sz="1800" dirty="0"/>
          </a:p>
        </p:txBody>
      </p:sp>
      <p:sp>
        <p:nvSpPr>
          <p:cNvPr id="17" name="slide-9-rect-15"/>
          <p:cNvSpPr/>
          <p:nvPr/>
        </p:nvSpPr>
        <p:spPr>
          <a:xfrm>
            <a:off x="609600" y="4267200"/>
            <a:ext cx="10972800" cy="752475"/>
          </a:xfrm>
          <a:prstGeom prst="rect">
            <a:avLst/>
          </a:prstGeom>
          <a:solidFill>
            <a:srgbClr val="FFFFFF"/>
          </a:solidFill>
          <a:ln w="12700">
            <a:solidFill>
              <a:srgbClr val="FFFFFF">
                <a:alpha val="0"/>
              </a:srgbClr>
            </a:solidFill>
            <a:prstDash val="solid"/>
          </a:ln>
        </p:spPr>
      </p:sp>
      <p:sp>
        <p:nvSpPr>
          <p:cNvPr id="18" name="slide-9-text-16"/>
          <p:cNvSpPr/>
          <p:nvPr/>
        </p:nvSpPr>
        <p:spPr>
          <a:xfrm>
            <a:off x="781050" y="4362450"/>
            <a:ext cx="2419350" cy="581025"/>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Pass functions</a:t>
            </a:r>
            <a:endParaRPr lang="en-US" sz="1800" dirty="0"/>
          </a:p>
        </p:txBody>
      </p:sp>
      <p:sp>
        <p:nvSpPr>
          <p:cNvPr id="19" name="slide-9-text-17"/>
          <p:cNvSpPr/>
          <p:nvPr/>
        </p:nvSpPr>
        <p:spPr>
          <a:xfrm>
            <a:off x="3543300" y="4362450"/>
            <a:ext cx="40862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onsolas" pitchFamily="34" charset="0"/>
                <a:ea typeface="Consolas" pitchFamily="34" charset="-122"/>
                <a:cs typeface="Consolas" pitchFamily="34" charset="-120"/>
              </a:rPr>
              <a:t>onClick={addItem}</a:t>
            </a:r>
            <a:endParaRPr lang="en-US" sz="1800" dirty="0"/>
          </a:p>
        </p:txBody>
      </p:sp>
      <p:sp>
        <p:nvSpPr>
          <p:cNvPr id="20" name="slide-9-text-18"/>
          <p:cNvSpPr/>
          <p:nvPr/>
        </p:nvSpPr>
        <p:spPr>
          <a:xfrm>
            <a:off x="7972425" y="4362450"/>
            <a:ext cx="34385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Run after the click</a:t>
            </a:r>
            <a:endParaRPr lang="en-US" sz="1800" dirty="0"/>
          </a:p>
        </p:txBody>
      </p:sp>
      <p:sp>
        <p:nvSpPr>
          <p:cNvPr id="21" name="slide-9-rect-19"/>
          <p:cNvSpPr/>
          <p:nvPr/>
        </p:nvSpPr>
        <p:spPr>
          <a:xfrm>
            <a:off x="609600" y="5038725"/>
            <a:ext cx="10972800" cy="752475"/>
          </a:xfrm>
          <a:prstGeom prst="rect">
            <a:avLst/>
          </a:prstGeom>
          <a:solidFill>
            <a:srgbClr val="F6F3EA"/>
          </a:solidFill>
          <a:ln w="12700">
            <a:solidFill>
              <a:srgbClr val="F6F3EA">
                <a:alpha val="0"/>
              </a:srgbClr>
            </a:solidFill>
            <a:prstDash val="solid"/>
          </a:ln>
        </p:spPr>
      </p:sp>
      <p:sp>
        <p:nvSpPr>
          <p:cNvPr id="22" name="slide-9-text-20"/>
          <p:cNvSpPr/>
          <p:nvPr/>
        </p:nvSpPr>
        <p:spPr>
          <a:xfrm>
            <a:off x="781050" y="5133975"/>
            <a:ext cx="2419350" cy="581025"/>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alibri" pitchFamily="34" charset="0"/>
                <a:ea typeface="Calibri" pitchFamily="34" charset="-122"/>
                <a:cs typeface="Calibri" pitchFamily="34" charset="-120"/>
              </a:rPr>
              <a:t>Write comments</a:t>
            </a:r>
            <a:endParaRPr lang="en-US" sz="1800" dirty="0"/>
          </a:p>
        </p:txBody>
      </p:sp>
      <p:sp>
        <p:nvSpPr>
          <p:cNvPr id="23" name="slide-9-text-21"/>
          <p:cNvSpPr/>
          <p:nvPr/>
        </p:nvSpPr>
        <p:spPr>
          <a:xfrm>
            <a:off x="3543300" y="5133975"/>
            <a:ext cx="40862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onsolas" pitchFamily="34" charset="0"/>
                <a:ea typeface="Consolas" pitchFamily="34" charset="-122"/>
                <a:cs typeface="Consolas" pitchFamily="34" charset="-120"/>
              </a:rPr>
              <a:t>{/* explanation */}</a:t>
            </a:r>
            <a:endParaRPr lang="en-US" sz="1800" dirty="0"/>
          </a:p>
        </p:txBody>
      </p:sp>
      <p:sp>
        <p:nvSpPr>
          <p:cNvPr id="24" name="slide-9-text-22"/>
          <p:cNvSpPr/>
          <p:nvPr/>
        </p:nvSpPr>
        <p:spPr>
          <a:xfrm>
            <a:off x="7972425" y="5133975"/>
            <a:ext cx="3438525" cy="581025"/>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Between JSX children</a:t>
            </a:r>
            <a:endParaRPr lang="en-US" sz="1800" dirty="0"/>
          </a:p>
        </p:txBody>
      </p:sp>
      <p:sp>
        <p:nvSpPr>
          <p:cNvPr id="25" name="slide-9-text-23">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Fragment | ComponentsDemo.tsx:96</a:t>
            </a:r>
            <a:endParaRPr lang="en-US" sz="1275" dirty="0"/>
          </a:p>
        </p:txBody>
      </p:sp>
      <p:sp>
        <p:nvSpPr>
          <p:cNvPr id="26" name="slide-9-text-24">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Fragments</a:t>
            </a:r>
            <a:endParaRPr lang="en-US" sz="1275" dirty="0"/>
          </a:p>
        </p:txBody>
      </p:sp>
      <p:sp>
        <p:nvSpPr>
          <p:cNvPr id="27" name="slide-9-text-25"/>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09 / 65</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A"/>
        </a:solidFill>
      </p:bgPr>
    </p:bg>
    <p:spTree>
      <p:nvGrpSpPr>
        <p:cNvPr id="1" name=""/>
        <p:cNvGrpSpPr/>
        <p:nvPr/>
      </p:nvGrpSpPr>
      <p:grpSpPr>
        <a:xfrm>
          <a:off x="0" y="0"/>
          <a:ext cx="0" cy="0"/>
          <a:chOff x="0" y="0"/>
          <a:chExt cx="0" cy="0"/>
        </a:xfrm>
      </p:grpSpPr>
      <p:sp>
        <p:nvSpPr>
          <p:cNvPr id="2" name="slide-10-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01 / COMPONENTS AND TSX</a:t>
            </a:r>
            <a:endParaRPr lang="en-US" sz="1350" dirty="0"/>
          </a:p>
        </p:txBody>
      </p:sp>
      <p:sp>
        <p:nvSpPr>
          <p:cNvPr id="3" name="slide-10-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Compose a view from focused pieces</a:t>
            </a:r>
            <a:endParaRPr lang="en-US" sz="3600" dirty="0"/>
          </a:p>
        </p:txBody>
      </p:sp>
      <p:sp>
        <p:nvSpPr>
          <p:cNvPr id="4" name="slide-10-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ComponentsDemo combines Header, inline content and Footer.</a:t>
            </a:r>
            <a:endParaRPr lang="en-US" sz="1875" dirty="0"/>
          </a:p>
        </p:txBody>
      </p:sp>
      <p:sp>
        <p:nvSpPr>
          <p:cNvPr id="5" name="slide-10-rect-3"/>
          <p:cNvSpPr/>
          <p:nvPr/>
        </p:nvSpPr>
        <p:spPr>
          <a:xfrm>
            <a:off x="4143375" y="2190750"/>
            <a:ext cx="3905250" cy="781050"/>
          </a:xfrm>
          <a:prstGeom prst="roundRect">
            <a:avLst>
              <a:gd name="adj" fmla="val 10976"/>
            </a:avLst>
          </a:prstGeom>
          <a:solidFill>
            <a:srgbClr val="E5EDE2"/>
          </a:solidFill>
          <a:ln w="9525">
            <a:solidFill>
              <a:srgbClr val="D4DBD0"/>
            </a:solidFill>
            <a:prstDash val="solid"/>
          </a:ln>
        </p:spPr>
      </p:sp>
      <p:sp>
        <p:nvSpPr>
          <p:cNvPr id="6" name="slide-10-text-4"/>
          <p:cNvSpPr/>
          <p:nvPr/>
        </p:nvSpPr>
        <p:spPr>
          <a:xfrm>
            <a:off x="4333875" y="2362200"/>
            <a:ext cx="3524250" cy="438150"/>
          </a:xfrm>
          <a:prstGeom prst="rect">
            <a:avLst/>
          </a:prstGeom>
          <a:noFill/>
          <a:ln/>
        </p:spPr>
        <p:txBody>
          <a:bodyPr wrap="square" lIns="0" tIns="0" rIns="0" bIns="0" rtlCol="0" anchor="t"/>
          <a:lstStyle/>
          <a:p>
            <a:pPr algn="ctr"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ComponentsDemo</a:t>
            </a:r>
            <a:endParaRPr lang="en-US" sz="2175" dirty="0"/>
          </a:p>
        </p:txBody>
      </p:sp>
      <p:sp>
        <p:nvSpPr>
          <p:cNvPr id="7" name="slide-10-rect-5"/>
          <p:cNvSpPr/>
          <p:nvPr/>
        </p:nvSpPr>
        <p:spPr>
          <a:xfrm>
            <a:off x="6076950" y="2971800"/>
            <a:ext cx="38100" cy="457200"/>
          </a:xfrm>
          <a:prstGeom prst="rect">
            <a:avLst/>
          </a:prstGeom>
          <a:solidFill>
            <a:srgbClr val="536B61"/>
          </a:solidFill>
          <a:ln w="12700">
            <a:solidFill>
              <a:srgbClr val="536B61">
                <a:alpha val="0"/>
              </a:srgbClr>
            </a:solidFill>
            <a:prstDash val="solid"/>
          </a:ln>
        </p:spPr>
      </p:sp>
      <p:sp>
        <p:nvSpPr>
          <p:cNvPr id="8" name="slide-10-rect-6"/>
          <p:cNvSpPr/>
          <p:nvPr/>
        </p:nvSpPr>
        <p:spPr>
          <a:xfrm>
            <a:off x="2343150" y="3400425"/>
            <a:ext cx="7505700" cy="38100"/>
          </a:xfrm>
          <a:prstGeom prst="rect">
            <a:avLst/>
          </a:prstGeom>
          <a:solidFill>
            <a:srgbClr val="536B61"/>
          </a:solidFill>
          <a:ln w="12700">
            <a:solidFill>
              <a:srgbClr val="536B61">
                <a:alpha val="0"/>
              </a:srgbClr>
            </a:solidFill>
            <a:prstDash val="solid"/>
          </a:ln>
        </p:spPr>
      </p:sp>
      <p:sp>
        <p:nvSpPr>
          <p:cNvPr id="9" name="slide-10-rect-7"/>
          <p:cNvSpPr/>
          <p:nvPr/>
        </p:nvSpPr>
        <p:spPr>
          <a:xfrm>
            <a:off x="2343150" y="3429000"/>
            <a:ext cx="38100" cy="228600"/>
          </a:xfrm>
          <a:prstGeom prst="rect">
            <a:avLst/>
          </a:prstGeom>
          <a:solidFill>
            <a:srgbClr val="536B61"/>
          </a:solidFill>
          <a:ln w="12700">
            <a:solidFill>
              <a:srgbClr val="536B61">
                <a:alpha val="0"/>
              </a:srgbClr>
            </a:solidFill>
            <a:prstDash val="solid"/>
          </a:ln>
        </p:spPr>
      </p:sp>
      <p:sp>
        <p:nvSpPr>
          <p:cNvPr id="10" name="slide-10-rect-8"/>
          <p:cNvSpPr/>
          <p:nvPr/>
        </p:nvSpPr>
        <p:spPr>
          <a:xfrm>
            <a:off x="6076950" y="3429000"/>
            <a:ext cx="38100" cy="228600"/>
          </a:xfrm>
          <a:prstGeom prst="rect">
            <a:avLst/>
          </a:prstGeom>
          <a:solidFill>
            <a:srgbClr val="536B61"/>
          </a:solidFill>
          <a:ln w="12700">
            <a:solidFill>
              <a:srgbClr val="536B61">
                <a:alpha val="0"/>
              </a:srgbClr>
            </a:solidFill>
            <a:prstDash val="solid"/>
          </a:ln>
        </p:spPr>
      </p:sp>
      <p:sp>
        <p:nvSpPr>
          <p:cNvPr id="11" name="slide-10-rect-9"/>
          <p:cNvSpPr/>
          <p:nvPr/>
        </p:nvSpPr>
        <p:spPr>
          <a:xfrm>
            <a:off x="9810750" y="3429000"/>
            <a:ext cx="38100" cy="228600"/>
          </a:xfrm>
          <a:prstGeom prst="rect">
            <a:avLst/>
          </a:prstGeom>
          <a:solidFill>
            <a:srgbClr val="536B61"/>
          </a:solidFill>
          <a:ln w="12700">
            <a:solidFill>
              <a:srgbClr val="536B61">
                <a:alpha val="0"/>
              </a:srgbClr>
            </a:solidFill>
            <a:prstDash val="solid"/>
          </a:ln>
        </p:spPr>
      </p:sp>
      <p:sp>
        <p:nvSpPr>
          <p:cNvPr id="12" name="slide-10-rect-10"/>
          <p:cNvSpPr/>
          <p:nvPr/>
        </p:nvSpPr>
        <p:spPr>
          <a:xfrm>
            <a:off x="609600" y="3657600"/>
            <a:ext cx="3505200" cy="1466850"/>
          </a:xfrm>
          <a:prstGeom prst="roundRect">
            <a:avLst>
              <a:gd name="adj" fmla="val 5844"/>
            </a:avLst>
          </a:prstGeom>
          <a:solidFill>
            <a:srgbClr val="FFFFFF"/>
          </a:solidFill>
          <a:ln w="9525">
            <a:solidFill>
              <a:srgbClr val="D4DBD0"/>
            </a:solidFill>
            <a:prstDash val="solid"/>
          </a:ln>
        </p:spPr>
      </p:sp>
      <p:sp>
        <p:nvSpPr>
          <p:cNvPr id="13" name="slide-10-text-11"/>
          <p:cNvSpPr/>
          <p:nvPr/>
        </p:nvSpPr>
        <p:spPr>
          <a:xfrm>
            <a:off x="800100" y="3848100"/>
            <a:ext cx="3124200"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Header</a:t>
            </a:r>
            <a:endParaRPr lang="en-US" sz="2175" dirty="0"/>
          </a:p>
        </p:txBody>
      </p:sp>
      <p:sp>
        <p:nvSpPr>
          <p:cNvPr id="14" name="slide-10-text-12"/>
          <p:cNvSpPr/>
          <p:nvPr/>
        </p:nvSpPr>
        <p:spPr>
          <a:xfrm>
            <a:off x="800100" y="4476750"/>
            <a:ext cx="3124200" cy="56197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 small local component</a:t>
            </a:r>
            <a:endParaRPr lang="en-US" sz="1875" dirty="0"/>
          </a:p>
        </p:txBody>
      </p:sp>
      <p:sp>
        <p:nvSpPr>
          <p:cNvPr id="15" name="slide-10-rect-13"/>
          <p:cNvSpPr/>
          <p:nvPr/>
        </p:nvSpPr>
        <p:spPr>
          <a:xfrm>
            <a:off x="4343400" y="3657600"/>
            <a:ext cx="3505200" cy="1466850"/>
          </a:xfrm>
          <a:prstGeom prst="roundRect">
            <a:avLst>
              <a:gd name="adj" fmla="val 5844"/>
            </a:avLst>
          </a:prstGeom>
          <a:solidFill>
            <a:srgbClr val="FFFFFF"/>
          </a:solidFill>
          <a:ln w="9525">
            <a:solidFill>
              <a:srgbClr val="D4DBD0"/>
            </a:solidFill>
            <a:prstDash val="solid"/>
          </a:ln>
        </p:spPr>
      </p:sp>
      <p:sp>
        <p:nvSpPr>
          <p:cNvPr id="16" name="slide-10-text-14"/>
          <p:cNvSpPr/>
          <p:nvPr/>
        </p:nvSpPr>
        <p:spPr>
          <a:xfrm>
            <a:off x="4533900" y="3848100"/>
            <a:ext cx="3124200"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Inline content</a:t>
            </a:r>
            <a:endParaRPr lang="en-US" sz="2175" dirty="0"/>
          </a:p>
        </p:txBody>
      </p:sp>
      <p:sp>
        <p:nvSpPr>
          <p:cNvPr id="17" name="slide-10-text-15"/>
          <p:cNvSpPr/>
          <p:nvPr/>
        </p:nvSpPr>
        <p:spPr>
          <a:xfrm>
            <a:off x="4533900" y="4476750"/>
            <a:ext cx="3124200" cy="56197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JSX in the parent</a:t>
            </a:r>
            <a:endParaRPr lang="en-US" sz="1875" dirty="0"/>
          </a:p>
        </p:txBody>
      </p:sp>
      <p:sp>
        <p:nvSpPr>
          <p:cNvPr id="18" name="slide-10-rect-16"/>
          <p:cNvSpPr/>
          <p:nvPr/>
        </p:nvSpPr>
        <p:spPr>
          <a:xfrm>
            <a:off x="8077200" y="3657600"/>
            <a:ext cx="3505200" cy="1466850"/>
          </a:xfrm>
          <a:prstGeom prst="roundRect">
            <a:avLst>
              <a:gd name="adj" fmla="val 5844"/>
            </a:avLst>
          </a:prstGeom>
          <a:solidFill>
            <a:srgbClr val="FFFFFF"/>
          </a:solidFill>
          <a:ln w="9525">
            <a:solidFill>
              <a:srgbClr val="D4DBD0"/>
            </a:solidFill>
            <a:prstDash val="solid"/>
          </a:ln>
        </p:spPr>
      </p:sp>
      <p:sp>
        <p:nvSpPr>
          <p:cNvPr id="19" name="slide-10-text-17"/>
          <p:cNvSpPr/>
          <p:nvPr/>
        </p:nvSpPr>
        <p:spPr>
          <a:xfrm>
            <a:off x="8267700" y="3848100"/>
            <a:ext cx="3124200"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Footer</a:t>
            </a:r>
            <a:endParaRPr lang="en-US" sz="2175" dirty="0"/>
          </a:p>
        </p:txBody>
      </p:sp>
      <p:sp>
        <p:nvSpPr>
          <p:cNvPr id="20" name="slide-10-text-18"/>
          <p:cNvSpPr/>
          <p:nvPr/>
        </p:nvSpPr>
        <p:spPr>
          <a:xfrm>
            <a:off x="8267700" y="4476750"/>
            <a:ext cx="3124200" cy="56197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 reusable year display</a:t>
            </a:r>
            <a:endParaRPr lang="en-US" sz="1875" dirty="0"/>
          </a:p>
        </p:txBody>
      </p:sp>
      <p:sp>
        <p:nvSpPr>
          <p:cNvPr id="21" name="slide-10-rect-1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2" name="slide-10-text-2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 component tree describes composition; not every visible region is its own component.</a:t>
            </a:r>
            <a:endParaRPr lang="en-US" sz="1875" dirty="0"/>
          </a:p>
        </p:txBody>
      </p:sp>
      <p:sp>
        <p:nvSpPr>
          <p:cNvPr id="23" name="slide-10-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ComponentsDemo | ComponentsDemo.tsx:71</a:t>
            </a:r>
            <a:endParaRPr lang="en-US" sz="1275" dirty="0"/>
          </a:p>
        </p:txBody>
      </p:sp>
      <p:sp>
        <p:nvSpPr>
          <p:cNvPr id="24" name="slide-10-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Component composition</a:t>
            </a:r>
            <a:endParaRPr lang="en-US" sz="1275" dirty="0"/>
          </a:p>
        </p:txBody>
      </p:sp>
      <p:sp>
        <p:nvSpPr>
          <p:cNvPr id="25" name="slide-10-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10 / 65</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A"/>
        </a:solidFill>
      </p:bgPr>
    </p:bg>
    <p:spTree>
      <p:nvGrpSpPr>
        <p:cNvPr id="1" name=""/>
        <p:cNvGrpSpPr/>
        <p:nvPr/>
      </p:nvGrpSpPr>
      <p:grpSpPr>
        <a:xfrm>
          <a:off x="0" y="0"/>
          <a:ext cx="0" cy="0"/>
          <a:chOff x="0" y="0"/>
          <a:chExt cx="0" cy="0"/>
        </a:xfrm>
      </p:grpSpPr>
      <p:sp>
        <p:nvSpPr>
          <p:cNvPr id="2" name="slide-1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01 / COMPONENTS AND TSX</a:t>
            </a:r>
            <a:endParaRPr lang="en-US" sz="1350" dirty="0"/>
          </a:p>
        </p:txBody>
      </p:sp>
      <p:sp>
        <p:nvSpPr>
          <p:cNvPr id="3" name="slide-11-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Lists need stable identities</a:t>
            </a:r>
            <a:endParaRPr lang="en-US" sz="3600" dirty="0"/>
          </a:p>
        </p:txBody>
      </p:sp>
      <p:sp>
        <p:nvSpPr>
          <p:cNvPr id="4" name="slide-11-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map creates siblings; key helps React match their identities.</a:t>
            </a:r>
            <a:endParaRPr lang="en-US" sz="1875" dirty="0"/>
          </a:p>
        </p:txBody>
      </p:sp>
      <p:sp>
        <p:nvSpPr>
          <p:cNvPr id="5" name="slide-11-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11-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COMPONENTSDEMO / CURRENT LIST</a:t>
            </a:r>
            <a:endParaRPr lang="en-US" sz="1350" dirty="0"/>
          </a:p>
        </p:txBody>
      </p:sp>
      <p:sp>
        <p:nvSpPr>
          <p:cNvPr id="7" name="slide-11-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&lt;ul&gt;</a:t>
            </a:r>
            <a:endParaRPr lang="en-US" sz="1575" dirty="0"/>
          </a:p>
        </p:txBody>
      </p:sp>
      <p:sp>
        <p:nvSpPr>
          <p:cNvPr id="8" name="slide-11-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{items.map((item, index) =&gt; (</a:t>
            </a:r>
            <a:endParaRPr lang="en-US" sz="1575" dirty="0"/>
          </a:p>
        </p:txBody>
      </p:sp>
      <p:sp>
        <p:nvSpPr>
          <p:cNvPr id="9" name="slide-11-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&lt;li key={index}&gt;{item}&lt;/li&gt;</a:t>
            </a:r>
            <a:endParaRPr lang="en-US" sz="1575" dirty="0"/>
          </a:p>
        </p:txBody>
      </p:sp>
      <p:sp>
        <p:nvSpPr>
          <p:cNvPr id="10" name="slide-11-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1" name="slide-11-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&lt;/ul&gt;</a:t>
            </a:r>
            <a:endParaRPr lang="en-US" sz="1575" dirty="0"/>
          </a:p>
        </p:txBody>
      </p:sp>
      <p:sp>
        <p:nvSpPr>
          <p:cNvPr id="12" name="slide-11-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&lt;button onClick={addItem}&gt;+ Add Feature&lt;/button&gt;</a:t>
            </a:r>
            <a:endParaRPr lang="en-US" sz="1575" dirty="0"/>
          </a:p>
        </p:txBody>
      </p:sp>
      <p:sp>
        <p:nvSpPr>
          <p:cNvPr id="13" name="slide-11-text-11"/>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CURRENT DEMO</a:t>
            </a:r>
            <a:endParaRPr lang="en-US" sz="1350" dirty="0"/>
          </a:p>
        </p:txBody>
      </p:sp>
      <p:sp>
        <p:nvSpPr>
          <p:cNvPr id="14" name="slide-11-text-12"/>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Appends strings;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uses index keys.</a:t>
            </a:r>
            <a:endParaRPr lang="en-US" sz="1950" dirty="0"/>
          </a:p>
        </p:txBody>
      </p:sp>
      <p:sp>
        <p:nvSpPr>
          <p:cNvPr id="15" name="slide-11-text-13"/>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STRONGER MODEL</a:t>
            </a:r>
            <a:endParaRPr lang="en-US" sz="1350" dirty="0"/>
          </a:p>
        </p:txBody>
      </p:sp>
      <p:sp>
        <p:nvSpPr>
          <p:cNvPr id="16" name="slide-11-text-14"/>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Use stable IDs for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editable lists.</a:t>
            </a:r>
            <a:endParaRPr lang="en-US" sz="1950" dirty="0"/>
          </a:p>
        </p:txBody>
      </p:sp>
      <p:sp>
        <p:nvSpPr>
          <p:cNvPr id="17" name="slide-11-text-15"/>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ELSEWHERE</a:t>
            </a:r>
            <a:endParaRPr lang="en-US" sz="1350" dirty="0"/>
          </a:p>
        </p:txBody>
      </p:sp>
      <p:sp>
        <p:nvSpPr>
          <p:cNvPr id="18" name="slide-11-text-16"/>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Product and cart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rows use data IDs.</a:t>
            </a:r>
            <a:endParaRPr lang="en-US" sz="1950" dirty="0"/>
          </a:p>
        </p:txBody>
      </p:sp>
      <p:sp>
        <p:nvSpPr>
          <p:cNvPr id="19" name="slide-11-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items.map | ComponentsDemo.tsx:85</a:t>
            </a:r>
            <a:endParaRPr lang="en-US" sz="1275" dirty="0"/>
          </a:p>
        </p:txBody>
      </p:sp>
      <p:sp>
        <p:nvSpPr>
          <p:cNvPr id="20" name="slide-11-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 Components &amp; TSX / Lists and keys</a:t>
            </a:r>
            <a:endParaRPr lang="en-US" sz="1275" dirty="0"/>
          </a:p>
        </p:txBody>
      </p:sp>
      <p:sp>
        <p:nvSpPr>
          <p:cNvPr id="21" name="slide-11-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11 / 65</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A"/>
        </a:solidFill>
      </p:bgPr>
    </p:bg>
    <p:spTree>
      <p:nvGrpSpPr>
        <p:cNvPr id="1" name=""/>
        <p:cNvGrpSpPr/>
        <p:nvPr/>
      </p:nvGrpSpPr>
      <p:grpSpPr>
        <a:xfrm>
          <a:off x="0" y="0"/>
          <a:ext cx="0" cy="0"/>
          <a:chOff x="0" y="0"/>
          <a:chExt cx="0" cy="0"/>
        </a:xfrm>
      </p:grpSpPr>
      <p:sp>
        <p:nvSpPr>
          <p:cNvPr id="2" name="slide-1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Props are a component's public contract</a:t>
            </a:r>
            <a:endParaRPr lang="en-US" sz="3600" dirty="0"/>
          </a:p>
        </p:txBody>
      </p:sp>
      <p:sp>
        <p:nvSpPr>
          <p:cNvPr id="4" name="slide-1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Greeting distinguishes required fields, optional fields and defaults.</a:t>
            </a:r>
            <a:endParaRPr lang="en-US" sz="1875" dirty="0"/>
          </a:p>
        </p:txBody>
      </p:sp>
      <p:sp>
        <p:nvSpPr>
          <p:cNvPr id="5" name="slide-12-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12-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GREETING / CURRENT COMPONENT, CLASSES OMITTED</a:t>
            </a:r>
            <a:endParaRPr lang="en-US" sz="1350" dirty="0"/>
          </a:p>
        </p:txBody>
      </p:sp>
      <p:sp>
        <p:nvSpPr>
          <p:cNvPr id="7" name="slide-12-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interface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GreetingProps {</a:t>
            </a:r>
            <a:endParaRPr lang="en-US" sz="1575" dirty="0"/>
          </a:p>
        </p:txBody>
      </p:sp>
      <p:sp>
        <p:nvSpPr>
          <p:cNvPr id="8" name="slide-12-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name: string;</a:t>
            </a:r>
            <a:endParaRPr lang="en-US" sz="1575" dirty="0"/>
          </a:p>
        </p:txBody>
      </p:sp>
      <p:sp>
        <p:nvSpPr>
          <p:cNvPr id="9" name="slide-12-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age?: number;</a:t>
            </a:r>
            <a:endParaRPr lang="en-US" sz="1575" dirty="0"/>
          </a:p>
        </p:txBody>
      </p:sp>
      <p:sp>
        <p:nvSpPr>
          <p:cNvPr id="10" name="slide-12-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isVip?: boolean;</a:t>
            </a:r>
            <a:endParaRPr lang="en-US" sz="1575" dirty="0"/>
          </a:p>
        </p:txBody>
      </p:sp>
      <p:sp>
        <p:nvSpPr>
          <p:cNvPr id="11" name="slide-12-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12-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Greeting: React.FC&lt;GreetingProps&gt; = ({</a:t>
            </a:r>
            <a:endParaRPr lang="en-US" sz="1575" dirty="0"/>
          </a:p>
        </p:txBody>
      </p:sp>
      <p:sp>
        <p:nvSpPr>
          <p:cNvPr id="13" name="slide-12-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name, age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18</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isVip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false</a:t>
            </a:r>
            <a:endParaRPr lang="en-US" sz="1575" dirty="0"/>
          </a:p>
        </p:txBody>
      </p:sp>
      <p:sp>
        <p:nvSpPr>
          <p:cNvPr id="14" name="slide-12-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 (</a:t>
            </a:r>
            <a:endParaRPr lang="en-US" sz="1575" dirty="0"/>
          </a:p>
        </p:txBody>
      </p:sp>
      <p:sp>
        <p:nvSpPr>
          <p:cNvPr id="15" name="slide-12-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&lt;div&gt;</a:t>
            </a:r>
            <a:endParaRPr lang="en-US" sz="1575" dirty="0"/>
          </a:p>
        </p:txBody>
      </p:sp>
      <p:sp>
        <p:nvSpPr>
          <p:cNvPr id="16" name="slide-12-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&lt;h4&gt;Hello, {name}!&lt;/h4&gt;&lt;p&gt;Age: {age}&lt;/p&gt;</a:t>
            </a:r>
            <a:endParaRPr lang="en-US" sz="1575" dirty="0"/>
          </a:p>
        </p:txBody>
      </p:sp>
      <p:sp>
        <p:nvSpPr>
          <p:cNvPr id="17" name="slide-12-text-15"/>
          <p:cNvSpPr/>
          <p:nvPr/>
        </p:nvSpPr>
        <p:spPr>
          <a:xfrm>
            <a:off x="838200" y="528637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{isVip &amp;&amp; &lt;span&gt;⭐ VIP&lt;/span&gt;}</a:t>
            </a:r>
            <a:endParaRPr lang="en-US" sz="1575" dirty="0"/>
          </a:p>
        </p:txBody>
      </p:sp>
      <p:sp>
        <p:nvSpPr>
          <p:cNvPr id="18" name="slide-12-text-16"/>
          <p:cNvSpPr/>
          <p:nvPr/>
        </p:nvSpPr>
        <p:spPr>
          <a:xfrm>
            <a:off x="838200" y="554640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&lt;/div&gt;</a:t>
            </a:r>
            <a:endParaRPr lang="en-US" sz="1575" dirty="0"/>
          </a:p>
        </p:txBody>
      </p:sp>
      <p:sp>
        <p:nvSpPr>
          <p:cNvPr id="19" name="slide-12-text-17"/>
          <p:cNvSpPr/>
          <p:nvPr/>
        </p:nvSpPr>
        <p:spPr>
          <a:xfrm>
            <a:off x="838200" y="580644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20" name="slide-12-text-18"/>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REQUIRED</a:t>
            </a:r>
            <a:endParaRPr lang="en-US" sz="1350" dirty="0"/>
          </a:p>
        </p:txBody>
      </p:sp>
      <p:sp>
        <p:nvSpPr>
          <p:cNvPr id="21" name="slide-12-text-19"/>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name must be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provided.</a:t>
            </a:r>
            <a:endParaRPr lang="en-US" sz="1950" dirty="0"/>
          </a:p>
        </p:txBody>
      </p:sp>
      <p:sp>
        <p:nvSpPr>
          <p:cNvPr id="22" name="slide-12-text-20"/>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OPTIONAL</a:t>
            </a:r>
            <a:endParaRPr lang="en-US" sz="1350" dirty="0"/>
          </a:p>
        </p:txBody>
      </p:sp>
      <p:sp>
        <p:nvSpPr>
          <p:cNvPr id="23" name="slide-12-text-21"/>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 permits an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omitted value.</a:t>
            </a:r>
            <a:endParaRPr lang="en-US" sz="1950" dirty="0"/>
          </a:p>
        </p:txBody>
      </p:sp>
      <p:sp>
        <p:nvSpPr>
          <p:cNvPr id="24" name="slide-12-text-22"/>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DEFAULT</a:t>
            </a:r>
            <a:endParaRPr lang="en-US" sz="1350" dirty="0"/>
          </a:p>
        </p:txBody>
      </p:sp>
      <p:sp>
        <p:nvSpPr>
          <p:cNvPr id="25" name="slide-12-text-23"/>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Used when the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value is undefined.</a:t>
            </a:r>
            <a:endParaRPr lang="en-US" sz="1950" dirty="0"/>
          </a:p>
        </p:txBody>
      </p:sp>
      <p:sp>
        <p:nvSpPr>
          <p:cNvPr id="26" name="slide-12-text-24">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Greeting | PropsDemo.tsx:17</a:t>
            </a:r>
            <a:endParaRPr lang="en-US" sz="1275" dirty="0"/>
          </a:p>
        </p:txBody>
      </p:sp>
      <p:sp>
        <p:nvSpPr>
          <p:cNvPr id="27" name="slide-12-text-25">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2. Props / Greeting defaults</a:t>
            </a:r>
            <a:endParaRPr lang="en-US" sz="1275" dirty="0"/>
          </a:p>
        </p:txBody>
      </p:sp>
      <p:sp>
        <p:nvSpPr>
          <p:cNvPr id="28" name="slide-12-text-26"/>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12 / 65</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A"/>
        </a:solidFill>
      </p:bgPr>
    </p:bg>
    <p:spTree>
      <p:nvGrpSpPr>
        <p:cNvPr id="1" name=""/>
        <p:cNvGrpSpPr/>
        <p:nvPr/>
      </p:nvGrpSpPr>
      <p:grpSpPr>
        <a:xfrm>
          <a:off x="0" y="0"/>
          <a:ext cx="0" cy="0"/>
          <a:chOff x="0" y="0"/>
          <a:chExt cx="0" cy="0"/>
        </a:xfrm>
      </p:grpSpPr>
      <p:sp>
        <p:nvSpPr>
          <p:cNvPr id="2" name="slide-1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Predict: what does Charlie receive?</a:t>
            </a:r>
            <a:endParaRPr lang="en-US" sz="3600" dirty="0"/>
          </a:p>
        </p:txBody>
      </p:sp>
      <p:sp>
        <p:nvSpPr>
          <p:cNvPr id="4" name="slide-1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Three uses of the same Greeting component, already running in Props.</a:t>
            </a:r>
            <a:endParaRPr lang="en-US" sz="1875" dirty="0"/>
          </a:p>
        </p:txBody>
      </p:sp>
      <p:sp>
        <p:nvSpPr>
          <p:cNvPr id="5" name="slide-13-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13-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a:t>
            </a:r>
            <a:endParaRPr lang="en-US" sz="5700" dirty="0"/>
          </a:p>
        </p:txBody>
      </p:sp>
      <p:sp>
        <p:nvSpPr>
          <p:cNvPr id="7" name="slide-13-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DISCUSS</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EXPLAIN</a:t>
            </a:r>
            <a:endParaRPr lang="en-US" sz="1725" dirty="0"/>
          </a:p>
        </p:txBody>
      </p:sp>
      <p:sp>
        <p:nvSpPr>
          <p:cNvPr id="8" name="slide-13-rect-6"/>
          <p:cNvSpPr/>
          <p:nvPr/>
        </p:nvSpPr>
        <p:spPr>
          <a:xfrm>
            <a:off x="2457450" y="2190750"/>
            <a:ext cx="5410200" cy="3048000"/>
          </a:xfrm>
          <a:prstGeom prst="roundRect">
            <a:avLst>
              <a:gd name="adj" fmla="val 3125"/>
            </a:avLst>
          </a:prstGeom>
          <a:solidFill>
            <a:srgbClr val="152B2A"/>
          </a:solidFill>
          <a:ln w="12700">
            <a:solidFill>
              <a:srgbClr val="152B2A">
                <a:alpha val="0"/>
              </a:srgbClr>
            </a:solidFill>
            <a:prstDash val="solid"/>
          </a:ln>
        </p:spPr>
      </p:sp>
      <p:sp>
        <p:nvSpPr>
          <p:cNvPr id="9" name="slide-13-text-7"/>
          <p:cNvSpPr/>
          <p:nvPr/>
        </p:nvSpPr>
        <p:spPr>
          <a:xfrm>
            <a:off x="2686050" y="2381250"/>
            <a:ext cx="49530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CURRENT CALL SITES / REFLOWED</a:t>
            </a:r>
            <a:endParaRPr lang="en-US" sz="1350" dirty="0"/>
          </a:p>
        </p:txBody>
      </p:sp>
      <p:sp>
        <p:nvSpPr>
          <p:cNvPr id="10" name="slide-13-text-8"/>
          <p:cNvSpPr/>
          <p:nvPr/>
        </p:nvSpPr>
        <p:spPr>
          <a:xfrm>
            <a:off x="2686050" y="276225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&lt;Greeting name=</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"Alice"</a:t>
            </a:r>
            <a:endParaRPr lang="en-US" sz="1575" dirty="0"/>
          </a:p>
        </p:txBody>
      </p:sp>
      <p:sp>
        <p:nvSpPr>
          <p:cNvPr id="11" name="slide-13-text-9"/>
          <p:cNvSpPr/>
          <p:nvPr/>
        </p:nvSpPr>
        <p:spPr>
          <a:xfrm>
            <a:off x="2686050" y="3022283"/>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age={</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25</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isVip={</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true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a:t>
            </a:r>
            <a:endParaRPr lang="en-US" sz="1575" dirty="0"/>
          </a:p>
        </p:txBody>
      </p:sp>
      <p:sp>
        <p:nvSpPr>
          <p:cNvPr id="12" name="slide-13-text-10"/>
          <p:cNvSpPr/>
          <p:nvPr/>
        </p:nvSpPr>
        <p:spPr>
          <a:xfrm>
            <a:off x="2686050" y="328231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&lt;Greeting name=</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"Bob"</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age={</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30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a:t>
            </a:r>
            <a:endParaRPr lang="en-US" sz="1575" dirty="0"/>
          </a:p>
        </p:txBody>
      </p:sp>
      <p:sp>
        <p:nvSpPr>
          <p:cNvPr id="13" name="slide-13-text-11"/>
          <p:cNvSpPr/>
          <p:nvPr/>
        </p:nvSpPr>
        <p:spPr>
          <a:xfrm>
            <a:off x="2686050" y="3542347"/>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&lt;Greeting name=</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"Charlie"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a:t>
            </a:r>
            <a:endParaRPr lang="en-US" sz="1575" dirty="0"/>
          </a:p>
        </p:txBody>
      </p:sp>
      <p:sp>
        <p:nvSpPr>
          <p:cNvPr id="14" name="slide-13-text-12"/>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5" name="slide-13-text-13"/>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Predict each age.</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Who gets a VIP badge?</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What changes if an</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age of 0 is supplied?</a:t>
            </a:r>
            <a:endParaRPr lang="en-US" sz="2100" dirty="0"/>
          </a:p>
        </p:txBody>
      </p:sp>
      <p:sp>
        <p:nvSpPr>
          <p:cNvPr id="16" name="slide-13-rect-14"/>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7" name="slide-13-text-15"/>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Make a prediction, discuss with a neighbor, then explain your reasoning.</a:t>
            </a:r>
            <a:endParaRPr lang="en-US" sz="1875" dirty="0"/>
          </a:p>
        </p:txBody>
      </p:sp>
      <p:sp>
        <p:nvSpPr>
          <p:cNvPr id="18" name="slide-13-text-16">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Greeting call sites | PropsDemo.tsx:85</a:t>
            </a:r>
            <a:endParaRPr lang="en-US" sz="1275" dirty="0"/>
          </a:p>
        </p:txBody>
      </p:sp>
      <p:sp>
        <p:nvSpPr>
          <p:cNvPr id="19" name="slide-13-text-17">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2. Props / Greeting defaults</a:t>
            </a:r>
            <a:endParaRPr lang="en-US" sz="1275" dirty="0"/>
          </a:p>
        </p:txBody>
      </p:sp>
      <p:sp>
        <p:nvSpPr>
          <p:cNvPr id="20" name="slide-13-text-18"/>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13 / 65</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A"/>
        </a:solidFill>
      </p:bgPr>
    </p:bg>
    <p:spTree>
      <p:nvGrpSpPr>
        <p:cNvPr id="1" name=""/>
        <p:cNvGrpSpPr/>
        <p:nvPr/>
      </p:nvGrpSpPr>
      <p:grpSpPr>
        <a:xfrm>
          <a:off x="0" y="0"/>
          <a:ext cx="0" cy="0"/>
          <a:chOff x="0" y="0"/>
          <a:chExt cx="0" cy="0"/>
        </a:xfrm>
      </p:grpSpPr>
      <p:sp>
        <p:nvSpPr>
          <p:cNvPr id="2" name="slide-1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Data flows down; requests flow back up</a:t>
            </a:r>
            <a:endParaRPr lang="en-US" sz="3600" dirty="0"/>
          </a:p>
        </p:txBody>
      </p:sp>
      <p:sp>
        <p:nvSpPr>
          <p:cNvPr id="4" name="slide-1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PropsDemo owns an event log. UserCard only reports Edit and Delete clicks.</a:t>
            </a:r>
            <a:endParaRPr lang="en-US" sz="1875" dirty="0"/>
          </a:p>
        </p:txBody>
      </p:sp>
      <p:sp>
        <p:nvSpPr>
          <p:cNvPr id="5" name="slide-14-rect-3"/>
          <p:cNvSpPr/>
          <p:nvPr/>
        </p:nvSpPr>
        <p:spPr>
          <a:xfrm>
            <a:off x="609600" y="2438400"/>
            <a:ext cx="4400550" cy="2190750"/>
          </a:xfrm>
          <a:prstGeom prst="roundRect">
            <a:avLst>
              <a:gd name="adj" fmla="val 3913"/>
            </a:avLst>
          </a:prstGeom>
          <a:solidFill>
            <a:srgbClr val="E5EDE2"/>
          </a:solidFill>
          <a:ln w="9525">
            <a:solidFill>
              <a:srgbClr val="D4DBD0"/>
            </a:solidFill>
            <a:prstDash val="solid"/>
          </a:ln>
        </p:spPr>
      </p:sp>
      <p:sp>
        <p:nvSpPr>
          <p:cNvPr id="6" name="slide-14-text-4"/>
          <p:cNvSpPr/>
          <p:nvPr/>
        </p:nvSpPr>
        <p:spPr>
          <a:xfrm>
            <a:off x="800100" y="2628900"/>
            <a:ext cx="4019550"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PropsDemo (parent)</a:t>
            </a:r>
            <a:endParaRPr lang="en-US" sz="2175" dirty="0"/>
          </a:p>
        </p:txBody>
      </p:sp>
      <p:sp>
        <p:nvSpPr>
          <p:cNvPr id="7" name="slide-14-text-5"/>
          <p:cNvSpPr/>
          <p:nvPr/>
        </p:nvSpPr>
        <p:spPr>
          <a:xfrm>
            <a:off x="800100" y="3257550"/>
            <a:ext cx="4019550" cy="128587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sampleUsers + event log</a:t>
            </a:r>
            <a:endParaRPr lang="en-US" sz="1875" dirty="0"/>
          </a:p>
          <a:p>
            <a:pPr algn="l" indent="0" marL="0">
              <a:lnSpc>
                <a:spcPts val="2194"/>
              </a:lnSpc>
              <a:buNone/>
            </a:pP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Append a log message.</a:t>
            </a:r>
            <a:endParaRPr lang="en-US" sz="1875" dirty="0"/>
          </a:p>
        </p:txBody>
      </p:sp>
      <p:sp>
        <p:nvSpPr>
          <p:cNvPr id="8" name="slide-14-rect-6"/>
          <p:cNvSpPr/>
          <p:nvPr/>
        </p:nvSpPr>
        <p:spPr>
          <a:xfrm>
            <a:off x="7181850" y="2438400"/>
            <a:ext cx="4400550" cy="2190750"/>
          </a:xfrm>
          <a:prstGeom prst="roundRect">
            <a:avLst>
              <a:gd name="adj" fmla="val 3913"/>
            </a:avLst>
          </a:prstGeom>
          <a:solidFill>
            <a:srgbClr val="FFFFFF"/>
          </a:solidFill>
          <a:ln w="9525">
            <a:solidFill>
              <a:srgbClr val="D4DBD0"/>
            </a:solidFill>
            <a:prstDash val="solid"/>
          </a:ln>
        </p:spPr>
      </p:sp>
      <p:sp>
        <p:nvSpPr>
          <p:cNvPr id="9" name="slide-14-text-7"/>
          <p:cNvSpPr/>
          <p:nvPr/>
        </p:nvSpPr>
        <p:spPr>
          <a:xfrm>
            <a:off x="7372350" y="2628900"/>
            <a:ext cx="4019550"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UserCard (child)</a:t>
            </a:r>
            <a:endParaRPr lang="en-US" sz="2175" dirty="0"/>
          </a:p>
        </p:txBody>
      </p:sp>
      <p:sp>
        <p:nvSpPr>
          <p:cNvPr id="10" name="slide-14-text-8"/>
          <p:cNvSpPr/>
          <p:nvPr/>
        </p:nvSpPr>
        <p:spPr>
          <a:xfrm>
            <a:off x="7372350" y="3257550"/>
            <a:ext cx="4019550" cy="128587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user, onEdit, onDelete</a:t>
            </a:r>
            <a:endParaRPr lang="en-US" sz="1875" dirty="0"/>
          </a:p>
          <a:p>
            <a:pPr algn="l" indent="0" marL="0">
              <a:lnSpc>
                <a:spcPts val="2194"/>
              </a:lnSpc>
              <a:buNone/>
            </a:pP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Call a callback prop.</a:t>
            </a:r>
            <a:endParaRPr lang="en-US" sz="1875" dirty="0"/>
          </a:p>
        </p:txBody>
      </p:sp>
      <p:sp>
        <p:nvSpPr>
          <p:cNvPr id="11" name="slide-14-text-9"/>
          <p:cNvSpPr/>
          <p:nvPr/>
        </p:nvSpPr>
        <p:spPr>
          <a:xfrm>
            <a:off x="5153025" y="2705100"/>
            <a:ext cx="1885950" cy="590550"/>
          </a:xfrm>
          <a:prstGeom prst="rect">
            <a:avLst/>
          </a:prstGeom>
          <a:noFill/>
          <a:ln/>
        </p:spPr>
        <p:txBody>
          <a:bodyPr wrap="square" lIns="0" tIns="0" rIns="0" bIns="0" rtlCol="0" anchor="t"/>
          <a:lstStyle/>
          <a:p>
            <a:pPr algn="ctr" indent="0" marL="0">
              <a:lnSpc>
                <a:spcPts val="1931"/>
              </a:lnSpc>
              <a:buNone/>
            </a:pPr>
            <a:r>
              <a:rPr lang="en-US" sz="1650" dirty="0">
                <a:solidFill>
                  <a:srgbClr val="183B34"/>
                </a:solidFill>
                <a:latin typeface="Consolas" pitchFamily="34" charset="0"/>
                <a:ea typeface="Consolas" pitchFamily="34" charset="-122"/>
                <a:cs typeface="Consolas" pitchFamily="34" charset="-120"/>
              </a:rPr>
              <a:t>props: user,</a:t>
            </a:r>
            <a:endParaRPr lang="en-US" sz="1650" dirty="0"/>
          </a:p>
          <a:p>
            <a:pPr algn="ctr" indent="0" marL="0">
              <a:lnSpc>
                <a:spcPts val="1931"/>
              </a:lnSpc>
              <a:buNone/>
            </a:pPr>
            <a:r>
              <a:rPr lang="en-US" sz="1650" dirty="0">
                <a:solidFill>
                  <a:srgbClr val="183B34"/>
                </a:solidFill>
                <a:latin typeface="Consolas" pitchFamily="34" charset="0"/>
                <a:ea typeface="Consolas" pitchFamily="34" charset="-122"/>
                <a:cs typeface="Consolas" pitchFamily="34" charset="-120"/>
              </a:rPr>
              <a:t>onDelete</a:t>
            </a:r>
            <a:endParaRPr lang="en-US" sz="1650" dirty="0"/>
          </a:p>
        </p:txBody>
      </p:sp>
      <p:sp>
        <p:nvSpPr>
          <p:cNvPr id="12" name="slide-14-arrow-10"/>
          <p:cNvSpPr/>
          <p:nvPr/>
        </p:nvSpPr>
        <p:spPr>
          <a:xfrm>
            <a:off x="5153025" y="3448050"/>
            <a:ext cx="1885950" cy="0"/>
          </a:xfrm>
          <a:prstGeom prst="line">
            <a:avLst/>
          </a:prstGeom>
          <a:noFill/>
          <a:ln w="23813">
            <a:solidFill>
              <a:srgbClr val="B34F25"/>
            </a:solidFill>
            <a:prstDash val="solid"/>
            <a:headEnd type="none"/>
            <a:tailEnd type="triangle"/>
          </a:ln>
        </p:spPr>
      </p:sp>
      <p:sp>
        <p:nvSpPr>
          <p:cNvPr id="13" name="slide-14-arrow-11"/>
          <p:cNvSpPr/>
          <p:nvPr/>
        </p:nvSpPr>
        <p:spPr>
          <a:xfrm>
            <a:off x="5153025" y="4057650"/>
            <a:ext cx="1885950" cy="0"/>
          </a:xfrm>
          <a:prstGeom prst="line">
            <a:avLst/>
          </a:prstGeom>
          <a:noFill/>
          <a:ln w="23813">
            <a:solidFill>
              <a:srgbClr val="B34F25"/>
            </a:solidFill>
            <a:prstDash val="solid"/>
            <a:headEnd type="triangle"/>
            <a:tailEnd type="none"/>
          </a:ln>
        </p:spPr>
      </p:sp>
      <p:sp>
        <p:nvSpPr>
          <p:cNvPr id="14" name="slide-14-text-12"/>
          <p:cNvSpPr/>
          <p:nvPr/>
        </p:nvSpPr>
        <p:spPr>
          <a:xfrm>
            <a:off x="5153025" y="4267200"/>
            <a:ext cx="1885950" cy="361950"/>
          </a:xfrm>
          <a:prstGeom prst="rect">
            <a:avLst/>
          </a:prstGeom>
          <a:noFill/>
          <a:ln/>
        </p:spPr>
        <p:txBody>
          <a:bodyPr wrap="square" lIns="0" tIns="0" rIns="0" bIns="0" rtlCol="0" anchor="t"/>
          <a:lstStyle/>
          <a:p>
            <a:pPr algn="ctr" indent="0" marL="0">
              <a:lnSpc>
                <a:spcPts val="1931"/>
              </a:lnSpc>
              <a:buNone/>
            </a:pPr>
            <a:r>
              <a:rPr lang="en-US" sz="1650" dirty="0">
                <a:solidFill>
                  <a:srgbClr val="183B34"/>
                </a:solidFill>
                <a:latin typeface="Consolas" pitchFamily="34" charset="0"/>
                <a:ea typeface="Consolas" pitchFamily="34" charset="-122"/>
                <a:cs typeface="Consolas" pitchFamily="34" charset="-120"/>
              </a:rPr>
              <a:t>onDelete(id)</a:t>
            </a:r>
            <a:endParaRPr lang="en-US" sz="1650" dirty="0"/>
          </a:p>
        </p:txBody>
      </p:sp>
      <p:sp>
        <p:nvSpPr>
          <p:cNvPr id="15" name="slide-14-rect-13"/>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6" name="slide-14-text-14"/>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In this app, Edit and Delete append log entries; they do not change the sample users.</a:t>
            </a:r>
            <a:endParaRPr lang="en-US" sz="1875" dirty="0"/>
          </a:p>
        </p:txBody>
      </p:sp>
      <p:sp>
        <p:nvSpPr>
          <p:cNvPr id="17" name="slide-14-text-15">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PropsDemo | PropsDemo.tsx:71</a:t>
            </a:r>
            <a:endParaRPr lang="en-US" sz="1275" dirty="0"/>
          </a:p>
        </p:txBody>
      </p:sp>
      <p:sp>
        <p:nvSpPr>
          <p:cNvPr id="18" name="slide-14-text-16">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2. Props / Callback props</a:t>
            </a:r>
            <a:endParaRPr lang="en-US" sz="1275" dirty="0"/>
          </a:p>
        </p:txBody>
      </p:sp>
      <p:sp>
        <p:nvSpPr>
          <p:cNvPr id="19" name="slide-14-text-17"/>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14 / 65</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A"/>
        </a:solidFill>
      </p:bgPr>
    </p:bg>
    <p:spTree>
      <p:nvGrpSpPr>
        <p:cNvPr id="1" name=""/>
        <p:cNvGrpSpPr/>
        <p:nvPr/>
      </p:nvGrpSpPr>
      <p:grpSpPr>
        <a:xfrm>
          <a:off x="0" y="0"/>
          <a:ext cx="0" cy="0"/>
          <a:chOff x="0" y="0"/>
          <a:chExt cx="0" cy="0"/>
        </a:xfrm>
      </p:grpSpPr>
      <p:sp>
        <p:nvSpPr>
          <p:cNvPr id="2" name="slide-1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5-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Functions are props, too</a:t>
            </a:r>
            <a:endParaRPr lang="en-US" sz="3600" dirty="0"/>
          </a:p>
        </p:txBody>
      </p:sp>
      <p:sp>
        <p:nvSpPr>
          <p:cNvPr id="4" name="slide-15-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payload contract tells the parent exactly what happened.</a:t>
            </a:r>
            <a:endParaRPr lang="en-US" sz="1875" dirty="0"/>
          </a:p>
        </p:txBody>
      </p:sp>
      <p:sp>
        <p:nvSpPr>
          <p:cNvPr id="5" name="slide-15-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15-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USERCARD / CURRENT ONDELETE EXCERPTS</a:t>
            </a:r>
            <a:endParaRPr lang="en-US" sz="1350" dirty="0"/>
          </a:p>
        </p:txBody>
      </p:sp>
      <p:sp>
        <p:nvSpPr>
          <p:cNvPr id="7" name="slide-15-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onDelete?: (userId: number) =&gt; void;</a:t>
            </a:r>
            <a:endParaRPr lang="en-US" sz="1575" dirty="0"/>
          </a:p>
        </p:txBody>
      </p:sp>
      <p:sp>
        <p:nvSpPr>
          <p:cNvPr id="8" name="slide-15-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9" name="slide-15-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{onDelete &amp;&amp; (</a:t>
            </a:r>
            <a:endParaRPr lang="en-US" sz="1575" dirty="0"/>
          </a:p>
        </p:txBody>
      </p:sp>
      <p:sp>
        <p:nvSpPr>
          <p:cNvPr id="10" name="slide-15-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&lt;button onClick={() =&gt; onDelete(user.id)}&gt;</a:t>
            </a:r>
            <a:endParaRPr lang="en-US" sz="1575" dirty="0"/>
          </a:p>
        </p:txBody>
      </p:sp>
      <p:sp>
        <p:nvSpPr>
          <p:cNvPr id="11" name="slide-15-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Delete</a:t>
            </a:r>
            <a:endParaRPr lang="en-US" sz="1575" dirty="0"/>
          </a:p>
        </p:txBody>
      </p:sp>
      <p:sp>
        <p:nvSpPr>
          <p:cNvPr id="12" name="slide-15-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&lt;/button&gt;</a:t>
            </a:r>
            <a:endParaRPr lang="en-US" sz="1575" dirty="0"/>
          </a:p>
        </p:txBody>
      </p:sp>
      <p:sp>
        <p:nvSpPr>
          <p:cNvPr id="13" name="slide-15-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15-text-12"/>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OPTIONAL</a:t>
            </a:r>
            <a:endParaRPr lang="en-US" sz="1350" dirty="0"/>
          </a:p>
        </p:txBody>
      </p:sp>
      <p:sp>
        <p:nvSpPr>
          <p:cNvPr id="15" name="slide-15-text-13"/>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Hide the action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if no callback.</a:t>
            </a:r>
            <a:endParaRPr lang="en-US" sz="1950" dirty="0"/>
          </a:p>
        </p:txBody>
      </p:sp>
      <p:sp>
        <p:nvSpPr>
          <p:cNvPr id="16" name="slide-15-text-14"/>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TYPED</a:t>
            </a:r>
            <a:endParaRPr lang="en-US" sz="1350" dirty="0"/>
          </a:p>
        </p:txBody>
      </p:sp>
      <p:sp>
        <p:nvSpPr>
          <p:cNvPr id="17" name="slide-15-text-15"/>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Send a numeric</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user ID.</a:t>
            </a:r>
            <a:endParaRPr lang="en-US" sz="1950" dirty="0"/>
          </a:p>
        </p:txBody>
      </p:sp>
      <p:sp>
        <p:nvSpPr>
          <p:cNvPr id="18" name="slide-15-text-16"/>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DEFERRED</a:t>
            </a:r>
            <a:endParaRPr lang="en-US" sz="1350" dirty="0"/>
          </a:p>
        </p:txBody>
      </p:sp>
      <p:sp>
        <p:nvSpPr>
          <p:cNvPr id="19" name="slide-15-text-17"/>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wrapper runs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when clicked.</a:t>
            </a:r>
            <a:endParaRPr lang="en-US" sz="1950" dirty="0"/>
          </a:p>
        </p:txBody>
      </p:sp>
      <p:sp>
        <p:nvSpPr>
          <p:cNvPr id="20" name="slide-15-rect-18"/>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1" name="slide-15-text-19"/>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UserCard reports an interaction; PropsDemo decides what that interaction does.</a:t>
            </a:r>
            <a:endParaRPr lang="en-US" sz="1875" dirty="0"/>
          </a:p>
        </p:txBody>
      </p:sp>
      <p:sp>
        <p:nvSpPr>
          <p:cNvPr id="22" name="slide-15-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UserCard | PropsDemo.tsx:32</a:t>
            </a:r>
            <a:endParaRPr lang="en-US" sz="1275" dirty="0"/>
          </a:p>
        </p:txBody>
      </p:sp>
      <p:sp>
        <p:nvSpPr>
          <p:cNvPr id="23" name="slide-15-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2. Props / Callback props</a:t>
            </a:r>
            <a:endParaRPr lang="en-US" sz="1275" dirty="0"/>
          </a:p>
        </p:txBody>
      </p:sp>
      <p:sp>
        <p:nvSpPr>
          <p:cNvPr id="24" name="slide-15-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15 / 65</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A"/>
        </a:solidFill>
      </p:bgPr>
    </p:bg>
    <p:spTree>
      <p:nvGrpSpPr>
        <p:cNvPr id="1" name=""/>
        <p:cNvGrpSpPr/>
        <p:nvPr/>
      </p:nvGrpSpPr>
      <p:grpSpPr>
        <a:xfrm>
          <a:off x="0" y="0"/>
          <a:ext cx="0" cy="0"/>
          <a:chOff x="0" y="0"/>
          <a:chExt cx="0" cy="0"/>
        </a:xfrm>
      </p:grpSpPr>
      <p:sp>
        <p:nvSpPr>
          <p:cNvPr id="2" name="slide-16-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6-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Generics preserve useful relationships</a:t>
            </a:r>
            <a:endParaRPr lang="en-US" sz="3600" dirty="0"/>
          </a:p>
        </p:txBody>
      </p:sp>
      <p:sp>
        <p:nvSpPr>
          <p:cNvPr id="4" name="slide-16-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GenericList delegates item identity and rendering without losing the item type.</a:t>
            </a:r>
            <a:endParaRPr lang="en-US" sz="1875" dirty="0"/>
          </a:p>
        </p:txBody>
      </p:sp>
      <p:sp>
        <p:nvSpPr>
          <p:cNvPr id="5" name="slide-16-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16-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GENERICLIST / CURRENT CONTRACT</a:t>
            </a:r>
            <a:endParaRPr lang="en-US" sz="1350" dirty="0"/>
          </a:p>
        </p:txBody>
      </p:sp>
      <p:sp>
        <p:nvSpPr>
          <p:cNvPr id="7" name="slide-16-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interface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ListProps&lt;T&gt; {</a:t>
            </a:r>
            <a:endParaRPr lang="en-US" sz="1575" dirty="0"/>
          </a:p>
        </p:txBody>
      </p:sp>
      <p:sp>
        <p:nvSpPr>
          <p:cNvPr id="8" name="slide-16-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items: T[];</a:t>
            </a:r>
            <a:endParaRPr lang="en-US" sz="1575" dirty="0"/>
          </a:p>
        </p:txBody>
      </p:sp>
      <p:sp>
        <p:nvSpPr>
          <p:cNvPr id="9" name="slide-16-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renderItem:</a:t>
            </a:r>
            <a:endParaRPr lang="en-US" sz="1575" dirty="0"/>
          </a:p>
        </p:txBody>
      </p:sp>
      <p:sp>
        <p:nvSpPr>
          <p:cNvPr id="10" name="slide-16-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(item: T, index: number) =&gt; React.ReactNode;</a:t>
            </a:r>
            <a:endParaRPr lang="en-US" sz="1575" dirty="0"/>
          </a:p>
        </p:txBody>
      </p:sp>
      <p:sp>
        <p:nvSpPr>
          <p:cNvPr id="11" name="slide-16-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keyExtractor: (item: T) =&gt; string | number;</a:t>
            </a:r>
            <a:endParaRPr lang="en-US" sz="1575" dirty="0"/>
          </a:p>
        </p:txBody>
      </p:sp>
      <p:sp>
        <p:nvSpPr>
          <p:cNvPr id="12" name="slide-16-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emptyMessage?: string;</a:t>
            </a:r>
            <a:endParaRPr lang="en-US" sz="1575" dirty="0"/>
          </a:p>
        </p:txBody>
      </p:sp>
      <p:sp>
        <p:nvSpPr>
          <p:cNvPr id="13" name="slide-16-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16-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5" name="slide-16-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B4C9BC"/>
                </a:solidFill>
                <a:latin typeface="Consolas" pitchFamily="34" charset="0"/>
                <a:ea typeface="Consolas" pitchFamily="34" charset="-122"/>
                <a:cs typeface="Consolas" pitchFamily="34" charset="-120"/>
              </a:rPr>
              <a:t>// The same T flows through all three props.</a:t>
            </a:r>
            <a:endParaRPr lang="en-US" sz="1575" dirty="0"/>
          </a:p>
        </p:txBody>
      </p:sp>
      <p:sp>
        <p:nvSpPr>
          <p:cNvPr id="16" name="slide-16-text-14"/>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ITEMS</a:t>
            </a:r>
            <a:endParaRPr lang="en-US" sz="1350" dirty="0"/>
          </a:p>
        </p:txBody>
      </p:sp>
      <p:sp>
        <p:nvSpPr>
          <p:cNvPr id="17" name="slide-16-text-15"/>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Infer T from</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supplied data.</a:t>
            </a:r>
            <a:endParaRPr lang="en-US" sz="1950" dirty="0"/>
          </a:p>
        </p:txBody>
      </p:sp>
      <p:sp>
        <p:nvSpPr>
          <p:cNvPr id="18" name="slide-16-text-16"/>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IDENTITY</a:t>
            </a:r>
            <a:endParaRPr lang="en-US" sz="1350" dirty="0"/>
          </a:p>
        </p:txBody>
      </p:sp>
      <p:sp>
        <p:nvSpPr>
          <p:cNvPr id="19" name="slide-16-text-17"/>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keyExtractor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provides the key.</a:t>
            </a:r>
            <a:endParaRPr lang="en-US" sz="1950" dirty="0"/>
          </a:p>
        </p:txBody>
      </p:sp>
      <p:sp>
        <p:nvSpPr>
          <p:cNvPr id="20" name="slide-16-text-18"/>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PRESENTATION</a:t>
            </a:r>
            <a:endParaRPr lang="en-US" sz="1350" dirty="0"/>
          </a:p>
        </p:txBody>
      </p:sp>
      <p:sp>
        <p:nvSpPr>
          <p:cNvPr id="21" name="slide-16-text-19"/>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renderItem</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returns the UI.</a:t>
            </a:r>
            <a:endParaRPr lang="en-US" sz="1950" dirty="0"/>
          </a:p>
        </p:txBody>
      </p:sp>
      <p:sp>
        <p:nvSpPr>
          <p:cNvPr id="22" name="slide-16-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GenericList | PropsDemo.tsx:52</a:t>
            </a:r>
            <a:endParaRPr lang="en-US" sz="1275" dirty="0"/>
          </a:p>
        </p:txBody>
      </p:sp>
      <p:sp>
        <p:nvSpPr>
          <p:cNvPr id="23" name="slide-16-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2. Props / GenericList</a:t>
            </a:r>
            <a:endParaRPr lang="en-US" sz="1275" dirty="0"/>
          </a:p>
        </p:txBody>
      </p:sp>
      <p:sp>
        <p:nvSpPr>
          <p:cNvPr id="24" name="slide-16-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16 / 65</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A"/>
        </a:solidFill>
      </p:bgPr>
    </p:bg>
    <p:spTree>
      <p:nvGrpSpPr>
        <p:cNvPr id="1" name=""/>
        <p:cNvGrpSpPr/>
        <p:nvPr/>
      </p:nvGrpSpPr>
      <p:grpSpPr>
        <a:xfrm>
          <a:off x="0" y="0"/>
          <a:ext cx="0" cy="0"/>
          <a:chOff x="0" y="0"/>
          <a:chExt cx="0" cy="0"/>
        </a:xfrm>
      </p:grpSpPr>
      <p:sp>
        <p:nvSpPr>
          <p:cNvPr id="2" name="slide-17-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7-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Props, state or a derived value?</a:t>
            </a:r>
            <a:endParaRPr lang="en-US" sz="3600" dirty="0"/>
          </a:p>
        </p:txBody>
      </p:sp>
      <p:sp>
        <p:nvSpPr>
          <p:cNvPr id="4" name="slide-17-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Keep the smallest useful source of truth.</a:t>
            </a:r>
            <a:endParaRPr lang="en-US" sz="1875" dirty="0"/>
          </a:p>
        </p:txBody>
      </p:sp>
      <p:sp>
        <p:nvSpPr>
          <p:cNvPr id="5" name="slide-17-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17-text-4"/>
          <p:cNvSpPr/>
          <p:nvPr/>
        </p:nvSpPr>
        <p:spPr>
          <a:xfrm>
            <a:off x="781050" y="2333625"/>
            <a:ext cx="222885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Kind</a:t>
            </a:r>
            <a:endParaRPr lang="en-US" sz="1800" dirty="0"/>
          </a:p>
        </p:txBody>
      </p:sp>
      <p:sp>
        <p:nvSpPr>
          <p:cNvPr id="7" name="slide-17-text-5"/>
          <p:cNvSpPr/>
          <p:nvPr/>
        </p:nvSpPr>
        <p:spPr>
          <a:xfrm>
            <a:off x="3352800" y="2333625"/>
            <a:ext cx="41814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Actual app example</a:t>
            </a:r>
            <a:endParaRPr lang="en-US" sz="1800" dirty="0"/>
          </a:p>
        </p:txBody>
      </p:sp>
      <p:sp>
        <p:nvSpPr>
          <p:cNvPr id="8" name="slide-17-text-6"/>
          <p:cNvSpPr/>
          <p:nvPr/>
        </p:nvSpPr>
        <p:spPr>
          <a:xfrm>
            <a:off x="7877175" y="2333625"/>
            <a:ext cx="35337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How it changes</a:t>
            </a:r>
            <a:endParaRPr lang="en-US" sz="1800" dirty="0"/>
          </a:p>
        </p:txBody>
      </p:sp>
      <p:sp>
        <p:nvSpPr>
          <p:cNvPr id="9" name="slide-17-rect-7"/>
          <p:cNvSpPr/>
          <p:nvPr/>
        </p:nvSpPr>
        <p:spPr>
          <a:xfrm>
            <a:off x="609600" y="2724150"/>
            <a:ext cx="10972800" cy="876300"/>
          </a:xfrm>
          <a:prstGeom prst="rect">
            <a:avLst/>
          </a:prstGeom>
          <a:solidFill>
            <a:srgbClr val="FFFFFF"/>
          </a:solidFill>
          <a:ln w="12700">
            <a:solidFill>
              <a:srgbClr val="FFFFFF">
                <a:alpha val="0"/>
              </a:srgbClr>
            </a:solidFill>
            <a:prstDash val="solid"/>
          </a:ln>
        </p:spPr>
      </p:sp>
      <p:sp>
        <p:nvSpPr>
          <p:cNvPr id="10" name="slide-17-text-8"/>
          <p:cNvSpPr/>
          <p:nvPr/>
        </p:nvSpPr>
        <p:spPr>
          <a:xfrm>
            <a:off x="781050" y="2819400"/>
            <a:ext cx="2228850" cy="704850"/>
          </a:xfrm>
          <a:prstGeom prst="rect">
            <a:avLst/>
          </a:prstGeom>
          <a:noFill/>
          <a:ln/>
        </p:spPr>
        <p:txBody>
          <a:bodyPr wrap="square" lIns="0" tIns="0" rIns="0" bIns="0" rtlCol="0" anchor="ctr"/>
          <a:lstStyle/>
          <a:p>
            <a:pPr algn="l" indent="0" marL="0">
              <a:lnSpc>
                <a:spcPts val="2194"/>
              </a:lnSpc>
              <a:buNone/>
            </a:pPr>
            <a:r>
              <a:rPr lang="en-US" sz="1875" b="1" dirty="0">
                <a:solidFill>
                  <a:srgbClr val="183B34"/>
                </a:solidFill>
                <a:latin typeface="Calibri" pitchFamily="34" charset="0"/>
                <a:ea typeface="Calibri" pitchFamily="34" charset="-122"/>
                <a:cs typeface="Calibri" pitchFamily="34" charset="-120"/>
              </a:rPr>
              <a:t>Props</a:t>
            </a:r>
            <a:endParaRPr lang="en-US" sz="1875" dirty="0"/>
          </a:p>
        </p:txBody>
      </p:sp>
      <p:sp>
        <p:nvSpPr>
          <p:cNvPr id="11" name="slide-17-text-9"/>
          <p:cNvSpPr/>
          <p:nvPr/>
        </p:nvSpPr>
        <p:spPr>
          <a:xfrm>
            <a:off x="3352800" y="2819400"/>
            <a:ext cx="4181475" cy="704850"/>
          </a:xfrm>
          <a:prstGeom prst="rect">
            <a:avLst/>
          </a:prstGeom>
          <a:noFill/>
          <a:ln/>
        </p:spPr>
        <p:txBody>
          <a:bodyPr wrap="square" lIns="0" tIns="0" rIns="0" bIns="0" rtlCol="0" anchor="ctr"/>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Greeting's name and age</a:t>
            </a:r>
            <a:endParaRPr lang="en-US" sz="1875" dirty="0"/>
          </a:p>
        </p:txBody>
      </p:sp>
      <p:sp>
        <p:nvSpPr>
          <p:cNvPr id="12" name="slide-17-text-10"/>
          <p:cNvSpPr/>
          <p:nvPr/>
        </p:nvSpPr>
        <p:spPr>
          <a:xfrm>
            <a:off x="7877175" y="2819400"/>
            <a:ext cx="3533775" cy="704850"/>
          </a:xfrm>
          <a:prstGeom prst="rect">
            <a:avLst/>
          </a:prstGeom>
          <a:noFill/>
          <a:ln/>
        </p:spPr>
        <p:txBody>
          <a:bodyPr wrap="square" lIns="0" tIns="0" rIns="0" bIns="0" rtlCol="0" anchor="ctr"/>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caller supplies them</a:t>
            </a:r>
            <a:endParaRPr lang="en-US" sz="1875" dirty="0"/>
          </a:p>
        </p:txBody>
      </p:sp>
      <p:sp>
        <p:nvSpPr>
          <p:cNvPr id="13" name="slide-17-rect-11"/>
          <p:cNvSpPr/>
          <p:nvPr/>
        </p:nvSpPr>
        <p:spPr>
          <a:xfrm>
            <a:off x="609600" y="3619500"/>
            <a:ext cx="10972800" cy="876300"/>
          </a:xfrm>
          <a:prstGeom prst="rect">
            <a:avLst/>
          </a:prstGeom>
          <a:solidFill>
            <a:srgbClr val="F6F3EA"/>
          </a:solidFill>
          <a:ln w="12700">
            <a:solidFill>
              <a:srgbClr val="F6F3EA">
                <a:alpha val="0"/>
              </a:srgbClr>
            </a:solidFill>
            <a:prstDash val="solid"/>
          </a:ln>
        </p:spPr>
      </p:sp>
      <p:sp>
        <p:nvSpPr>
          <p:cNvPr id="14" name="slide-17-text-12"/>
          <p:cNvSpPr/>
          <p:nvPr/>
        </p:nvSpPr>
        <p:spPr>
          <a:xfrm>
            <a:off x="781050" y="3714750"/>
            <a:ext cx="2228850" cy="704850"/>
          </a:xfrm>
          <a:prstGeom prst="rect">
            <a:avLst/>
          </a:prstGeom>
          <a:noFill/>
          <a:ln/>
        </p:spPr>
        <p:txBody>
          <a:bodyPr wrap="square" lIns="0" tIns="0" rIns="0" bIns="0" rtlCol="0" anchor="ctr"/>
          <a:lstStyle/>
          <a:p>
            <a:pPr algn="l" indent="0" marL="0">
              <a:lnSpc>
                <a:spcPts val="2194"/>
              </a:lnSpc>
              <a:buNone/>
            </a:pPr>
            <a:r>
              <a:rPr lang="en-US" sz="1875" b="1" dirty="0">
                <a:solidFill>
                  <a:srgbClr val="183B34"/>
                </a:solidFill>
                <a:latin typeface="Calibri" pitchFamily="34" charset="0"/>
                <a:ea typeface="Calibri" pitchFamily="34" charset="-122"/>
                <a:cs typeface="Calibri" pitchFamily="34" charset="-120"/>
              </a:rPr>
              <a:t>State</a:t>
            </a:r>
            <a:endParaRPr lang="en-US" sz="1875" dirty="0"/>
          </a:p>
        </p:txBody>
      </p:sp>
      <p:sp>
        <p:nvSpPr>
          <p:cNvPr id="15" name="slide-17-text-13"/>
          <p:cNvSpPr/>
          <p:nvPr/>
        </p:nvSpPr>
        <p:spPr>
          <a:xfrm>
            <a:off x="3352800" y="3714750"/>
            <a:ext cx="4181475" cy="704850"/>
          </a:xfrm>
          <a:prstGeom prst="rect">
            <a:avLst/>
          </a:prstGeom>
          <a:noFill/>
          <a:ln/>
        </p:spPr>
        <p:txBody>
          <a:bodyPr wrap="square" lIns="0" tIns="0" rIns="0" bIns="0" rtlCol="0" anchor="ctr"/>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Product searchTerm / sortBy</a:t>
            </a:r>
            <a:endParaRPr lang="en-US" sz="1875" dirty="0"/>
          </a:p>
        </p:txBody>
      </p:sp>
      <p:sp>
        <p:nvSpPr>
          <p:cNvPr id="16" name="slide-17-text-14"/>
          <p:cNvSpPr/>
          <p:nvPr/>
        </p:nvSpPr>
        <p:spPr>
          <a:xfrm>
            <a:off x="7877175" y="3714750"/>
            <a:ext cx="3533775" cy="704850"/>
          </a:xfrm>
          <a:prstGeom prst="rect">
            <a:avLst/>
          </a:prstGeom>
          <a:noFill/>
          <a:ln/>
        </p:spPr>
        <p:txBody>
          <a:bodyPr wrap="square" lIns="0" tIns="0" rIns="0" bIns="0" rtlCol="0" anchor="ctr"/>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Input handlers use setters</a:t>
            </a:r>
            <a:endParaRPr lang="en-US" sz="1875" dirty="0"/>
          </a:p>
        </p:txBody>
      </p:sp>
      <p:sp>
        <p:nvSpPr>
          <p:cNvPr id="17" name="slide-17-rect-15"/>
          <p:cNvSpPr/>
          <p:nvPr/>
        </p:nvSpPr>
        <p:spPr>
          <a:xfrm>
            <a:off x="609600" y="4514850"/>
            <a:ext cx="10972800" cy="876300"/>
          </a:xfrm>
          <a:prstGeom prst="rect">
            <a:avLst/>
          </a:prstGeom>
          <a:solidFill>
            <a:srgbClr val="FFFFFF"/>
          </a:solidFill>
          <a:ln w="12700">
            <a:solidFill>
              <a:srgbClr val="FFFFFF">
                <a:alpha val="0"/>
              </a:srgbClr>
            </a:solidFill>
            <a:prstDash val="solid"/>
          </a:ln>
        </p:spPr>
      </p:sp>
      <p:sp>
        <p:nvSpPr>
          <p:cNvPr id="18" name="slide-17-text-16"/>
          <p:cNvSpPr/>
          <p:nvPr/>
        </p:nvSpPr>
        <p:spPr>
          <a:xfrm>
            <a:off x="781050" y="4610100"/>
            <a:ext cx="2228850" cy="704850"/>
          </a:xfrm>
          <a:prstGeom prst="rect">
            <a:avLst/>
          </a:prstGeom>
          <a:noFill/>
          <a:ln/>
        </p:spPr>
        <p:txBody>
          <a:bodyPr wrap="square" lIns="0" tIns="0" rIns="0" bIns="0" rtlCol="0" anchor="ctr"/>
          <a:lstStyle/>
          <a:p>
            <a:pPr algn="l" indent="0" marL="0">
              <a:lnSpc>
                <a:spcPts val="2194"/>
              </a:lnSpc>
              <a:buNone/>
            </a:pPr>
            <a:r>
              <a:rPr lang="en-US" sz="1875" b="1" dirty="0">
                <a:solidFill>
                  <a:srgbClr val="183B34"/>
                </a:solidFill>
                <a:latin typeface="Calibri" pitchFamily="34" charset="0"/>
                <a:ea typeface="Calibri" pitchFamily="34" charset="-122"/>
                <a:cs typeface="Calibri" pitchFamily="34" charset="-120"/>
              </a:rPr>
              <a:t>Derived value</a:t>
            </a:r>
            <a:endParaRPr lang="en-US" sz="1875" dirty="0"/>
          </a:p>
        </p:txBody>
      </p:sp>
      <p:sp>
        <p:nvSpPr>
          <p:cNvPr id="19" name="slide-17-text-17"/>
          <p:cNvSpPr/>
          <p:nvPr/>
        </p:nvSpPr>
        <p:spPr>
          <a:xfrm>
            <a:off x="3352800" y="4610100"/>
            <a:ext cx="4181475" cy="704850"/>
          </a:xfrm>
          <a:prstGeom prst="rect">
            <a:avLst/>
          </a:prstGeom>
          <a:noFill/>
          <a:ln/>
        </p:spPr>
        <p:txBody>
          <a:bodyPr wrap="square" lIns="0" tIns="0" rIns="0" bIns="0" rtlCol="0" anchor="ctr"/>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filteredProducts / stats</a:t>
            </a:r>
            <a:endParaRPr lang="en-US" sz="1875" dirty="0"/>
          </a:p>
        </p:txBody>
      </p:sp>
      <p:sp>
        <p:nvSpPr>
          <p:cNvPr id="20" name="slide-17-text-18"/>
          <p:cNvSpPr/>
          <p:nvPr/>
        </p:nvSpPr>
        <p:spPr>
          <a:xfrm>
            <a:off x="7877175" y="4610100"/>
            <a:ext cx="3533775" cy="704850"/>
          </a:xfrm>
          <a:prstGeom prst="rect">
            <a:avLst/>
          </a:prstGeom>
          <a:noFill/>
          <a:ln/>
        </p:spPr>
        <p:txBody>
          <a:bodyPr wrap="square" lIns="0" tIns="0" rIns="0" bIns="0" rtlCol="0" anchor="ctr"/>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Recalculate from inputs</a:t>
            </a:r>
            <a:endParaRPr lang="en-US" sz="1875" dirty="0"/>
          </a:p>
        </p:txBody>
      </p:sp>
      <p:sp>
        <p:nvSpPr>
          <p:cNvPr id="21" name="slide-17-rect-1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2" name="slide-17-text-2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useMemo caches a calculation; it does not create another authoritative state store.</a:t>
            </a:r>
            <a:endParaRPr lang="en-US" sz="1875" dirty="0"/>
          </a:p>
        </p:txBody>
      </p:sp>
      <p:sp>
        <p:nvSpPr>
          <p:cNvPr id="23" name="slide-17-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filteredProducts | UseMemoDemo.tsx:56</a:t>
            </a:r>
            <a:endParaRPr lang="en-US" sz="1275" dirty="0"/>
          </a:p>
        </p:txBody>
      </p:sp>
      <p:sp>
        <p:nvSpPr>
          <p:cNvPr id="24" name="slide-17-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9. useMemo / Product filters</a:t>
            </a:r>
            <a:endParaRPr lang="en-US" sz="1275" dirty="0"/>
          </a:p>
        </p:txBody>
      </p:sp>
      <p:sp>
        <p:nvSpPr>
          <p:cNvPr id="25" name="slide-17-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17 / 65</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A"/>
        </a:solidFill>
      </p:bgPr>
    </p:bg>
    <p:spTree>
      <p:nvGrpSpPr>
        <p:cNvPr id="1" name=""/>
        <p:cNvGrpSpPr/>
        <p:nvPr/>
      </p:nvGrpSpPr>
      <p:grpSpPr>
        <a:xfrm>
          <a:off x="0" y="0"/>
          <a:ext cx="0" cy="0"/>
          <a:chOff x="0" y="0"/>
          <a:chExt cx="0" cy="0"/>
        </a:xfrm>
      </p:grpSpPr>
      <p:sp>
        <p:nvSpPr>
          <p:cNvPr id="2" name="slide-18-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8-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useState connects memory to rendering</a:t>
            </a:r>
            <a:endParaRPr lang="en-US" sz="3600" dirty="0"/>
          </a:p>
        </p:txBody>
      </p:sp>
      <p:sp>
        <p:nvSpPr>
          <p:cNvPr id="4" name="slide-18-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setter queues a new render; it does not rewrite this render's variable.</a:t>
            </a:r>
            <a:endParaRPr lang="en-US" sz="1875" dirty="0"/>
          </a:p>
        </p:txBody>
      </p:sp>
      <p:sp>
        <p:nvSpPr>
          <p:cNvPr id="5" name="slide-18-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18-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COUNTER / CURRENT STATE AND HANDLERS</a:t>
            </a:r>
            <a:endParaRPr lang="en-US" sz="1350" dirty="0"/>
          </a:p>
        </p:txBody>
      </p:sp>
      <p:sp>
        <p:nvSpPr>
          <p:cNvPr id="7" name="slide-18-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[count, setCount] = useState&lt;number&gt;(</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8" name="slide-18-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[step, setStep] = useState&lt;number&gt;(</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9" name="slide-18-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18-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B4C9BC"/>
                </a:solidFill>
                <a:latin typeface="Consolas" pitchFamily="34" charset="0"/>
                <a:ea typeface="Consolas" pitchFamily="34" charset="-122"/>
                <a:cs typeface="Consolas" pitchFamily="34" charset="-120"/>
              </a:rPr>
              <a:t>// The three button handlers:</a:t>
            </a:r>
            <a:endParaRPr lang="en-US" sz="1575" dirty="0"/>
          </a:p>
        </p:txBody>
      </p:sp>
      <p:sp>
        <p:nvSpPr>
          <p:cNvPr id="11" name="slide-18-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 setCount(prev =&gt; prev - step)</a:t>
            </a:r>
            <a:endParaRPr lang="en-US" sz="1575" dirty="0"/>
          </a:p>
        </p:txBody>
      </p:sp>
      <p:sp>
        <p:nvSpPr>
          <p:cNvPr id="12" name="slide-18-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 setCount(</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18-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 setCount(prev =&gt; prev + step)</a:t>
            </a:r>
            <a:endParaRPr lang="en-US" sz="1575" dirty="0"/>
          </a:p>
        </p:txBody>
      </p:sp>
      <p:sp>
        <p:nvSpPr>
          <p:cNvPr id="14" name="slide-18-text-12"/>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TUPLE</a:t>
            </a:r>
            <a:endParaRPr lang="en-US" sz="1350" dirty="0"/>
          </a:p>
        </p:txBody>
      </p:sp>
      <p:sp>
        <p:nvSpPr>
          <p:cNvPr id="15" name="slide-18-text-13"/>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Current value +</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setter function.</a:t>
            </a:r>
            <a:endParaRPr lang="en-US" sz="1950" dirty="0"/>
          </a:p>
        </p:txBody>
      </p:sp>
      <p:sp>
        <p:nvSpPr>
          <p:cNvPr id="16" name="slide-18-text-14"/>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INDEPENDENT</a:t>
            </a:r>
            <a:endParaRPr lang="en-US" sz="1350" dirty="0"/>
          </a:p>
        </p:txBody>
      </p:sp>
      <p:sp>
        <p:nvSpPr>
          <p:cNvPr id="17" name="slide-18-text-15"/>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count and step</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are both state.</a:t>
            </a:r>
            <a:endParaRPr lang="en-US" sz="1950" dirty="0"/>
          </a:p>
        </p:txBody>
      </p:sp>
      <p:sp>
        <p:nvSpPr>
          <p:cNvPr id="18" name="slide-18-text-16"/>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UPDATER</a:t>
            </a:r>
            <a:endParaRPr lang="en-US" sz="1350" dirty="0"/>
          </a:p>
        </p:txBody>
      </p:sp>
      <p:sp>
        <p:nvSpPr>
          <p:cNvPr id="19" name="slide-18-text-17"/>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Compute from the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pending value.</a:t>
            </a:r>
            <a:endParaRPr lang="en-US" sz="1950" dirty="0"/>
          </a:p>
        </p:txBody>
      </p:sp>
      <p:sp>
        <p:nvSpPr>
          <p:cNvPr id="20" name="slide-18-text-18">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Counter | StateDemo.tsx:17</a:t>
            </a:r>
            <a:endParaRPr lang="en-US" sz="1275" dirty="0"/>
          </a:p>
        </p:txBody>
      </p:sp>
      <p:sp>
        <p:nvSpPr>
          <p:cNvPr id="21" name="slide-18-text-19">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Counter</a:t>
            </a:r>
            <a:endParaRPr lang="en-US" sz="1275" dirty="0"/>
          </a:p>
        </p:txBody>
      </p:sp>
      <p:sp>
        <p:nvSpPr>
          <p:cNvPr id="22" name="slide-18-text-20"/>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18 / 65</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A"/>
        </a:solidFill>
      </p:bgPr>
    </p:bg>
    <p:spTree>
      <p:nvGrpSpPr>
        <p:cNvPr id="1" name=""/>
        <p:cNvGrpSpPr/>
        <p:nvPr/>
      </p:nvGrpSpPr>
      <p:grpSpPr>
        <a:xfrm>
          <a:off x="0" y="0"/>
          <a:ext cx="0" cy="0"/>
          <a:chOff x="0" y="0"/>
          <a:chExt cx="0" cy="0"/>
        </a:xfrm>
      </p:grpSpPr>
      <p:sp>
        <p:nvSpPr>
          <p:cNvPr id="2" name="slide-19-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19-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Predict: three updates, which result?</a:t>
            </a:r>
            <a:endParaRPr lang="en-US" sz="3600" dirty="0"/>
          </a:p>
        </p:txBody>
      </p:sp>
      <p:sp>
        <p:nvSpPr>
          <p:cNvPr id="4" name="slide-19-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Thought experiment: two alternative handlers, each starting at count = 0.</a:t>
            </a:r>
            <a:endParaRPr lang="en-US" sz="1875" dirty="0"/>
          </a:p>
        </p:txBody>
      </p:sp>
      <p:sp>
        <p:nvSpPr>
          <p:cNvPr id="5" name="slide-19-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19-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a:t>
            </a:r>
            <a:endParaRPr lang="en-US" sz="5700" dirty="0"/>
          </a:p>
        </p:txBody>
      </p:sp>
      <p:sp>
        <p:nvSpPr>
          <p:cNvPr id="7" name="slide-19-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DISCUSS</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EXPLAIN</a:t>
            </a:r>
            <a:endParaRPr lang="en-US" sz="1725" dirty="0"/>
          </a:p>
        </p:txBody>
      </p:sp>
      <p:sp>
        <p:nvSpPr>
          <p:cNvPr id="8" name="slide-19-rect-6"/>
          <p:cNvSpPr/>
          <p:nvPr/>
        </p:nvSpPr>
        <p:spPr>
          <a:xfrm>
            <a:off x="2457450" y="2190750"/>
            <a:ext cx="5410200" cy="3048000"/>
          </a:xfrm>
          <a:prstGeom prst="roundRect">
            <a:avLst>
              <a:gd name="adj" fmla="val 3125"/>
            </a:avLst>
          </a:prstGeom>
          <a:solidFill>
            <a:srgbClr val="152B2A"/>
          </a:solidFill>
          <a:ln w="12700">
            <a:solidFill>
              <a:srgbClr val="152B2A">
                <a:alpha val="0"/>
              </a:srgbClr>
            </a:solidFill>
            <a:prstDash val="solid"/>
          </a:ln>
        </p:spPr>
      </p:sp>
      <p:sp>
        <p:nvSpPr>
          <p:cNvPr id="9" name="slide-19-text-7"/>
          <p:cNvSpPr/>
          <p:nvPr/>
        </p:nvSpPr>
        <p:spPr>
          <a:xfrm>
            <a:off x="2686050" y="2381250"/>
            <a:ext cx="49530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COMPARISON / NOT THE LIVE HANDLERS</a:t>
            </a:r>
            <a:endParaRPr lang="en-US" sz="1350" dirty="0"/>
          </a:p>
        </p:txBody>
      </p:sp>
      <p:sp>
        <p:nvSpPr>
          <p:cNvPr id="10" name="slide-19-text-8"/>
          <p:cNvSpPr/>
          <p:nvPr/>
        </p:nvSpPr>
        <p:spPr>
          <a:xfrm>
            <a:off x="2686050" y="276225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B4C9BC"/>
                </a:solidFill>
                <a:latin typeface="Consolas" pitchFamily="34" charset="0"/>
                <a:ea typeface="Consolas" pitchFamily="34" charset="-122"/>
                <a:cs typeface="Consolas" pitchFamily="34" charset="-120"/>
              </a:rPr>
              <a:t>// A</a:t>
            </a:r>
            <a:endParaRPr lang="en-US" sz="1575" dirty="0"/>
          </a:p>
        </p:txBody>
      </p:sp>
      <p:sp>
        <p:nvSpPr>
          <p:cNvPr id="11" name="slide-19-text-9"/>
          <p:cNvSpPr/>
          <p:nvPr/>
        </p:nvSpPr>
        <p:spPr>
          <a:xfrm>
            <a:off x="2686050" y="3022283"/>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setCount(count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19-text-10"/>
          <p:cNvSpPr/>
          <p:nvPr/>
        </p:nvSpPr>
        <p:spPr>
          <a:xfrm>
            <a:off x="2686050" y="328231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setCount(count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19-text-11"/>
          <p:cNvSpPr/>
          <p:nvPr/>
        </p:nvSpPr>
        <p:spPr>
          <a:xfrm>
            <a:off x="2686050" y="3542347"/>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setCount(count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19-text-12"/>
          <p:cNvSpPr/>
          <p:nvPr/>
        </p:nvSpPr>
        <p:spPr>
          <a:xfrm>
            <a:off x="2686050" y="380238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B4C9BC"/>
                </a:solidFill>
                <a:latin typeface="Consolas" pitchFamily="34" charset="0"/>
                <a:ea typeface="Consolas" pitchFamily="34" charset="-122"/>
                <a:cs typeface="Consolas" pitchFamily="34" charset="-120"/>
              </a:rPr>
              <a:t>// B</a:t>
            </a:r>
            <a:endParaRPr lang="en-US" sz="1575" dirty="0"/>
          </a:p>
        </p:txBody>
      </p:sp>
      <p:sp>
        <p:nvSpPr>
          <p:cNvPr id="15" name="slide-19-text-13"/>
          <p:cNvSpPr/>
          <p:nvPr/>
        </p:nvSpPr>
        <p:spPr>
          <a:xfrm>
            <a:off x="2686050" y="4062412"/>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setCount(c =&gt; c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6" name="slide-19-text-14"/>
          <p:cNvSpPr/>
          <p:nvPr/>
        </p:nvSpPr>
        <p:spPr>
          <a:xfrm>
            <a:off x="2686050" y="432244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setCount(c =&gt; c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7" name="slide-19-text-15"/>
          <p:cNvSpPr/>
          <p:nvPr/>
        </p:nvSpPr>
        <p:spPr>
          <a:xfrm>
            <a:off x="2686050" y="4582478"/>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setCount(c =&gt; c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8" name="slide-19-text-16"/>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9" name="slide-19-text-17"/>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Choose the result</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for A and B.</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Explain a snapshot</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versus queued updaters.</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Then inspect Counter.</a:t>
            </a:r>
            <a:endParaRPr lang="en-US" sz="2100" dirty="0"/>
          </a:p>
        </p:txBody>
      </p:sp>
      <p:sp>
        <p:nvSpPr>
          <p:cNvPr id="20" name="slide-19-rect-18"/>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1" name="slide-19-text-19"/>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Make a prediction, discuss with a neighbor, then explain your reasoning.</a:t>
            </a:r>
            <a:endParaRPr lang="en-US" sz="1875" dirty="0"/>
          </a:p>
        </p:txBody>
      </p:sp>
      <p:sp>
        <p:nvSpPr>
          <p:cNvPr id="22" name="slide-19-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Counter | StateDemo.tsx:17</a:t>
            </a:r>
            <a:endParaRPr lang="en-US" sz="1275" dirty="0"/>
          </a:p>
        </p:txBody>
      </p:sp>
      <p:sp>
        <p:nvSpPr>
          <p:cNvPr id="23" name="slide-19-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Counter</a:t>
            </a:r>
            <a:endParaRPr lang="en-US" sz="1275" dirty="0"/>
          </a:p>
        </p:txBody>
      </p:sp>
      <p:sp>
        <p:nvSpPr>
          <p:cNvPr id="24" name="slide-19-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19 / 65</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A"/>
        </a:solidFill>
      </p:bgPr>
    </p:bg>
    <p:spTree>
      <p:nvGrpSpPr>
        <p:cNvPr id="1" name=""/>
        <p:cNvGrpSpPr/>
        <p:nvPr/>
      </p:nvGrpSpPr>
      <p:grpSpPr>
        <a:xfrm>
          <a:off x="0" y="0"/>
          <a:ext cx="0" cy="0"/>
          <a:chOff x="0" y="0"/>
          <a:chExt cx="0" cy="0"/>
        </a:xfrm>
      </p:grpSpPr>
      <p:sp>
        <p:nvSpPr>
          <p:cNvPr id="2" name="slide-20-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0-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Replace objects; preserve old snapshots</a:t>
            </a:r>
            <a:endParaRPr lang="en-US" sz="3600" dirty="0"/>
          </a:p>
        </p:txBody>
      </p:sp>
      <p:sp>
        <p:nvSpPr>
          <p:cNvPr id="4" name="slide-20-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FormState already creates a new object when updating a field.</a:t>
            </a:r>
            <a:endParaRPr lang="en-US" sz="1875" dirty="0"/>
          </a:p>
        </p:txBody>
      </p:sp>
      <p:sp>
        <p:nvSpPr>
          <p:cNvPr id="5" name="slide-20-text-3"/>
          <p:cNvSpPr/>
          <p:nvPr/>
        </p:nvSpPr>
        <p:spPr>
          <a:xfrm>
            <a:off x="609600" y="2162175"/>
            <a:ext cx="53721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AVOID / HYPOTHETICAL MUTATION</a:t>
            </a:r>
            <a:endParaRPr lang="en-US" sz="1350" dirty="0"/>
          </a:p>
        </p:txBody>
      </p:sp>
      <p:sp>
        <p:nvSpPr>
          <p:cNvPr id="6" name="slide-20-rect-4"/>
          <p:cNvSpPr/>
          <p:nvPr/>
        </p:nvSpPr>
        <p:spPr>
          <a:xfrm>
            <a:off x="609600" y="2543175"/>
            <a:ext cx="5372100" cy="2095500"/>
          </a:xfrm>
          <a:prstGeom prst="roundRect">
            <a:avLst>
              <a:gd name="adj" fmla="val 4545"/>
            </a:avLst>
          </a:prstGeom>
          <a:solidFill>
            <a:srgbClr val="152B2A"/>
          </a:solidFill>
          <a:ln w="12700">
            <a:solidFill>
              <a:srgbClr val="152B2A">
                <a:alpha val="0"/>
              </a:srgbClr>
            </a:solidFill>
            <a:prstDash val="solid"/>
          </a:ln>
        </p:spPr>
      </p:sp>
      <p:sp>
        <p:nvSpPr>
          <p:cNvPr id="7" name="slide-20-text-5"/>
          <p:cNvSpPr/>
          <p:nvPr/>
        </p:nvSpPr>
        <p:spPr>
          <a:xfrm>
            <a:off x="838200" y="27336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TSX</a:t>
            </a:r>
            <a:endParaRPr lang="en-US" sz="1350" dirty="0"/>
          </a:p>
        </p:txBody>
      </p:sp>
      <p:sp>
        <p:nvSpPr>
          <p:cNvPr id="8" name="slide-20-text-6"/>
          <p:cNvSpPr/>
          <p:nvPr/>
        </p:nvSpPr>
        <p:spPr>
          <a:xfrm>
            <a:off x="838200" y="311467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formData.age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18</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9" name="slide-20-text-7"/>
          <p:cNvSpPr/>
          <p:nvPr/>
        </p:nvSpPr>
        <p:spPr>
          <a:xfrm>
            <a:off x="838200" y="3374708"/>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setFormData(formData);</a:t>
            </a:r>
            <a:endParaRPr lang="en-US" sz="1575" dirty="0"/>
          </a:p>
        </p:txBody>
      </p:sp>
      <p:sp>
        <p:nvSpPr>
          <p:cNvPr id="10" name="slide-20-text-8"/>
          <p:cNvSpPr/>
          <p:nvPr/>
        </p:nvSpPr>
        <p:spPr>
          <a:xfrm>
            <a:off x="628650" y="4895850"/>
            <a:ext cx="5334000" cy="1104900"/>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Same reference; old snapshots are altered.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React can skip this state update.</a:t>
            </a:r>
            <a:endParaRPr lang="en-US" sz="1950" dirty="0"/>
          </a:p>
        </p:txBody>
      </p:sp>
      <p:sp>
        <p:nvSpPr>
          <p:cNvPr id="11" name="slide-20-text-9"/>
          <p:cNvSpPr/>
          <p:nvPr/>
        </p:nvSpPr>
        <p:spPr>
          <a:xfrm>
            <a:off x="6210300" y="2162175"/>
            <a:ext cx="5372100" cy="247650"/>
          </a:xfrm>
          <a:prstGeom prst="rect">
            <a:avLst/>
          </a:prstGeom>
          <a:noFill/>
          <a:ln/>
        </p:spPr>
        <p:txBody>
          <a:bodyPr wrap="square" lIns="0" tIns="0" rIns="0" bIns="0" rtlCol="0" anchor="t"/>
          <a:lstStyle/>
          <a:p>
            <a:pPr algn="l" indent="0" marL="0">
              <a:lnSpc>
                <a:spcPts val="1485"/>
              </a:lnSpc>
              <a:buNone/>
            </a:pPr>
            <a:r>
              <a:rPr lang="en-US" sz="1350" b="1" dirty="0">
                <a:solidFill>
                  <a:srgbClr val="123B35"/>
                </a:solidFill>
                <a:latin typeface="Calibri" pitchFamily="34" charset="0"/>
                <a:ea typeface="Calibri" pitchFamily="34" charset="-122"/>
                <a:cs typeface="Calibri" pitchFamily="34" charset="-120"/>
              </a:rPr>
              <a:t>CURRENT / NEW OBJECT</a:t>
            </a:r>
            <a:endParaRPr lang="en-US" sz="1350" dirty="0"/>
          </a:p>
        </p:txBody>
      </p:sp>
      <p:sp>
        <p:nvSpPr>
          <p:cNvPr id="12" name="slide-20-rect-10"/>
          <p:cNvSpPr/>
          <p:nvPr/>
        </p:nvSpPr>
        <p:spPr>
          <a:xfrm>
            <a:off x="6210300" y="2543175"/>
            <a:ext cx="5372100" cy="2095500"/>
          </a:xfrm>
          <a:prstGeom prst="roundRect">
            <a:avLst>
              <a:gd name="adj" fmla="val 4545"/>
            </a:avLst>
          </a:prstGeom>
          <a:solidFill>
            <a:srgbClr val="152B2A"/>
          </a:solidFill>
          <a:ln w="12700">
            <a:solidFill>
              <a:srgbClr val="152B2A">
                <a:alpha val="0"/>
              </a:srgbClr>
            </a:solidFill>
            <a:prstDash val="solid"/>
          </a:ln>
        </p:spPr>
      </p:sp>
      <p:sp>
        <p:nvSpPr>
          <p:cNvPr id="13" name="slide-20-text-11"/>
          <p:cNvSpPr/>
          <p:nvPr/>
        </p:nvSpPr>
        <p:spPr>
          <a:xfrm>
            <a:off x="6438900" y="27336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TSX</a:t>
            </a:r>
            <a:endParaRPr lang="en-US" sz="1350" dirty="0"/>
          </a:p>
        </p:txBody>
      </p:sp>
      <p:sp>
        <p:nvSpPr>
          <p:cNvPr id="14" name="slide-20-text-12"/>
          <p:cNvSpPr/>
          <p:nvPr/>
        </p:nvSpPr>
        <p:spPr>
          <a:xfrm>
            <a:off x="6438900" y="311467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setFormData(prev =&gt; ({</a:t>
            </a:r>
            <a:endParaRPr lang="en-US" sz="1575" dirty="0"/>
          </a:p>
        </p:txBody>
      </p:sp>
      <p:sp>
        <p:nvSpPr>
          <p:cNvPr id="15" name="slide-20-text-13"/>
          <p:cNvSpPr/>
          <p:nvPr/>
        </p:nvSpPr>
        <p:spPr>
          <a:xfrm>
            <a:off x="6438900" y="3374708"/>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...prev,</a:t>
            </a:r>
            <a:endParaRPr lang="en-US" sz="1575" dirty="0"/>
          </a:p>
        </p:txBody>
      </p:sp>
      <p:sp>
        <p:nvSpPr>
          <p:cNvPr id="16" name="slide-20-text-14"/>
          <p:cNvSpPr/>
          <p:nvPr/>
        </p:nvSpPr>
        <p:spPr>
          <a:xfrm>
            <a:off x="6438900" y="3634740"/>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[field]: value</a:t>
            </a:r>
            <a:endParaRPr lang="en-US" sz="1575" dirty="0"/>
          </a:p>
        </p:txBody>
      </p:sp>
      <p:sp>
        <p:nvSpPr>
          <p:cNvPr id="17" name="slide-20-text-15"/>
          <p:cNvSpPr/>
          <p:nvPr/>
        </p:nvSpPr>
        <p:spPr>
          <a:xfrm>
            <a:off x="6438900" y="3894772"/>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8" name="slide-20-text-16"/>
          <p:cNvSpPr/>
          <p:nvPr/>
        </p:nvSpPr>
        <p:spPr>
          <a:xfrm>
            <a:off x="6229350" y="4895850"/>
            <a:ext cx="5334000" cy="1104900"/>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Copy the fields, then replace one value.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prior object stays unchanged.</a:t>
            </a:r>
            <a:endParaRPr lang="en-US" sz="1950" dirty="0"/>
          </a:p>
        </p:txBody>
      </p:sp>
      <p:sp>
        <p:nvSpPr>
          <p:cNvPr id="19" name="slide-20-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updateField | StateDemo.tsx:99</a:t>
            </a:r>
            <a:endParaRPr lang="en-US" sz="1275" dirty="0"/>
          </a:p>
        </p:txBody>
      </p:sp>
      <p:sp>
        <p:nvSpPr>
          <p:cNvPr id="20" name="slide-20-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21" name="slide-20-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20 / 65</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A"/>
        </a:solidFill>
      </p:bgPr>
    </p:bg>
    <p:spTree>
      <p:nvGrpSpPr>
        <p:cNvPr id="1" name=""/>
        <p:cNvGrpSpPr/>
        <p:nvPr/>
      </p:nvGrpSpPr>
      <p:grpSpPr>
        <a:xfrm>
          <a:off x="0" y="0"/>
          <a:ext cx="0" cy="0"/>
          <a:chOff x="0" y="0"/>
          <a:chExt cx="0" cy="0"/>
        </a:xfrm>
      </p:grpSpPr>
      <p:sp>
        <p:nvSpPr>
          <p:cNvPr id="2" name="slide-2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1-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Use array operations that return new arrays</a:t>
            </a:r>
            <a:endParaRPr lang="en-US" sz="3600" dirty="0"/>
          </a:p>
        </p:txBody>
      </p:sp>
      <p:sp>
        <p:nvSpPr>
          <p:cNvPr id="4" name="slide-21-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ArrayState appends with spread and removes with filter.</a:t>
            </a:r>
            <a:endParaRPr lang="en-US" sz="1875" dirty="0"/>
          </a:p>
        </p:txBody>
      </p:sp>
      <p:sp>
        <p:nvSpPr>
          <p:cNvPr id="5" name="slide-21-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21-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ARRAYSTATE / CURRENT HANDLERS</a:t>
            </a:r>
            <a:endParaRPr lang="en-US" sz="1350" dirty="0"/>
          </a:p>
        </p:txBody>
      </p:sp>
      <p:sp>
        <p:nvSpPr>
          <p:cNvPr id="7" name="slide-21-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addItem = () =&gt; {</a:t>
            </a:r>
            <a:endParaRPr lang="en-US" sz="1575" dirty="0"/>
          </a:p>
        </p:txBody>
      </p:sp>
      <p:sp>
        <p:nvSpPr>
          <p:cNvPr id="8" name="slide-21-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(!newItem.trim())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9" name="slide-21-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setItems(prev =&gt; [...prev, newItem.trim()]);</a:t>
            </a:r>
            <a:endParaRPr lang="en-US" sz="1575" dirty="0"/>
          </a:p>
        </p:txBody>
      </p:sp>
      <p:sp>
        <p:nvSpPr>
          <p:cNvPr id="10" name="slide-21-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setNewItem(</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1" name="slide-21-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21-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21-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removeItem = (index: number) =&gt; {</a:t>
            </a:r>
            <a:endParaRPr lang="en-US" sz="1575" dirty="0"/>
          </a:p>
        </p:txBody>
      </p:sp>
      <p:sp>
        <p:nvSpPr>
          <p:cNvPr id="14" name="slide-21-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setItems(prev =&gt; prev.filter((_, i) =&gt; i !== index));</a:t>
            </a:r>
            <a:endParaRPr lang="en-US" sz="1575" dirty="0"/>
          </a:p>
        </p:txBody>
      </p:sp>
      <p:sp>
        <p:nvSpPr>
          <p:cNvPr id="15" name="slide-21-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6" name="slide-21-text-14"/>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ADD</a:t>
            </a:r>
            <a:endParaRPr lang="en-US" sz="1350" dirty="0"/>
          </a:p>
        </p:txBody>
      </p:sp>
      <p:sp>
        <p:nvSpPr>
          <p:cNvPr id="17" name="slide-21-text-15"/>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Copy and append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 trimmed string.</a:t>
            </a:r>
            <a:endParaRPr lang="en-US" sz="1950" dirty="0"/>
          </a:p>
        </p:txBody>
      </p:sp>
      <p:sp>
        <p:nvSpPr>
          <p:cNvPr id="18" name="slide-21-text-16"/>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REMOVE</a:t>
            </a:r>
            <a:endParaRPr lang="en-US" sz="1350" dirty="0"/>
          </a:p>
        </p:txBody>
      </p:sp>
      <p:sp>
        <p:nvSpPr>
          <p:cNvPr id="19" name="slide-21-text-17"/>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Keep all other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positions.</a:t>
            </a:r>
            <a:endParaRPr lang="en-US" sz="1950" dirty="0"/>
          </a:p>
        </p:txBody>
      </p:sp>
      <p:sp>
        <p:nvSpPr>
          <p:cNvPr id="20" name="slide-21-text-18"/>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FEEDBACK</a:t>
            </a:r>
            <a:endParaRPr lang="en-US" sz="1350" dirty="0"/>
          </a:p>
        </p:txBody>
      </p:sp>
      <p:sp>
        <p:nvSpPr>
          <p:cNvPr id="21" name="slide-21-text-19"/>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Clear the draft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after adding.</a:t>
            </a:r>
            <a:endParaRPr lang="en-US" sz="1950" dirty="0"/>
          </a:p>
        </p:txBody>
      </p:sp>
      <p:sp>
        <p:nvSpPr>
          <p:cNvPr id="22" name="slide-21-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ArrayState | StateDemo.tsx:49</a:t>
            </a:r>
            <a:endParaRPr lang="en-US" sz="1275" dirty="0"/>
          </a:p>
        </p:txBody>
      </p:sp>
      <p:sp>
        <p:nvSpPr>
          <p:cNvPr id="23" name="slide-21-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Array state</a:t>
            </a:r>
            <a:endParaRPr lang="en-US" sz="1275" dirty="0"/>
          </a:p>
        </p:txBody>
      </p:sp>
      <p:sp>
        <p:nvSpPr>
          <p:cNvPr id="24" name="slide-21-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21 / 65</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A"/>
        </a:solidFill>
      </p:bgPr>
    </p:bg>
    <p:spTree>
      <p:nvGrpSpPr>
        <p:cNvPr id="1" name=""/>
        <p:cNvGrpSpPr/>
        <p:nvPr/>
      </p:nvGrpSpPr>
      <p:grpSpPr>
        <a:xfrm>
          <a:off x="0" y="0"/>
          <a:ext cx="0" cy="0"/>
          <a:chOff x="0" y="0"/>
          <a:chExt cx="0" cy="0"/>
        </a:xfrm>
      </p:grpSpPr>
      <p:sp>
        <p:nvSpPr>
          <p:cNvPr id="2" name="slide-2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Three tools for typed object updates</a:t>
            </a:r>
            <a:endParaRPr lang="en-US" sz="3600" dirty="0"/>
          </a:p>
        </p:txBody>
      </p:sp>
      <p:sp>
        <p:nvSpPr>
          <p:cNvPr id="4" name="slide-2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FormState combines runtime copying with compile-time type operations.</a:t>
            </a:r>
            <a:endParaRPr lang="en-US" sz="1875" dirty="0"/>
          </a:p>
        </p:txBody>
      </p:sp>
      <p:sp>
        <p:nvSpPr>
          <p:cNvPr id="5" name="slide-22-rect-3"/>
          <p:cNvSpPr/>
          <p:nvPr/>
        </p:nvSpPr>
        <p:spPr>
          <a:xfrm>
            <a:off x="609600" y="2228850"/>
            <a:ext cx="3479800" cy="3067050"/>
          </a:xfrm>
          <a:prstGeom prst="roundRect">
            <a:avLst>
              <a:gd name="adj" fmla="val 3106"/>
            </a:avLst>
          </a:prstGeom>
          <a:solidFill>
            <a:srgbClr val="FFFFFF"/>
          </a:solidFill>
          <a:ln w="9525">
            <a:solidFill>
              <a:srgbClr val="D4DBD0"/>
            </a:solidFill>
            <a:prstDash val="solid"/>
          </a:ln>
        </p:spPr>
      </p:sp>
      <p:sp>
        <p:nvSpPr>
          <p:cNvPr id="6" name="slide-22-text-4"/>
          <p:cNvSpPr/>
          <p:nvPr/>
        </p:nvSpPr>
        <p:spPr>
          <a:xfrm>
            <a:off x="838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JAVASCRIPT</a:t>
            </a:r>
            <a:endParaRPr lang="en-US" sz="1350" dirty="0"/>
          </a:p>
        </p:txBody>
      </p:sp>
      <p:sp>
        <p:nvSpPr>
          <p:cNvPr id="7" name="slide-22-text-5"/>
          <p:cNvSpPr/>
          <p:nvPr/>
        </p:nvSpPr>
        <p:spPr>
          <a:xfrm>
            <a:off x="838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...spread</a:t>
            </a:r>
            <a:endParaRPr lang="en-US" sz="2400" dirty="0"/>
          </a:p>
        </p:txBody>
      </p:sp>
      <p:sp>
        <p:nvSpPr>
          <p:cNvPr id="8" name="slide-22-text-6"/>
          <p:cNvSpPr/>
          <p:nvPr/>
        </p:nvSpPr>
        <p:spPr>
          <a:xfrm>
            <a:off x="838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Copy existing fields.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Override one field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with [field]: value.</a:t>
            </a:r>
            <a:endParaRPr lang="en-US" sz="1950" dirty="0"/>
          </a:p>
        </p:txBody>
      </p:sp>
      <p:sp>
        <p:nvSpPr>
          <p:cNvPr id="9" name="slide-22-rect-7"/>
          <p:cNvSpPr/>
          <p:nvPr/>
        </p:nvSpPr>
        <p:spPr>
          <a:xfrm>
            <a:off x="4356100" y="2228850"/>
            <a:ext cx="3479800" cy="3067050"/>
          </a:xfrm>
          <a:prstGeom prst="roundRect">
            <a:avLst>
              <a:gd name="adj" fmla="val 3106"/>
            </a:avLst>
          </a:prstGeom>
          <a:solidFill>
            <a:srgbClr val="FFFFFF"/>
          </a:solidFill>
          <a:ln w="9525">
            <a:solidFill>
              <a:srgbClr val="D4DBD0"/>
            </a:solidFill>
            <a:prstDash val="solid"/>
          </a:ln>
        </p:spPr>
      </p:sp>
      <p:sp>
        <p:nvSpPr>
          <p:cNvPr id="10" name="slide-22-text-8"/>
          <p:cNvSpPr/>
          <p:nvPr/>
        </p:nvSpPr>
        <p:spPr>
          <a:xfrm>
            <a:off x="45847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TYPESCRIPT</a:t>
            </a:r>
            <a:endParaRPr lang="en-US" sz="1350" dirty="0"/>
          </a:p>
        </p:txBody>
      </p:sp>
      <p:sp>
        <p:nvSpPr>
          <p:cNvPr id="11" name="slide-22-text-9"/>
          <p:cNvSpPr/>
          <p:nvPr/>
        </p:nvSpPr>
        <p:spPr>
          <a:xfrm>
            <a:off x="45847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keyof FormData</a:t>
            </a:r>
            <a:endParaRPr lang="en-US" sz="2400" dirty="0"/>
          </a:p>
        </p:txBody>
      </p:sp>
      <p:sp>
        <p:nvSpPr>
          <p:cNvPr id="12" name="slide-22-text-10"/>
          <p:cNvSpPr/>
          <p:nvPr/>
        </p:nvSpPr>
        <p:spPr>
          <a:xfrm>
            <a:off x="45847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firstName, lastName,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email or age: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only valid keys.</a:t>
            </a:r>
            <a:endParaRPr lang="en-US" sz="1950" dirty="0"/>
          </a:p>
        </p:txBody>
      </p:sp>
      <p:sp>
        <p:nvSpPr>
          <p:cNvPr id="13" name="slide-22-rect-11"/>
          <p:cNvSpPr/>
          <p:nvPr/>
        </p:nvSpPr>
        <p:spPr>
          <a:xfrm>
            <a:off x="8102600" y="2228850"/>
            <a:ext cx="3479800" cy="3067050"/>
          </a:xfrm>
          <a:prstGeom prst="roundRect">
            <a:avLst>
              <a:gd name="adj" fmla="val 3106"/>
            </a:avLst>
          </a:prstGeom>
          <a:solidFill>
            <a:srgbClr val="FFFFFF"/>
          </a:solidFill>
          <a:ln w="9525">
            <a:solidFill>
              <a:srgbClr val="D4DBD0"/>
            </a:solidFill>
            <a:prstDash val="solid"/>
          </a:ln>
        </p:spPr>
      </p:sp>
      <p:sp>
        <p:nvSpPr>
          <p:cNvPr id="14" name="slide-22-text-12"/>
          <p:cNvSpPr/>
          <p:nvPr/>
        </p:nvSpPr>
        <p:spPr>
          <a:xfrm>
            <a:off x="8331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TYPESCRIPT</a:t>
            </a:r>
            <a:endParaRPr lang="en-US" sz="1350" dirty="0"/>
          </a:p>
        </p:txBody>
      </p:sp>
      <p:sp>
        <p:nvSpPr>
          <p:cNvPr id="15" name="slide-22-text-13"/>
          <p:cNvSpPr/>
          <p:nvPr/>
        </p:nvSpPr>
        <p:spPr>
          <a:xfrm>
            <a:off x="8331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Partial&lt;Record&gt;</a:t>
            </a:r>
            <a:endParaRPr lang="en-US" sz="2400" dirty="0"/>
          </a:p>
        </p:txBody>
      </p:sp>
      <p:sp>
        <p:nvSpPr>
          <p:cNvPr id="16" name="slide-22-text-14"/>
          <p:cNvSpPr/>
          <p:nvPr/>
        </p:nvSpPr>
        <p:spPr>
          <a:xfrm>
            <a:off x="8331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Optional field keys;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string messages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for their errors.</a:t>
            </a:r>
            <a:endParaRPr lang="en-US" sz="1950" dirty="0"/>
          </a:p>
        </p:txBody>
      </p:sp>
      <p:sp>
        <p:nvSpPr>
          <p:cNvPr id="17" name="slide-22-rect-15"/>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8" name="slide-22-text-16"/>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 value's data type and its error-message type have different responsibilities.</a:t>
            </a:r>
            <a:endParaRPr lang="en-US" sz="1875" dirty="0"/>
          </a:p>
        </p:txBody>
      </p:sp>
      <p:sp>
        <p:nvSpPr>
          <p:cNvPr id="19" name="slide-22-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FormState types | StateDemo.tsx:88</a:t>
            </a:r>
            <a:endParaRPr lang="en-US" sz="1275" dirty="0"/>
          </a:p>
        </p:txBody>
      </p:sp>
      <p:sp>
        <p:nvSpPr>
          <p:cNvPr id="20" name="slide-22-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21" name="slide-22-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22 / 65</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A"/>
        </a:solidFill>
      </p:bgPr>
    </p:bg>
    <p:spTree>
      <p:nvGrpSpPr>
        <p:cNvPr id="1" name=""/>
        <p:cNvGrpSpPr/>
        <p:nvPr/>
      </p:nvGrpSpPr>
      <p:grpSpPr>
        <a:xfrm>
          <a:off x="0" y="0"/>
          <a:ext cx="0" cy="0"/>
          <a:chOff x="0" y="0"/>
          <a:chExt cx="0" cy="0"/>
        </a:xfrm>
      </p:grpSpPr>
      <p:sp>
        <p:nvSpPr>
          <p:cNvPr id="2" name="slide-2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Keep each key paired with its value type</a:t>
            </a:r>
            <a:endParaRPr lang="en-US" sz="3600" dirty="0"/>
          </a:p>
        </p:txBody>
      </p:sp>
      <p:sp>
        <p:nvSpPr>
          <p:cNvPr id="4" name="slide-2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Proposed refinement: the current setter accepts independent key and value unions.</a:t>
            </a:r>
            <a:endParaRPr lang="en-US" sz="1875" dirty="0"/>
          </a:p>
        </p:txBody>
      </p:sp>
      <p:sp>
        <p:nvSpPr>
          <p:cNvPr id="5" name="slide-23-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23-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IMPROVEMENT / NOT THE RUNNING UPDATEFIELD</a:t>
            </a:r>
            <a:endParaRPr lang="en-US" sz="1350" dirty="0"/>
          </a:p>
        </p:txBody>
      </p:sp>
      <p:sp>
        <p:nvSpPr>
          <p:cNvPr id="7" name="slide-23-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function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updateField&lt;K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extends</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keyof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FormData&gt;(</a:t>
            </a:r>
            <a:endParaRPr lang="en-US" sz="1575" dirty="0"/>
          </a:p>
        </p:txBody>
      </p:sp>
      <p:sp>
        <p:nvSpPr>
          <p:cNvPr id="8" name="slide-23-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field: K, value: FormData[K]</a:t>
            </a:r>
            <a:endParaRPr lang="en-US" sz="1575" dirty="0"/>
          </a:p>
        </p:txBody>
      </p:sp>
      <p:sp>
        <p:nvSpPr>
          <p:cNvPr id="9" name="slide-23-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23-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setFormData(prev =&gt; ({ ...prev, [field]: value }));</a:t>
            </a:r>
            <a:endParaRPr lang="en-US" sz="1575" dirty="0"/>
          </a:p>
        </p:txBody>
      </p:sp>
      <p:sp>
        <p:nvSpPr>
          <p:cNvPr id="11" name="slide-23-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23-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23-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updateField(</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'firstName'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'Ada'</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23-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updateField(</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'age'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18</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5" name="slide-23-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 updateField('age', 'eighteen'); // Type error</a:t>
            </a:r>
            <a:endParaRPr lang="en-US" sz="1575" dirty="0"/>
          </a:p>
        </p:txBody>
      </p:sp>
      <p:sp>
        <p:nvSpPr>
          <p:cNvPr id="16" name="slide-23-text-14"/>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CURRENT</a:t>
            </a:r>
            <a:endParaRPr lang="en-US" sz="1350" dirty="0"/>
          </a:p>
        </p:txBody>
      </p:sp>
      <p:sp>
        <p:nvSpPr>
          <p:cNvPr id="17" name="slide-23-text-15"/>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keyof +</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string | number.</a:t>
            </a:r>
            <a:endParaRPr lang="en-US" sz="1950" dirty="0"/>
          </a:p>
        </p:txBody>
      </p:sp>
      <p:sp>
        <p:nvSpPr>
          <p:cNvPr id="18" name="slide-23-text-16"/>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REFINEMENT</a:t>
            </a:r>
            <a:endParaRPr lang="en-US" sz="1350" dirty="0"/>
          </a:p>
        </p:txBody>
      </p:sp>
      <p:sp>
        <p:nvSpPr>
          <p:cNvPr id="19" name="slide-23-text-17"/>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K selects the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matching value type.</a:t>
            </a:r>
            <a:endParaRPr lang="en-US" sz="1950" dirty="0"/>
          </a:p>
        </p:txBody>
      </p:sp>
      <p:sp>
        <p:nvSpPr>
          <p:cNvPr id="20" name="slide-23-text-18"/>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STILL NEEDED</a:t>
            </a:r>
            <a:endParaRPr lang="en-US" sz="1350" dirty="0"/>
          </a:p>
        </p:txBody>
      </p:sp>
      <p:sp>
        <p:nvSpPr>
          <p:cNvPr id="21" name="slide-23-text-19"/>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Preserve error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clearing behavior.</a:t>
            </a:r>
            <a:endParaRPr lang="en-US" sz="1950" dirty="0"/>
          </a:p>
        </p:txBody>
      </p:sp>
      <p:sp>
        <p:nvSpPr>
          <p:cNvPr id="22" name="slide-23-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updateField | StateDemo.tsx:99</a:t>
            </a:r>
            <a:endParaRPr lang="en-US" sz="1275" dirty="0"/>
          </a:p>
        </p:txBody>
      </p:sp>
      <p:sp>
        <p:nvSpPr>
          <p:cNvPr id="23" name="slide-23-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24" name="slide-23-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23 / 65</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A"/>
        </a:solidFill>
      </p:bgPr>
    </p:bg>
    <p:spTree>
      <p:nvGrpSpPr>
        <p:cNvPr id="1" name=""/>
        <p:cNvGrpSpPr/>
        <p:nvPr/>
      </p:nvGrpSpPr>
      <p:grpSpPr>
        <a:xfrm>
          <a:off x="0" y="0"/>
          <a:ext cx="0" cy="0"/>
          <a:chOff x="0" y="0"/>
          <a:chExt cx="0" cy="0"/>
        </a:xfrm>
      </p:grpSpPr>
      <p:sp>
        <p:nvSpPr>
          <p:cNvPr id="2" name="slide-2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Form errors are messages, not field values</a:t>
            </a:r>
            <a:endParaRPr lang="en-US" sz="3600" dirty="0"/>
          </a:p>
        </p:txBody>
      </p:sp>
      <p:sp>
        <p:nvSpPr>
          <p:cNvPr id="4" name="slide-2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running form uses a sparse map of strings for validation feedback.</a:t>
            </a:r>
            <a:endParaRPr lang="en-US" sz="1875" dirty="0"/>
          </a:p>
        </p:txBody>
      </p:sp>
      <p:sp>
        <p:nvSpPr>
          <p:cNvPr id="5" name="slide-24-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24-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FORMSTATE / CURRENT VALIDATION EXCERPT</a:t>
            </a:r>
            <a:endParaRPr lang="en-US" sz="1350" dirty="0"/>
          </a:p>
        </p:txBody>
      </p:sp>
      <p:sp>
        <p:nvSpPr>
          <p:cNvPr id="7" name="slide-24-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newErrors:</a:t>
            </a:r>
            <a:endParaRPr lang="en-US" sz="1575" dirty="0"/>
          </a:p>
        </p:txBody>
      </p:sp>
      <p:sp>
        <p:nvSpPr>
          <p:cNvPr id="8" name="slide-24-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Partial&lt;Record&lt;</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keyof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FormData, string&gt;&gt; = {};</a:t>
            </a:r>
            <a:endParaRPr lang="en-US" sz="1575" dirty="0"/>
          </a:p>
        </p:txBody>
      </p:sp>
      <p:sp>
        <p:nvSpPr>
          <p:cNvPr id="9" name="slide-24-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24-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(!formData.firstName.trim())</a:t>
            </a:r>
            <a:endParaRPr lang="en-US" sz="1575" dirty="0"/>
          </a:p>
        </p:txBody>
      </p:sp>
      <p:sp>
        <p:nvSpPr>
          <p:cNvPr id="11" name="slide-24-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newErrors.firstName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'First name required'</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24-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(formData.age &lt;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18</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24-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newErrors.age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'Must be 18+'</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24-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5" name="slide-24-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setErrors(newErrors);</a:t>
            </a:r>
            <a:endParaRPr lang="en-US" sz="1575" dirty="0"/>
          </a:p>
        </p:txBody>
      </p:sp>
      <p:sp>
        <p:nvSpPr>
          <p:cNvPr id="16" name="slide-24-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Object.keys(newErrors).length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7" name="slide-24-text-15"/>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COLLECT</a:t>
            </a:r>
            <a:endParaRPr lang="en-US" sz="1350" dirty="0"/>
          </a:p>
        </p:txBody>
      </p:sp>
      <p:sp>
        <p:nvSpPr>
          <p:cNvPr id="18" name="slide-24-text-16"/>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One message per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invalid field.</a:t>
            </a:r>
            <a:endParaRPr lang="en-US" sz="1950" dirty="0"/>
          </a:p>
        </p:txBody>
      </p:sp>
      <p:sp>
        <p:nvSpPr>
          <p:cNvPr id="19" name="slide-24-text-17"/>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DISPLAY</a:t>
            </a:r>
            <a:endParaRPr lang="en-US" sz="1350" dirty="0"/>
          </a:p>
        </p:txBody>
      </p:sp>
      <p:sp>
        <p:nvSpPr>
          <p:cNvPr id="20" name="slide-24-text-18"/>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Show messages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beside inputs.</a:t>
            </a:r>
            <a:endParaRPr lang="en-US" sz="1950" dirty="0"/>
          </a:p>
        </p:txBody>
      </p:sp>
      <p:sp>
        <p:nvSpPr>
          <p:cNvPr id="21" name="slide-24-text-19"/>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DECIDE</a:t>
            </a:r>
            <a:endParaRPr lang="en-US" sz="1350" dirty="0"/>
          </a:p>
        </p:txBody>
      </p:sp>
      <p:sp>
        <p:nvSpPr>
          <p:cNvPr id="22" name="slide-24-text-20"/>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 error keys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means valid here.</a:t>
            </a:r>
            <a:endParaRPr lang="en-US" sz="1950" dirty="0"/>
          </a:p>
        </p:txBody>
      </p:sp>
      <p:sp>
        <p:nvSpPr>
          <p:cNvPr id="23" name="slide-24-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validate | StateDemo.tsx:106</a:t>
            </a:r>
            <a:endParaRPr lang="en-US" sz="1275" dirty="0"/>
          </a:p>
        </p:txBody>
      </p:sp>
      <p:sp>
        <p:nvSpPr>
          <p:cNvPr id="24" name="slide-24-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25" name="slide-24-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24 / 65</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A"/>
        </a:solidFill>
      </p:bgPr>
    </p:bg>
    <p:spTree>
      <p:nvGrpSpPr>
        <p:cNvPr id="1" name=""/>
        <p:cNvGrpSpPr/>
        <p:nvPr/>
      </p:nvGrpSpPr>
      <p:grpSpPr>
        <a:xfrm>
          <a:off x="0" y="0"/>
          <a:ext cx="0" cy="0"/>
          <a:chOff x="0" y="0"/>
          <a:chExt cx="0" cy="0"/>
        </a:xfrm>
      </p:grpSpPr>
      <p:sp>
        <p:nvSpPr>
          <p:cNvPr id="2" name="slide-2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5-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A controlled input closes the loop</a:t>
            </a:r>
            <a:endParaRPr lang="en-US" sz="3600" dirty="0"/>
          </a:p>
        </p:txBody>
      </p:sp>
      <p:sp>
        <p:nvSpPr>
          <p:cNvPr id="4" name="slide-25-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State supplies the value; onChange supplies the next state.</a:t>
            </a:r>
            <a:endParaRPr lang="en-US" sz="1875" dirty="0"/>
          </a:p>
        </p:txBody>
      </p:sp>
      <p:sp>
        <p:nvSpPr>
          <p:cNvPr id="5" name="slide-25-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25-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FORMSTATE / CURRENT AGE INPUT, REFLOWED</a:t>
            </a:r>
            <a:endParaRPr lang="en-US" sz="1350" dirty="0"/>
          </a:p>
        </p:txBody>
      </p:sp>
      <p:sp>
        <p:nvSpPr>
          <p:cNvPr id="7" name="slide-25-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&lt;input</a:t>
            </a:r>
            <a:endParaRPr lang="en-US" sz="1575" dirty="0"/>
          </a:p>
        </p:txBody>
      </p:sp>
      <p:sp>
        <p:nvSpPr>
          <p:cNvPr id="8" name="slide-25-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type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"number"</a:t>
            </a:r>
            <a:endParaRPr lang="en-US" sz="1575" dirty="0"/>
          </a:p>
        </p:txBody>
      </p:sp>
      <p:sp>
        <p:nvSpPr>
          <p:cNvPr id="9" name="slide-25-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value={formData.age}</a:t>
            </a:r>
            <a:endParaRPr lang="en-US" sz="1575" dirty="0"/>
          </a:p>
        </p:txBody>
      </p:sp>
      <p:sp>
        <p:nvSpPr>
          <p:cNvPr id="10" name="slide-25-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onChange={(e) =&gt;</a:t>
            </a:r>
            <a:endParaRPr lang="en-US" sz="1575" dirty="0"/>
          </a:p>
        </p:txBody>
      </p:sp>
      <p:sp>
        <p:nvSpPr>
          <p:cNvPr id="11" name="slide-25-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updateField(</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'age'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parseInt(e.target.value)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25-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25-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className={errors.age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'input-error'</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25-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/&gt;</a:t>
            </a:r>
            <a:endParaRPr lang="en-US" sz="1575" dirty="0"/>
          </a:p>
        </p:txBody>
      </p:sp>
      <p:sp>
        <p:nvSpPr>
          <p:cNvPr id="15" name="slide-25-text-13"/>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READ</a:t>
            </a:r>
            <a:endParaRPr lang="en-US" sz="1350" dirty="0"/>
          </a:p>
        </p:txBody>
      </p:sp>
      <p:sp>
        <p:nvSpPr>
          <p:cNvPr id="16" name="slide-25-text-14"/>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value reflects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formData.age.</a:t>
            </a:r>
            <a:endParaRPr lang="en-US" sz="1950" dirty="0"/>
          </a:p>
        </p:txBody>
      </p:sp>
      <p:sp>
        <p:nvSpPr>
          <p:cNvPr id="17" name="slide-25-text-15"/>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WRITE</a:t>
            </a:r>
            <a:endParaRPr lang="en-US" sz="1350" dirty="0"/>
          </a:p>
        </p:txBody>
      </p:sp>
      <p:sp>
        <p:nvSpPr>
          <p:cNvPr id="18" name="slide-25-text-16"/>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onChange calls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updateField.</a:t>
            </a:r>
            <a:endParaRPr lang="en-US" sz="1950" dirty="0"/>
          </a:p>
        </p:txBody>
      </p:sp>
      <p:sp>
        <p:nvSpPr>
          <p:cNvPr id="19" name="slide-25-text-17"/>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CAVEAT</a:t>
            </a:r>
            <a:endParaRPr lang="en-US" sz="1350" dirty="0"/>
          </a:p>
        </p:txBody>
      </p:sp>
      <p:sp>
        <p:nvSpPr>
          <p:cNvPr id="20" name="slide-25-text-18"/>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Empty or invalid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text falls back to 0.</a:t>
            </a:r>
            <a:endParaRPr lang="en-US" sz="1950" dirty="0"/>
          </a:p>
        </p:txBody>
      </p:sp>
      <p:sp>
        <p:nvSpPr>
          <p:cNvPr id="21" name="slide-25-rect-1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2" name="slide-25-text-2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Numeric inputs still expose text. Parsing and validation are separate design decisions.</a:t>
            </a:r>
            <a:endParaRPr lang="en-US" sz="1875" dirty="0"/>
          </a:p>
        </p:txBody>
      </p:sp>
      <p:sp>
        <p:nvSpPr>
          <p:cNvPr id="23" name="slide-25-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age input | StateDemo.tsx:150</a:t>
            </a:r>
            <a:endParaRPr lang="en-US" sz="1275" dirty="0"/>
          </a:p>
        </p:txBody>
      </p:sp>
      <p:sp>
        <p:nvSpPr>
          <p:cNvPr id="24" name="slide-25-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25" name="slide-25-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25 / 65</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3EA"/>
        </a:solidFill>
      </p:bgPr>
    </p:bg>
    <p:spTree>
      <p:nvGrpSpPr>
        <p:cNvPr id="1" name=""/>
        <p:cNvGrpSpPr/>
        <p:nvPr/>
      </p:nvGrpSpPr>
      <p:grpSpPr>
        <a:xfrm>
          <a:off x="0" y="0"/>
          <a:ext cx="0" cy="0"/>
          <a:chOff x="0" y="0"/>
          <a:chExt cx="0" cy="0"/>
        </a:xfrm>
      </p:grpSpPr>
      <p:sp>
        <p:nvSpPr>
          <p:cNvPr id="2" name="slide-26-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6-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Trace the form's actual submit workflow</a:t>
            </a:r>
            <a:endParaRPr lang="en-US" sz="3600" dirty="0"/>
          </a:p>
        </p:txBody>
      </p:sp>
      <p:sp>
        <p:nvSpPr>
          <p:cNvPr id="4" name="slide-26-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This is a client-side classroom form, not an API submission.</a:t>
            </a:r>
            <a:endParaRPr lang="en-US" sz="1875" dirty="0"/>
          </a:p>
        </p:txBody>
      </p:sp>
      <p:sp>
        <p:nvSpPr>
          <p:cNvPr id="5" name="slide-26-text-3"/>
          <p:cNvSpPr/>
          <p:nvPr/>
        </p:nvSpPr>
        <p:spPr>
          <a:xfrm>
            <a:off x="609600"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1</a:t>
            </a:r>
            <a:endParaRPr lang="en-US" sz="1350" dirty="0"/>
          </a:p>
        </p:txBody>
      </p:sp>
      <p:sp>
        <p:nvSpPr>
          <p:cNvPr id="6" name="slide-26-rect-4"/>
          <p:cNvSpPr/>
          <p:nvPr/>
        </p:nvSpPr>
        <p:spPr>
          <a:xfrm>
            <a:off x="609600" y="2800350"/>
            <a:ext cx="2371725" cy="2095500"/>
          </a:xfrm>
          <a:prstGeom prst="roundRect">
            <a:avLst>
              <a:gd name="adj" fmla="val 4091"/>
            </a:avLst>
          </a:prstGeom>
          <a:solidFill>
            <a:srgbClr val="FFFFFF"/>
          </a:solidFill>
          <a:ln w="9525">
            <a:solidFill>
              <a:srgbClr val="D4DBD0"/>
            </a:solidFill>
            <a:prstDash val="solid"/>
          </a:ln>
        </p:spPr>
      </p:sp>
      <p:sp>
        <p:nvSpPr>
          <p:cNvPr id="7" name="slide-26-text-5"/>
          <p:cNvSpPr/>
          <p:nvPr/>
        </p:nvSpPr>
        <p:spPr>
          <a:xfrm>
            <a:off x="800100"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Intercept</a:t>
            </a:r>
            <a:endParaRPr lang="en-US" sz="2175" dirty="0"/>
          </a:p>
        </p:txBody>
      </p:sp>
      <p:sp>
        <p:nvSpPr>
          <p:cNvPr id="8" name="slide-26-text-6"/>
          <p:cNvSpPr/>
          <p:nvPr/>
        </p:nvSpPr>
        <p:spPr>
          <a:xfrm>
            <a:off x="800100"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preventDefault</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cancels native</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submission.</a:t>
            </a:r>
            <a:endParaRPr lang="en-US" sz="1875" dirty="0"/>
          </a:p>
        </p:txBody>
      </p:sp>
      <p:sp>
        <p:nvSpPr>
          <p:cNvPr id="9" name="slide-26-arrow-7"/>
          <p:cNvSpPr/>
          <p:nvPr/>
        </p:nvSpPr>
        <p:spPr>
          <a:xfrm>
            <a:off x="3019425" y="3848100"/>
            <a:ext cx="419100" cy="0"/>
          </a:xfrm>
          <a:prstGeom prst="line">
            <a:avLst/>
          </a:prstGeom>
          <a:noFill/>
          <a:ln w="23813">
            <a:solidFill>
              <a:srgbClr val="B34F25"/>
            </a:solidFill>
            <a:prstDash val="solid"/>
            <a:headEnd type="none"/>
            <a:tailEnd type="triangle"/>
          </a:ln>
        </p:spPr>
      </p:sp>
      <p:sp>
        <p:nvSpPr>
          <p:cNvPr id="10" name="slide-26-text-8"/>
          <p:cNvSpPr/>
          <p:nvPr/>
        </p:nvSpPr>
        <p:spPr>
          <a:xfrm>
            <a:off x="3476625"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2</a:t>
            </a:r>
            <a:endParaRPr lang="en-US" sz="1350" dirty="0"/>
          </a:p>
        </p:txBody>
      </p:sp>
      <p:sp>
        <p:nvSpPr>
          <p:cNvPr id="11" name="slide-26-rect-9"/>
          <p:cNvSpPr/>
          <p:nvPr/>
        </p:nvSpPr>
        <p:spPr>
          <a:xfrm>
            <a:off x="3476625" y="2800350"/>
            <a:ext cx="2371725" cy="2095500"/>
          </a:xfrm>
          <a:prstGeom prst="roundRect">
            <a:avLst>
              <a:gd name="adj" fmla="val 4091"/>
            </a:avLst>
          </a:prstGeom>
          <a:solidFill>
            <a:srgbClr val="FFFFFF"/>
          </a:solidFill>
          <a:ln w="9525">
            <a:solidFill>
              <a:srgbClr val="D4DBD0"/>
            </a:solidFill>
            <a:prstDash val="solid"/>
          </a:ln>
        </p:spPr>
      </p:sp>
      <p:sp>
        <p:nvSpPr>
          <p:cNvPr id="12" name="slide-26-text-10"/>
          <p:cNvSpPr/>
          <p:nvPr/>
        </p:nvSpPr>
        <p:spPr>
          <a:xfrm>
            <a:off x="3667125"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Validate</a:t>
            </a:r>
            <a:endParaRPr lang="en-US" sz="2175" dirty="0"/>
          </a:p>
        </p:txBody>
      </p:sp>
      <p:sp>
        <p:nvSpPr>
          <p:cNvPr id="13" name="slide-26-text-11"/>
          <p:cNvSpPr/>
          <p:nvPr/>
        </p:nvSpPr>
        <p:spPr>
          <a:xfrm>
            <a:off x="3667125"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Build the field</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error map from</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formData.</a:t>
            </a:r>
            <a:endParaRPr lang="en-US" sz="1875" dirty="0"/>
          </a:p>
        </p:txBody>
      </p:sp>
      <p:sp>
        <p:nvSpPr>
          <p:cNvPr id="14" name="slide-26-arrow-12"/>
          <p:cNvSpPr/>
          <p:nvPr/>
        </p:nvSpPr>
        <p:spPr>
          <a:xfrm>
            <a:off x="5886450" y="3848100"/>
            <a:ext cx="419100" cy="0"/>
          </a:xfrm>
          <a:prstGeom prst="line">
            <a:avLst/>
          </a:prstGeom>
          <a:noFill/>
          <a:ln w="23813">
            <a:solidFill>
              <a:srgbClr val="B34F25"/>
            </a:solidFill>
            <a:prstDash val="solid"/>
            <a:headEnd type="none"/>
            <a:tailEnd type="triangle"/>
          </a:ln>
        </p:spPr>
      </p:sp>
      <p:sp>
        <p:nvSpPr>
          <p:cNvPr id="15" name="slide-26-text-13"/>
          <p:cNvSpPr/>
          <p:nvPr/>
        </p:nvSpPr>
        <p:spPr>
          <a:xfrm>
            <a:off x="6343650"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3</a:t>
            </a:r>
            <a:endParaRPr lang="en-US" sz="1350" dirty="0"/>
          </a:p>
        </p:txBody>
      </p:sp>
      <p:sp>
        <p:nvSpPr>
          <p:cNvPr id="16" name="slide-26-rect-14"/>
          <p:cNvSpPr/>
          <p:nvPr/>
        </p:nvSpPr>
        <p:spPr>
          <a:xfrm>
            <a:off x="6343650" y="2800350"/>
            <a:ext cx="2371725" cy="2095500"/>
          </a:xfrm>
          <a:prstGeom prst="roundRect">
            <a:avLst>
              <a:gd name="adj" fmla="val 4091"/>
            </a:avLst>
          </a:prstGeom>
          <a:solidFill>
            <a:srgbClr val="FFFFFF"/>
          </a:solidFill>
          <a:ln w="9525">
            <a:solidFill>
              <a:srgbClr val="D4DBD0"/>
            </a:solidFill>
            <a:prstDash val="solid"/>
          </a:ln>
        </p:spPr>
      </p:sp>
      <p:sp>
        <p:nvSpPr>
          <p:cNvPr id="17" name="slide-26-text-15"/>
          <p:cNvSpPr/>
          <p:nvPr/>
        </p:nvSpPr>
        <p:spPr>
          <a:xfrm>
            <a:off x="6534150"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Decide</a:t>
            </a:r>
            <a:endParaRPr lang="en-US" sz="2175" dirty="0"/>
          </a:p>
        </p:txBody>
      </p:sp>
      <p:sp>
        <p:nvSpPr>
          <p:cNvPr id="18" name="slide-26-text-16"/>
          <p:cNvSpPr/>
          <p:nvPr/>
        </p:nvSpPr>
        <p:spPr>
          <a:xfrm>
            <a:off x="6534150"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Errors keep</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 form</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on screen.</a:t>
            </a:r>
            <a:endParaRPr lang="en-US" sz="1875" dirty="0"/>
          </a:p>
        </p:txBody>
      </p:sp>
      <p:sp>
        <p:nvSpPr>
          <p:cNvPr id="19" name="slide-26-arrow-17"/>
          <p:cNvSpPr/>
          <p:nvPr/>
        </p:nvSpPr>
        <p:spPr>
          <a:xfrm>
            <a:off x="8753475" y="3848100"/>
            <a:ext cx="419100" cy="0"/>
          </a:xfrm>
          <a:prstGeom prst="line">
            <a:avLst/>
          </a:prstGeom>
          <a:noFill/>
          <a:ln w="23813">
            <a:solidFill>
              <a:srgbClr val="B34F25"/>
            </a:solidFill>
            <a:prstDash val="solid"/>
            <a:headEnd type="none"/>
            <a:tailEnd type="triangle"/>
          </a:ln>
        </p:spPr>
      </p:sp>
      <p:sp>
        <p:nvSpPr>
          <p:cNvPr id="20" name="slide-26-text-18"/>
          <p:cNvSpPr/>
          <p:nvPr/>
        </p:nvSpPr>
        <p:spPr>
          <a:xfrm>
            <a:off x="9210675"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4</a:t>
            </a:r>
            <a:endParaRPr lang="en-US" sz="1350" dirty="0"/>
          </a:p>
        </p:txBody>
      </p:sp>
      <p:sp>
        <p:nvSpPr>
          <p:cNvPr id="21" name="slide-26-rect-19"/>
          <p:cNvSpPr/>
          <p:nvPr/>
        </p:nvSpPr>
        <p:spPr>
          <a:xfrm>
            <a:off x="9210675" y="2800350"/>
            <a:ext cx="2371725" cy="2095500"/>
          </a:xfrm>
          <a:prstGeom prst="roundRect">
            <a:avLst>
              <a:gd name="adj" fmla="val 4091"/>
            </a:avLst>
          </a:prstGeom>
          <a:solidFill>
            <a:srgbClr val="E5EDE2"/>
          </a:solidFill>
          <a:ln w="9525">
            <a:solidFill>
              <a:srgbClr val="D4DBD0"/>
            </a:solidFill>
            <a:prstDash val="solid"/>
          </a:ln>
        </p:spPr>
      </p:sp>
      <p:sp>
        <p:nvSpPr>
          <p:cNvPr id="22" name="slide-26-text-20"/>
          <p:cNvSpPr/>
          <p:nvPr/>
        </p:nvSpPr>
        <p:spPr>
          <a:xfrm>
            <a:off x="9401175"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Confirm</a:t>
            </a:r>
            <a:endParaRPr lang="en-US" sz="2175" dirty="0"/>
          </a:p>
        </p:txBody>
      </p:sp>
      <p:sp>
        <p:nvSpPr>
          <p:cNvPr id="23" name="slide-26-text-21"/>
          <p:cNvSpPr/>
          <p:nvPr/>
        </p:nvSpPr>
        <p:spPr>
          <a:xfrm>
            <a:off x="9401175"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Valid data sets</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submitted</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and shows it.</a:t>
            </a:r>
            <a:endParaRPr lang="en-US" sz="1875" dirty="0"/>
          </a:p>
        </p:txBody>
      </p:sp>
      <p:sp>
        <p:nvSpPr>
          <p:cNvPr id="24" name="slide-26-rect-22"/>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5" name="slide-26-text-23"/>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Pending state, server validation and request errors are production extensions, not live features.</a:t>
            </a:r>
            <a:endParaRPr lang="en-US" sz="1875" dirty="0"/>
          </a:p>
        </p:txBody>
      </p:sp>
      <p:sp>
        <p:nvSpPr>
          <p:cNvPr id="26" name="slide-26-text-24">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handleSubmit | StateDemo.tsx:116</a:t>
            </a:r>
            <a:endParaRPr lang="en-US" sz="1275" dirty="0"/>
          </a:p>
        </p:txBody>
      </p:sp>
      <p:sp>
        <p:nvSpPr>
          <p:cNvPr id="27" name="slide-26-text-25">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28" name="slide-26-text-26"/>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26 / 65</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A"/>
        </a:solidFill>
      </p:bgPr>
    </p:bg>
    <p:spTree>
      <p:nvGrpSpPr>
        <p:cNvPr id="1" name=""/>
        <p:cNvGrpSpPr/>
        <p:nvPr/>
      </p:nvGrpSpPr>
      <p:grpSpPr>
        <a:xfrm>
          <a:off x="0" y="0"/>
          <a:ext cx="0" cy="0"/>
          <a:chOff x="0" y="0"/>
          <a:chExt cx="0" cy="0"/>
        </a:xfrm>
      </p:grpSpPr>
      <p:sp>
        <p:nvSpPr>
          <p:cNvPr id="2" name="slide-27-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7-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Events carry typed information</a:t>
            </a:r>
            <a:endParaRPr lang="en-US" sz="3600" dirty="0"/>
          </a:p>
        </p:txBody>
      </p:sp>
      <p:sp>
        <p:nvSpPr>
          <p:cNvPr id="4" name="slide-27-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EventsDemo extracts named handlers with concrete React event types.</a:t>
            </a:r>
            <a:endParaRPr lang="en-US" sz="1875" dirty="0"/>
          </a:p>
        </p:txBody>
      </p:sp>
      <p:sp>
        <p:nvSpPr>
          <p:cNvPr id="5" name="slide-27-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27-text-4"/>
          <p:cNvSpPr/>
          <p:nvPr/>
        </p:nvSpPr>
        <p:spPr>
          <a:xfrm>
            <a:off x="781050" y="2333625"/>
            <a:ext cx="230505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Interaction</a:t>
            </a:r>
            <a:endParaRPr lang="en-US" sz="1800" dirty="0"/>
          </a:p>
        </p:txBody>
      </p:sp>
      <p:sp>
        <p:nvSpPr>
          <p:cNvPr id="7" name="slide-27-text-5"/>
          <p:cNvSpPr/>
          <p:nvPr/>
        </p:nvSpPr>
        <p:spPr>
          <a:xfrm>
            <a:off x="3429000" y="2333625"/>
            <a:ext cx="461010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Handler type</a:t>
            </a:r>
            <a:endParaRPr lang="en-US" sz="1800" dirty="0"/>
          </a:p>
        </p:txBody>
      </p:sp>
      <p:sp>
        <p:nvSpPr>
          <p:cNvPr id="8" name="slide-27-text-6"/>
          <p:cNvSpPr/>
          <p:nvPr/>
        </p:nvSpPr>
        <p:spPr>
          <a:xfrm>
            <a:off x="8382000" y="2333625"/>
            <a:ext cx="302895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Useful field</a:t>
            </a:r>
            <a:endParaRPr lang="en-US" sz="1800" dirty="0"/>
          </a:p>
        </p:txBody>
      </p:sp>
      <p:sp>
        <p:nvSpPr>
          <p:cNvPr id="9" name="slide-27-rect-7"/>
          <p:cNvSpPr/>
          <p:nvPr/>
        </p:nvSpPr>
        <p:spPr>
          <a:xfrm>
            <a:off x="609600" y="2724150"/>
            <a:ext cx="10972800" cy="733425"/>
          </a:xfrm>
          <a:prstGeom prst="rect">
            <a:avLst/>
          </a:prstGeom>
          <a:solidFill>
            <a:srgbClr val="FFFFFF"/>
          </a:solidFill>
          <a:ln w="12700">
            <a:solidFill>
              <a:srgbClr val="FFFFFF">
                <a:alpha val="0"/>
              </a:srgbClr>
            </a:solidFill>
            <a:prstDash val="solid"/>
          </a:ln>
        </p:spPr>
      </p:sp>
      <p:sp>
        <p:nvSpPr>
          <p:cNvPr id="10" name="slide-27-text-8"/>
          <p:cNvSpPr/>
          <p:nvPr/>
        </p:nvSpPr>
        <p:spPr>
          <a:xfrm>
            <a:off x="781050" y="2819400"/>
            <a:ext cx="2305050" cy="561975"/>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Click</a:t>
            </a:r>
            <a:endParaRPr lang="en-US" sz="1725" dirty="0"/>
          </a:p>
        </p:txBody>
      </p:sp>
      <p:sp>
        <p:nvSpPr>
          <p:cNvPr id="11" name="slide-27-text-9"/>
          <p:cNvSpPr/>
          <p:nvPr/>
        </p:nvSpPr>
        <p:spPr>
          <a:xfrm>
            <a:off x="3429000" y="2819400"/>
            <a:ext cx="461010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onsolas" pitchFamily="34" charset="0"/>
                <a:ea typeface="Consolas" pitchFamily="34" charset="-122"/>
                <a:cs typeface="Consolas" pitchFamily="34" charset="-120"/>
              </a:rPr>
              <a:t>MouseEvent&lt;HTMLButtonElement&gt;</a:t>
            </a:r>
            <a:endParaRPr lang="en-US" sz="1725" dirty="0"/>
          </a:p>
        </p:txBody>
      </p:sp>
      <p:sp>
        <p:nvSpPr>
          <p:cNvPr id="12" name="slide-27-text-10"/>
          <p:cNvSpPr/>
          <p:nvPr/>
        </p:nvSpPr>
        <p:spPr>
          <a:xfrm>
            <a:off x="8382000" y="2819400"/>
            <a:ext cx="302895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currentTarget</a:t>
            </a:r>
            <a:endParaRPr lang="en-US" sz="1725" dirty="0"/>
          </a:p>
        </p:txBody>
      </p:sp>
      <p:sp>
        <p:nvSpPr>
          <p:cNvPr id="13" name="slide-27-rect-11"/>
          <p:cNvSpPr/>
          <p:nvPr/>
        </p:nvSpPr>
        <p:spPr>
          <a:xfrm>
            <a:off x="609600" y="3476625"/>
            <a:ext cx="10972800" cy="733425"/>
          </a:xfrm>
          <a:prstGeom prst="rect">
            <a:avLst/>
          </a:prstGeom>
          <a:solidFill>
            <a:srgbClr val="F6F3EA"/>
          </a:solidFill>
          <a:ln w="12700">
            <a:solidFill>
              <a:srgbClr val="F6F3EA">
                <a:alpha val="0"/>
              </a:srgbClr>
            </a:solidFill>
            <a:prstDash val="solid"/>
          </a:ln>
        </p:spPr>
      </p:sp>
      <p:sp>
        <p:nvSpPr>
          <p:cNvPr id="14" name="slide-27-text-12"/>
          <p:cNvSpPr/>
          <p:nvPr/>
        </p:nvSpPr>
        <p:spPr>
          <a:xfrm>
            <a:off x="781050" y="3571875"/>
            <a:ext cx="2305050" cy="561975"/>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Input change</a:t>
            </a:r>
            <a:endParaRPr lang="en-US" sz="1725" dirty="0"/>
          </a:p>
        </p:txBody>
      </p:sp>
      <p:sp>
        <p:nvSpPr>
          <p:cNvPr id="15" name="slide-27-text-13"/>
          <p:cNvSpPr/>
          <p:nvPr/>
        </p:nvSpPr>
        <p:spPr>
          <a:xfrm>
            <a:off x="3429000" y="3571875"/>
            <a:ext cx="461010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onsolas" pitchFamily="34" charset="0"/>
                <a:ea typeface="Consolas" pitchFamily="34" charset="-122"/>
                <a:cs typeface="Consolas" pitchFamily="34" charset="-120"/>
              </a:rPr>
              <a:t>ChangeEvent&lt;HTMLInputElement&gt;</a:t>
            </a:r>
            <a:endParaRPr lang="en-US" sz="1725" dirty="0"/>
          </a:p>
        </p:txBody>
      </p:sp>
      <p:sp>
        <p:nvSpPr>
          <p:cNvPr id="16" name="slide-27-text-14"/>
          <p:cNvSpPr/>
          <p:nvPr/>
        </p:nvSpPr>
        <p:spPr>
          <a:xfrm>
            <a:off x="8382000" y="3571875"/>
            <a:ext cx="302895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target.value</a:t>
            </a:r>
            <a:endParaRPr lang="en-US" sz="1725" dirty="0"/>
          </a:p>
        </p:txBody>
      </p:sp>
      <p:sp>
        <p:nvSpPr>
          <p:cNvPr id="17" name="slide-27-rect-15"/>
          <p:cNvSpPr/>
          <p:nvPr/>
        </p:nvSpPr>
        <p:spPr>
          <a:xfrm>
            <a:off x="609600" y="4229100"/>
            <a:ext cx="10972800" cy="733425"/>
          </a:xfrm>
          <a:prstGeom prst="rect">
            <a:avLst/>
          </a:prstGeom>
          <a:solidFill>
            <a:srgbClr val="FFFFFF"/>
          </a:solidFill>
          <a:ln w="12700">
            <a:solidFill>
              <a:srgbClr val="FFFFFF">
                <a:alpha val="0"/>
              </a:srgbClr>
            </a:solidFill>
            <a:prstDash val="solid"/>
          </a:ln>
        </p:spPr>
      </p:sp>
      <p:sp>
        <p:nvSpPr>
          <p:cNvPr id="18" name="slide-27-text-16"/>
          <p:cNvSpPr/>
          <p:nvPr/>
        </p:nvSpPr>
        <p:spPr>
          <a:xfrm>
            <a:off x="781050" y="4324350"/>
            <a:ext cx="2305050" cy="561975"/>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Keyboard</a:t>
            </a:r>
            <a:endParaRPr lang="en-US" sz="1725" dirty="0"/>
          </a:p>
        </p:txBody>
      </p:sp>
      <p:sp>
        <p:nvSpPr>
          <p:cNvPr id="19" name="slide-27-text-17"/>
          <p:cNvSpPr/>
          <p:nvPr/>
        </p:nvSpPr>
        <p:spPr>
          <a:xfrm>
            <a:off x="3429000" y="4324350"/>
            <a:ext cx="461010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onsolas" pitchFamily="34" charset="0"/>
                <a:ea typeface="Consolas" pitchFamily="34" charset="-122"/>
                <a:cs typeface="Consolas" pitchFamily="34" charset="-120"/>
              </a:rPr>
              <a:t>KeyboardEvent&lt;HTMLInputElement&gt;</a:t>
            </a:r>
            <a:endParaRPr lang="en-US" sz="1725" dirty="0"/>
          </a:p>
        </p:txBody>
      </p:sp>
      <p:sp>
        <p:nvSpPr>
          <p:cNvPr id="20" name="slide-27-text-18"/>
          <p:cNvSpPr/>
          <p:nvPr/>
        </p:nvSpPr>
        <p:spPr>
          <a:xfrm>
            <a:off x="8382000" y="4324350"/>
            <a:ext cx="302895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key; currentTarget.value</a:t>
            </a:r>
            <a:endParaRPr lang="en-US" sz="1725" dirty="0"/>
          </a:p>
        </p:txBody>
      </p:sp>
      <p:sp>
        <p:nvSpPr>
          <p:cNvPr id="21" name="slide-27-rect-19"/>
          <p:cNvSpPr/>
          <p:nvPr/>
        </p:nvSpPr>
        <p:spPr>
          <a:xfrm>
            <a:off x="609600" y="4981575"/>
            <a:ext cx="10972800" cy="733425"/>
          </a:xfrm>
          <a:prstGeom prst="rect">
            <a:avLst/>
          </a:prstGeom>
          <a:solidFill>
            <a:srgbClr val="F6F3EA"/>
          </a:solidFill>
          <a:ln w="12700">
            <a:solidFill>
              <a:srgbClr val="F6F3EA">
                <a:alpha val="0"/>
              </a:srgbClr>
            </a:solidFill>
            <a:prstDash val="solid"/>
          </a:ln>
        </p:spPr>
      </p:sp>
      <p:sp>
        <p:nvSpPr>
          <p:cNvPr id="22" name="slide-27-text-20"/>
          <p:cNvSpPr/>
          <p:nvPr/>
        </p:nvSpPr>
        <p:spPr>
          <a:xfrm>
            <a:off x="781050" y="5076825"/>
            <a:ext cx="2305050" cy="561975"/>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Submit</a:t>
            </a:r>
            <a:endParaRPr lang="en-US" sz="1725" dirty="0"/>
          </a:p>
        </p:txBody>
      </p:sp>
      <p:sp>
        <p:nvSpPr>
          <p:cNvPr id="23" name="slide-27-text-21"/>
          <p:cNvSpPr/>
          <p:nvPr/>
        </p:nvSpPr>
        <p:spPr>
          <a:xfrm>
            <a:off x="3429000" y="5076825"/>
            <a:ext cx="461010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onsolas" pitchFamily="34" charset="0"/>
                <a:ea typeface="Consolas" pitchFamily="34" charset="-122"/>
                <a:cs typeface="Consolas" pitchFamily="34" charset="-120"/>
              </a:rPr>
              <a:t>FormEvent&lt;HTMLFormElement&gt;</a:t>
            </a:r>
            <a:endParaRPr lang="en-US" sz="1725" dirty="0"/>
          </a:p>
        </p:txBody>
      </p:sp>
      <p:sp>
        <p:nvSpPr>
          <p:cNvPr id="24" name="slide-27-text-22"/>
          <p:cNvSpPr/>
          <p:nvPr/>
        </p:nvSpPr>
        <p:spPr>
          <a:xfrm>
            <a:off x="8382000" y="5076825"/>
            <a:ext cx="3028950" cy="561975"/>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preventDefault()</a:t>
            </a:r>
            <a:endParaRPr lang="en-US" sz="1725" dirty="0"/>
          </a:p>
        </p:txBody>
      </p:sp>
      <p:sp>
        <p:nvSpPr>
          <p:cNvPr id="25" name="slide-27-text-23">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EventsDemo handlers | EventsDemo.tsx:24</a:t>
            </a:r>
            <a:endParaRPr lang="en-US" sz="1275" dirty="0"/>
          </a:p>
        </p:txBody>
      </p:sp>
      <p:sp>
        <p:nvSpPr>
          <p:cNvPr id="26" name="slide-27-text-24">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4. Events / Mouse events</a:t>
            </a:r>
            <a:endParaRPr lang="en-US" sz="1275" dirty="0"/>
          </a:p>
        </p:txBody>
      </p:sp>
      <p:sp>
        <p:nvSpPr>
          <p:cNvPr id="27" name="slide-27-text-25"/>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27 / 65</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A"/>
        </a:solidFill>
      </p:bgPr>
    </p:bg>
    <p:spTree>
      <p:nvGrpSpPr>
        <p:cNvPr id="1" name=""/>
        <p:cNvGrpSpPr/>
        <p:nvPr/>
      </p:nvGrpSpPr>
      <p:grpSpPr>
        <a:xfrm>
          <a:off x="0" y="0"/>
          <a:ext cx="0" cy="0"/>
          <a:chOff x="0" y="0"/>
          <a:chExt cx="0" cy="0"/>
        </a:xfrm>
      </p:grpSpPr>
      <p:sp>
        <p:nvSpPr>
          <p:cNvPr id="2" name="slide-28-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8-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Pass a handler; do not call it during render</a:t>
            </a:r>
            <a:endParaRPr lang="en-US" sz="3600" dirty="0"/>
          </a:p>
        </p:txBody>
      </p:sp>
      <p:sp>
        <p:nvSpPr>
          <p:cNvPr id="4" name="slide-28-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expression inside braces should produce the function to run later.</a:t>
            </a:r>
            <a:endParaRPr lang="en-US" sz="1875" dirty="0"/>
          </a:p>
        </p:txBody>
      </p:sp>
      <p:sp>
        <p:nvSpPr>
          <p:cNvPr id="5" name="slide-28-text-3"/>
          <p:cNvSpPr/>
          <p:nvPr/>
        </p:nvSpPr>
        <p:spPr>
          <a:xfrm>
            <a:off x="609600" y="2162175"/>
            <a:ext cx="53721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AVOID / NOT THE RUNNING JSX</a:t>
            </a:r>
            <a:endParaRPr lang="en-US" sz="1350" dirty="0"/>
          </a:p>
        </p:txBody>
      </p:sp>
      <p:sp>
        <p:nvSpPr>
          <p:cNvPr id="6" name="slide-28-rect-4"/>
          <p:cNvSpPr/>
          <p:nvPr/>
        </p:nvSpPr>
        <p:spPr>
          <a:xfrm>
            <a:off x="609600" y="2543175"/>
            <a:ext cx="5372100" cy="2095500"/>
          </a:xfrm>
          <a:prstGeom prst="roundRect">
            <a:avLst>
              <a:gd name="adj" fmla="val 4545"/>
            </a:avLst>
          </a:prstGeom>
          <a:solidFill>
            <a:srgbClr val="152B2A"/>
          </a:solidFill>
          <a:ln w="12700">
            <a:solidFill>
              <a:srgbClr val="152B2A">
                <a:alpha val="0"/>
              </a:srgbClr>
            </a:solidFill>
            <a:prstDash val="solid"/>
          </a:ln>
        </p:spPr>
      </p:sp>
      <p:sp>
        <p:nvSpPr>
          <p:cNvPr id="7" name="slide-28-text-5"/>
          <p:cNvSpPr/>
          <p:nvPr/>
        </p:nvSpPr>
        <p:spPr>
          <a:xfrm>
            <a:off x="838200" y="27336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TSX</a:t>
            </a:r>
            <a:endParaRPr lang="en-US" sz="1350" dirty="0"/>
          </a:p>
        </p:txBody>
      </p:sp>
      <p:sp>
        <p:nvSpPr>
          <p:cNvPr id="8" name="slide-28-text-6"/>
          <p:cNvSpPr/>
          <p:nvPr/>
        </p:nvSpPr>
        <p:spPr>
          <a:xfrm>
            <a:off x="838200" y="311467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&lt;button onClick={handleClick()}&gt;</a:t>
            </a:r>
            <a:endParaRPr lang="en-US" sz="1575" dirty="0"/>
          </a:p>
        </p:txBody>
      </p:sp>
      <p:sp>
        <p:nvSpPr>
          <p:cNvPr id="9" name="slide-28-text-7"/>
          <p:cNvSpPr/>
          <p:nvPr/>
        </p:nvSpPr>
        <p:spPr>
          <a:xfrm>
            <a:off x="838200" y="3374708"/>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Click Me</a:t>
            </a:r>
            <a:endParaRPr lang="en-US" sz="1575" dirty="0"/>
          </a:p>
        </p:txBody>
      </p:sp>
      <p:sp>
        <p:nvSpPr>
          <p:cNvPr id="10" name="slide-28-text-8"/>
          <p:cNvSpPr/>
          <p:nvPr/>
        </p:nvSpPr>
        <p:spPr>
          <a:xfrm>
            <a:off x="838200" y="3634740"/>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&lt;/button&gt;</a:t>
            </a:r>
            <a:endParaRPr lang="en-US" sz="1575" dirty="0"/>
          </a:p>
        </p:txBody>
      </p:sp>
      <p:sp>
        <p:nvSpPr>
          <p:cNvPr id="11" name="slide-28-text-9"/>
          <p:cNvSpPr/>
          <p:nvPr/>
        </p:nvSpPr>
        <p:spPr>
          <a:xfrm>
            <a:off x="628650" y="4895850"/>
            <a:ext cx="5334000" cy="1104900"/>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Invokes a normal handler immediately.</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Its return value is not the handler.</a:t>
            </a:r>
            <a:endParaRPr lang="en-US" sz="1950" dirty="0"/>
          </a:p>
        </p:txBody>
      </p:sp>
      <p:sp>
        <p:nvSpPr>
          <p:cNvPr id="12" name="slide-28-text-10"/>
          <p:cNvSpPr/>
          <p:nvPr/>
        </p:nvSpPr>
        <p:spPr>
          <a:xfrm>
            <a:off x="6210300" y="2162175"/>
            <a:ext cx="5372100" cy="247650"/>
          </a:xfrm>
          <a:prstGeom prst="rect">
            <a:avLst/>
          </a:prstGeom>
          <a:noFill/>
          <a:ln/>
        </p:spPr>
        <p:txBody>
          <a:bodyPr wrap="square" lIns="0" tIns="0" rIns="0" bIns="0" rtlCol="0" anchor="t"/>
          <a:lstStyle/>
          <a:p>
            <a:pPr algn="l" indent="0" marL="0">
              <a:lnSpc>
                <a:spcPts val="1485"/>
              </a:lnSpc>
              <a:buNone/>
            </a:pPr>
            <a:r>
              <a:rPr lang="en-US" sz="1350" b="1" dirty="0">
                <a:solidFill>
                  <a:srgbClr val="123B35"/>
                </a:solidFill>
                <a:latin typeface="Calibri" pitchFamily="34" charset="0"/>
                <a:ea typeface="Calibri" pitchFamily="34" charset="-122"/>
                <a:cs typeface="Calibri" pitchFamily="34" charset="-120"/>
              </a:rPr>
              <a:t>CURRENT / PASS THE FUNCTION</a:t>
            </a:r>
            <a:endParaRPr lang="en-US" sz="1350" dirty="0"/>
          </a:p>
        </p:txBody>
      </p:sp>
      <p:sp>
        <p:nvSpPr>
          <p:cNvPr id="13" name="slide-28-rect-11"/>
          <p:cNvSpPr/>
          <p:nvPr/>
        </p:nvSpPr>
        <p:spPr>
          <a:xfrm>
            <a:off x="6210300" y="2543175"/>
            <a:ext cx="5372100" cy="2095500"/>
          </a:xfrm>
          <a:prstGeom prst="roundRect">
            <a:avLst>
              <a:gd name="adj" fmla="val 4545"/>
            </a:avLst>
          </a:prstGeom>
          <a:solidFill>
            <a:srgbClr val="152B2A"/>
          </a:solidFill>
          <a:ln w="12700">
            <a:solidFill>
              <a:srgbClr val="152B2A">
                <a:alpha val="0"/>
              </a:srgbClr>
            </a:solidFill>
            <a:prstDash val="solid"/>
          </a:ln>
        </p:spPr>
      </p:sp>
      <p:sp>
        <p:nvSpPr>
          <p:cNvPr id="14" name="slide-28-text-12"/>
          <p:cNvSpPr/>
          <p:nvPr/>
        </p:nvSpPr>
        <p:spPr>
          <a:xfrm>
            <a:off x="6438900" y="27336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TSX</a:t>
            </a:r>
            <a:endParaRPr lang="en-US" sz="1350" dirty="0"/>
          </a:p>
        </p:txBody>
      </p:sp>
      <p:sp>
        <p:nvSpPr>
          <p:cNvPr id="15" name="slide-28-text-13"/>
          <p:cNvSpPr/>
          <p:nvPr/>
        </p:nvSpPr>
        <p:spPr>
          <a:xfrm>
            <a:off x="6438900" y="311467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&lt;button onClick={handleClick}&gt;</a:t>
            </a:r>
            <a:endParaRPr lang="en-US" sz="1575" dirty="0"/>
          </a:p>
        </p:txBody>
      </p:sp>
      <p:sp>
        <p:nvSpPr>
          <p:cNvPr id="16" name="slide-28-text-14"/>
          <p:cNvSpPr/>
          <p:nvPr/>
        </p:nvSpPr>
        <p:spPr>
          <a:xfrm>
            <a:off x="6438900" y="3374708"/>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Click Me ({clickCount})</a:t>
            </a:r>
            <a:endParaRPr lang="en-US" sz="1575" dirty="0"/>
          </a:p>
        </p:txBody>
      </p:sp>
      <p:sp>
        <p:nvSpPr>
          <p:cNvPr id="17" name="slide-28-text-15"/>
          <p:cNvSpPr/>
          <p:nvPr/>
        </p:nvSpPr>
        <p:spPr>
          <a:xfrm>
            <a:off x="6438900" y="3634740"/>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&lt;/button&gt;</a:t>
            </a:r>
            <a:endParaRPr lang="en-US" sz="1575" dirty="0"/>
          </a:p>
        </p:txBody>
      </p:sp>
      <p:sp>
        <p:nvSpPr>
          <p:cNvPr id="18" name="slide-28-text-16"/>
          <p:cNvSpPr/>
          <p:nvPr/>
        </p:nvSpPr>
        <p:spPr>
          <a:xfrm>
            <a:off x="6229350" y="4895850"/>
            <a:ext cx="5334000" cy="1104900"/>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React calls it for a click.</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handler updates count and log.</a:t>
            </a:r>
            <a:endParaRPr lang="en-US" sz="1950" dirty="0"/>
          </a:p>
        </p:txBody>
      </p:sp>
      <p:sp>
        <p:nvSpPr>
          <p:cNvPr id="19" name="slide-28-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Mouse Events JSX | EventsDemo.tsx:69</a:t>
            </a:r>
            <a:endParaRPr lang="en-US" sz="1275" dirty="0"/>
          </a:p>
        </p:txBody>
      </p:sp>
      <p:sp>
        <p:nvSpPr>
          <p:cNvPr id="20" name="slide-28-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4. Events / Mouse events</a:t>
            </a:r>
            <a:endParaRPr lang="en-US" sz="1275" dirty="0"/>
          </a:p>
        </p:txBody>
      </p:sp>
      <p:sp>
        <p:nvSpPr>
          <p:cNvPr id="21" name="slide-28-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28 / 65</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A"/>
        </a:solidFill>
      </p:bgPr>
    </p:bg>
    <p:spTree>
      <p:nvGrpSpPr>
        <p:cNvPr id="1" name=""/>
        <p:cNvGrpSpPr/>
        <p:nvPr/>
      </p:nvGrpSpPr>
      <p:grpSpPr>
        <a:xfrm>
          <a:off x="0" y="0"/>
          <a:ext cx="0" cy="0"/>
          <a:chOff x="0" y="0"/>
          <a:chExt cx="0" cy="0"/>
        </a:xfrm>
      </p:grpSpPr>
      <p:sp>
        <p:nvSpPr>
          <p:cNvPr id="2" name="slide-29-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29-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Use event data instead of guessing</a:t>
            </a:r>
            <a:endParaRPr lang="en-US" sz="3600" dirty="0"/>
          </a:p>
        </p:txBody>
      </p:sp>
      <p:sp>
        <p:nvSpPr>
          <p:cNvPr id="4" name="slide-29-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keyboard handler responds to Enter and reads the input it is attached to.</a:t>
            </a:r>
            <a:endParaRPr lang="en-US" sz="1875" dirty="0"/>
          </a:p>
        </p:txBody>
      </p:sp>
      <p:sp>
        <p:nvSpPr>
          <p:cNvPr id="5" name="slide-29-rect-3"/>
          <p:cNvSpPr/>
          <p:nvPr/>
        </p:nvSpPr>
        <p:spPr>
          <a:xfrm>
            <a:off x="609600" y="2114550"/>
            <a:ext cx="8096250" cy="4095750"/>
          </a:xfrm>
          <a:prstGeom prst="roundRect">
            <a:avLst>
              <a:gd name="adj" fmla="val 2326"/>
            </a:avLst>
          </a:prstGeom>
          <a:solidFill>
            <a:srgbClr val="152B2A"/>
          </a:solidFill>
          <a:ln w="12700">
            <a:solidFill>
              <a:srgbClr val="152B2A">
                <a:alpha val="0"/>
              </a:srgbClr>
            </a:solidFill>
            <a:prstDash val="solid"/>
          </a:ln>
        </p:spPr>
      </p:sp>
      <p:sp>
        <p:nvSpPr>
          <p:cNvPr id="6" name="slide-29-text-4"/>
          <p:cNvSpPr/>
          <p:nvPr/>
        </p:nvSpPr>
        <p:spPr>
          <a:xfrm>
            <a:off x="838200" y="2305050"/>
            <a:ext cx="763905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EVENTSDEMO / CURRENT KEYBOARD HANDLER</a:t>
            </a:r>
            <a:endParaRPr lang="en-US" sz="1350" dirty="0"/>
          </a:p>
        </p:txBody>
      </p:sp>
      <p:sp>
        <p:nvSpPr>
          <p:cNvPr id="7" name="slide-29-text-5"/>
          <p:cNvSpPr/>
          <p:nvPr/>
        </p:nvSpPr>
        <p:spPr>
          <a:xfrm>
            <a:off x="838200" y="268605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handleKeyDown = (</a:t>
            </a:r>
            <a:endParaRPr lang="en-US" sz="1575" dirty="0"/>
          </a:p>
        </p:txBody>
      </p:sp>
      <p:sp>
        <p:nvSpPr>
          <p:cNvPr id="8" name="slide-29-text-6"/>
          <p:cNvSpPr/>
          <p:nvPr/>
        </p:nvSpPr>
        <p:spPr>
          <a:xfrm>
            <a:off x="838200" y="294608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 React.KeyboardEvent&lt;HTMLInputElement&gt;</a:t>
            </a:r>
            <a:endParaRPr lang="en-US" sz="1575" dirty="0"/>
          </a:p>
        </p:txBody>
      </p:sp>
      <p:sp>
        <p:nvSpPr>
          <p:cNvPr id="9" name="slide-29-text-7"/>
          <p:cNvSpPr/>
          <p:nvPr/>
        </p:nvSpPr>
        <p:spPr>
          <a:xfrm>
            <a:off x="838200" y="320611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 {</a:t>
            </a:r>
            <a:endParaRPr lang="en-US" sz="1575" dirty="0"/>
          </a:p>
        </p:txBody>
      </p:sp>
      <p:sp>
        <p:nvSpPr>
          <p:cNvPr id="10" name="slide-29-text-8"/>
          <p:cNvSpPr/>
          <p:nvPr/>
        </p:nvSpPr>
        <p:spPr>
          <a:xfrm>
            <a:off x="838200" y="3466148"/>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(e.key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'Enter'</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1" name="slide-29-text-9"/>
          <p:cNvSpPr/>
          <p:nvPr/>
        </p:nvSpPr>
        <p:spPr>
          <a:xfrm>
            <a:off x="838200" y="372618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log(</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`Enter pressed! Value: "${e.currentTarget.value}"`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29-text-10"/>
          <p:cNvSpPr/>
          <p:nvPr/>
        </p:nvSpPr>
        <p:spPr>
          <a:xfrm>
            <a:off x="838200" y="398621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29-text-11"/>
          <p:cNvSpPr/>
          <p:nvPr/>
        </p:nvSpPr>
        <p:spPr>
          <a:xfrm>
            <a:off x="838200" y="424624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29-text-12"/>
          <p:cNvSpPr/>
          <p:nvPr/>
        </p:nvSpPr>
        <p:spPr>
          <a:xfrm>
            <a:off x="9010650" y="21907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FILTER</a:t>
            </a:r>
            <a:endParaRPr lang="en-US" sz="1350" dirty="0"/>
          </a:p>
        </p:txBody>
      </p:sp>
      <p:sp>
        <p:nvSpPr>
          <p:cNvPr id="15" name="slide-29-text-13"/>
          <p:cNvSpPr/>
          <p:nvPr/>
        </p:nvSpPr>
        <p:spPr>
          <a:xfrm>
            <a:off x="9010650" y="25336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Only Enter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creates a log.</a:t>
            </a:r>
            <a:endParaRPr lang="en-US" sz="1950" dirty="0"/>
          </a:p>
        </p:txBody>
      </p:sp>
      <p:sp>
        <p:nvSpPr>
          <p:cNvPr id="16" name="slide-29-text-14"/>
          <p:cNvSpPr/>
          <p:nvPr/>
        </p:nvSpPr>
        <p:spPr>
          <a:xfrm>
            <a:off x="9010650" y="355600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READ</a:t>
            </a:r>
            <a:endParaRPr lang="en-US" sz="1350" dirty="0"/>
          </a:p>
        </p:txBody>
      </p:sp>
      <p:sp>
        <p:nvSpPr>
          <p:cNvPr id="17" name="slide-29-text-15"/>
          <p:cNvSpPr/>
          <p:nvPr/>
        </p:nvSpPr>
        <p:spPr>
          <a:xfrm>
            <a:off x="9010650" y="389890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currentTarget is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input.</a:t>
            </a:r>
            <a:endParaRPr lang="en-US" sz="1950" dirty="0"/>
          </a:p>
        </p:txBody>
      </p:sp>
      <p:sp>
        <p:nvSpPr>
          <p:cNvPr id="18" name="slide-29-text-16"/>
          <p:cNvSpPr/>
          <p:nvPr/>
        </p:nvSpPr>
        <p:spPr>
          <a:xfrm>
            <a:off x="9010650" y="49212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OBSERVE</a:t>
            </a:r>
            <a:endParaRPr lang="en-US" sz="1350" dirty="0"/>
          </a:p>
        </p:txBody>
      </p:sp>
      <p:sp>
        <p:nvSpPr>
          <p:cNvPr id="19" name="slide-29-text-17"/>
          <p:cNvSpPr/>
          <p:nvPr/>
        </p:nvSpPr>
        <p:spPr>
          <a:xfrm>
            <a:off x="9010650" y="52641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latest entry</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appears first.</a:t>
            </a:r>
            <a:endParaRPr lang="en-US" sz="1950" dirty="0"/>
          </a:p>
        </p:txBody>
      </p:sp>
      <p:sp>
        <p:nvSpPr>
          <p:cNvPr id="20" name="slide-29-text-18">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handleKeyDown | EventsDemo.tsx:35</a:t>
            </a:r>
            <a:endParaRPr lang="en-US" sz="1275" dirty="0"/>
          </a:p>
        </p:txBody>
      </p:sp>
      <p:sp>
        <p:nvSpPr>
          <p:cNvPr id="21" name="slide-29-text-19">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4. Events / Keyboard events</a:t>
            </a:r>
            <a:endParaRPr lang="en-US" sz="1275" dirty="0"/>
          </a:p>
        </p:txBody>
      </p:sp>
      <p:sp>
        <p:nvSpPr>
          <p:cNvPr id="22" name="slide-29-text-20"/>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29 / 65</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A"/>
        </a:solidFill>
      </p:bgPr>
    </p:bg>
    <p:spTree>
      <p:nvGrpSpPr>
        <p:cNvPr id="1" name=""/>
        <p:cNvGrpSpPr/>
        <p:nvPr/>
      </p:nvGrpSpPr>
      <p:grpSpPr>
        <a:xfrm>
          <a:off x="0" y="0"/>
          <a:ext cx="0" cy="0"/>
          <a:chOff x="0" y="0"/>
          <a:chExt cx="0" cy="0"/>
        </a:xfrm>
      </p:grpSpPr>
      <p:sp>
        <p:nvSpPr>
          <p:cNvPr id="2" name="slide-30-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30-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FormData can read a native form</a:t>
            </a:r>
            <a:endParaRPr lang="en-US" sz="3600" dirty="0"/>
          </a:p>
        </p:txBody>
      </p:sp>
      <p:sp>
        <p:nvSpPr>
          <p:cNvPr id="4" name="slide-30-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EventsDemo records a submission without reloading the document.</a:t>
            </a:r>
            <a:endParaRPr lang="en-US" sz="1875" dirty="0"/>
          </a:p>
        </p:txBody>
      </p:sp>
      <p:sp>
        <p:nvSpPr>
          <p:cNvPr id="5" name="slide-30-rect-3"/>
          <p:cNvSpPr/>
          <p:nvPr/>
        </p:nvSpPr>
        <p:spPr>
          <a:xfrm>
            <a:off x="609600" y="2114550"/>
            <a:ext cx="8096250" cy="4095750"/>
          </a:xfrm>
          <a:prstGeom prst="roundRect">
            <a:avLst>
              <a:gd name="adj" fmla="val 2326"/>
            </a:avLst>
          </a:prstGeom>
          <a:solidFill>
            <a:srgbClr val="152B2A"/>
          </a:solidFill>
          <a:ln w="12700">
            <a:solidFill>
              <a:srgbClr val="152B2A">
                <a:alpha val="0"/>
              </a:srgbClr>
            </a:solidFill>
            <a:prstDash val="solid"/>
          </a:ln>
        </p:spPr>
      </p:sp>
      <p:sp>
        <p:nvSpPr>
          <p:cNvPr id="6" name="slide-30-text-4"/>
          <p:cNvSpPr/>
          <p:nvPr/>
        </p:nvSpPr>
        <p:spPr>
          <a:xfrm>
            <a:off x="838200" y="2305050"/>
            <a:ext cx="763905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EVENTSDEMO / CURRENT SUBMIT HANDLER</a:t>
            </a:r>
            <a:endParaRPr lang="en-US" sz="1350" dirty="0"/>
          </a:p>
        </p:txBody>
      </p:sp>
      <p:sp>
        <p:nvSpPr>
          <p:cNvPr id="7" name="slide-30-text-5"/>
          <p:cNvSpPr/>
          <p:nvPr/>
        </p:nvSpPr>
        <p:spPr>
          <a:xfrm>
            <a:off x="838200" y="268605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handleFormSubmit = (</a:t>
            </a:r>
            <a:endParaRPr lang="en-US" sz="1575" dirty="0"/>
          </a:p>
        </p:txBody>
      </p:sp>
      <p:sp>
        <p:nvSpPr>
          <p:cNvPr id="8" name="slide-30-text-6"/>
          <p:cNvSpPr/>
          <p:nvPr/>
        </p:nvSpPr>
        <p:spPr>
          <a:xfrm>
            <a:off x="838200" y="294608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 React.FormEvent&lt;HTMLFormElement&gt;</a:t>
            </a:r>
            <a:endParaRPr lang="en-US" sz="1575" dirty="0"/>
          </a:p>
        </p:txBody>
      </p:sp>
      <p:sp>
        <p:nvSpPr>
          <p:cNvPr id="9" name="slide-30-text-7"/>
          <p:cNvSpPr/>
          <p:nvPr/>
        </p:nvSpPr>
        <p:spPr>
          <a:xfrm>
            <a:off x="838200" y="320611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=&gt; {</a:t>
            </a:r>
            <a:endParaRPr lang="en-US" sz="1575" dirty="0"/>
          </a:p>
        </p:txBody>
      </p:sp>
      <p:sp>
        <p:nvSpPr>
          <p:cNvPr id="10" name="slide-30-text-8"/>
          <p:cNvSpPr/>
          <p:nvPr/>
        </p:nvSpPr>
        <p:spPr>
          <a:xfrm>
            <a:off x="838200" y="3466148"/>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e.preventDefault();</a:t>
            </a:r>
            <a:endParaRPr lang="en-US" sz="1575" dirty="0"/>
          </a:p>
        </p:txBody>
      </p:sp>
      <p:sp>
        <p:nvSpPr>
          <p:cNvPr id="11" name="slide-30-text-9"/>
          <p:cNvSpPr/>
          <p:nvPr/>
        </p:nvSpPr>
        <p:spPr>
          <a:xfrm>
            <a:off x="838200" y="372618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formData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new</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FormData(e.currentTarget);</a:t>
            </a:r>
            <a:endParaRPr lang="en-US" sz="1575" dirty="0"/>
          </a:p>
        </p:txBody>
      </p:sp>
      <p:sp>
        <p:nvSpPr>
          <p:cNvPr id="12" name="slide-30-text-10"/>
          <p:cNvSpPr/>
          <p:nvPr/>
        </p:nvSpPr>
        <p:spPr>
          <a:xfrm>
            <a:off x="838200" y="398621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log(</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`Form submitted with: "${formData.get('demo-input')}"`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30-text-11"/>
          <p:cNvSpPr/>
          <p:nvPr/>
        </p:nvSpPr>
        <p:spPr>
          <a:xfrm>
            <a:off x="838200" y="424624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30-text-12"/>
          <p:cNvSpPr/>
          <p:nvPr/>
        </p:nvSpPr>
        <p:spPr>
          <a:xfrm>
            <a:off x="9010650" y="21907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CANCEL</a:t>
            </a:r>
            <a:endParaRPr lang="en-US" sz="1350" dirty="0"/>
          </a:p>
        </p:txBody>
      </p:sp>
      <p:sp>
        <p:nvSpPr>
          <p:cNvPr id="15" name="slide-30-text-13"/>
          <p:cNvSpPr/>
          <p:nvPr/>
        </p:nvSpPr>
        <p:spPr>
          <a:xfrm>
            <a:off x="9010650" y="25336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Prevent native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form submission.</a:t>
            </a:r>
            <a:endParaRPr lang="en-US" sz="1950" dirty="0"/>
          </a:p>
        </p:txBody>
      </p:sp>
      <p:sp>
        <p:nvSpPr>
          <p:cNvPr id="16" name="slide-30-text-14"/>
          <p:cNvSpPr/>
          <p:nvPr/>
        </p:nvSpPr>
        <p:spPr>
          <a:xfrm>
            <a:off x="9010650" y="355600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COLLECT</a:t>
            </a:r>
            <a:endParaRPr lang="en-US" sz="1350" dirty="0"/>
          </a:p>
        </p:txBody>
      </p:sp>
      <p:sp>
        <p:nvSpPr>
          <p:cNvPr id="17" name="slide-30-text-15"/>
          <p:cNvSpPr/>
          <p:nvPr/>
        </p:nvSpPr>
        <p:spPr>
          <a:xfrm>
            <a:off x="9010650" y="389890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Read named fields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from the form.</a:t>
            </a:r>
            <a:endParaRPr lang="en-US" sz="1950" dirty="0"/>
          </a:p>
        </p:txBody>
      </p:sp>
      <p:sp>
        <p:nvSpPr>
          <p:cNvPr id="18" name="slide-30-text-16"/>
          <p:cNvSpPr/>
          <p:nvPr/>
        </p:nvSpPr>
        <p:spPr>
          <a:xfrm>
            <a:off x="9010650" y="49212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CURRENT SCOPE</a:t>
            </a:r>
            <a:endParaRPr lang="en-US" sz="1350" dirty="0"/>
          </a:p>
        </p:txBody>
      </p:sp>
      <p:sp>
        <p:nvSpPr>
          <p:cNvPr id="19" name="slide-30-text-17"/>
          <p:cNvSpPr/>
          <p:nvPr/>
        </p:nvSpPr>
        <p:spPr>
          <a:xfrm>
            <a:off x="9010650" y="52641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Log a value;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 API request.</a:t>
            </a:r>
            <a:endParaRPr lang="en-US" sz="1950" dirty="0"/>
          </a:p>
        </p:txBody>
      </p:sp>
      <p:sp>
        <p:nvSpPr>
          <p:cNvPr id="20" name="slide-30-text-18">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handleFormSubmit | EventsDemo.tsx:42</a:t>
            </a:r>
            <a:endParaRPr lang="en-US" sz="1275" dirty="0"/>
          </a:p>
        </p:txBody>
      </p:sp>
      <p:sp>
        <p:nvSpPr>
          <p:cNvPr id="21" name="slide-30-text-19">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4. Events / Form submission</a:t>
            </a:r>
            <a:endParaRPr lang="en-US" sz="1275" dirty="0"/>
          </a:p>
        </p:txBody>
      </p:sp>
      <p:sp>
        <p:nvSpPr>
          <p:cNvPr id="22" name="slide-30-text-20"/>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30 / 65</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A"/>
        </a:solidFill>
      </p:bgPr>
    </p:bg>
    <p:spTree>
      <p:nvGrpSpPr>
        <p:cNvPr id="1" name=""/>
        <p:cNvGrpSpPr/>
        <p:nvPr/>
      </p:nvGrpSpPr>
      <p:grpSpPr>
        <a:xfrm>
          <a:off x="0" y="0"/>
          <a:ext cx="0" cy="0"/>
          <a:chOff x="0" y="0"/>
          <a:chExt cx="0" cy="0"/>
        </a:xfrm>
      </p:grpSpPr>
      <p:sp>
        <p:nvSpPr>
          <p:cNvPr id="2" name="slide-3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31-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Cancel a default, not every behavior</a:t>
            </a:r>
            <a:endParaRPr lang="en-US" sz="3600" dirty="0"/>
          </a:p>
        </p:txBody>
      </p:sp>
      <p:sp>
        <p:nvSpPr>
          <p:cNvPr id="4" name="slide-31-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Other preventDefault uses are demonstrations, not UI recommendations.</a:t>
            </a:r>
            <a:endParaRPr lang="en-US" sz="1875" dirty="0"/>
          </a:p>
        </p:txBody>
      </p:sp>
      <p:sp>
        <p:nvSpPr>
          <p:cNvPr id="5" name="slide-31-rect-3"/>
          <p:cNvSpPr/>
          <p:nvPr/>
        </p:nvSpPr>
        <p:spPr>
          <a:xfrm>
            <a:off x="609600" y="2228850"/>
            <a:ext cx="3479800" cy="3067050"/>
          </a:xfrm>
          <a:prstGeom prst="roundRect">
            <a:avLst>
              <a:gd name="adj" fmla="val 3106"/>
            </a:avLst>
          </a:prstGeom>
          <a:solidFill>
            <a:srgbClr val="FFFFFF"/>
          </a:solidFill>
          <a:ln w="9525">
            <a:solidFill>
              <a:srgbClr val="D4DBD0"/>
            </a:solidFill>
            <a:prstDash val="solid"/>
          </a:ln>
        </p:spPr>
      </p:sp>
      <p:sp>
        <p:nvSpPr>
          <p:cNvPr id="6" name="slide-31-text-4"/>
          <p:cNvSpPr/>
          <p:nvPr/>
        </p:nvSpPr>
        <p:spPr>
          <a:xfrm>
            <a:off x="838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LINK</a:t>
            </a:r>
            <a:endParaRPr lang="en-US" sz="1350" dirty="0"/>
          </a:p>
        </p:txBody>
      </p:sp>
      <p:sp>
        <p:nvSpPr>
          <p:cNvPr id="7" name="slide-31-text-5"/>
          <p:cNvSpPr/>
          <p:nvPr/>
        </p:nvSpPr>
        <p:spPr>
          <a:xfrm>
            <a:off x="838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Stay on this page</a:t>
            </a:r>
            <a:endParaRPr lang="en-US" sz="2400" dirty="0"/>
          </a:p>
        </p:txBody>
      </p:sp>
      <p:sp>
        <p:nvSpPr>
          <p:cNvPr id="8" name="slide-31-text-6"/>
          <p:cNvSpPr/>
          <p:nvPr/>
        </p:nvSpPr>
        <p:spPr>
          <a:xfrm>
            <a:off x="838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handleLinkClick</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cancels navigation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and records a message.</a:t>
            </a:r>
            <a:endParaRPr lang="en-US" sz="1950" dirty="0"/>
          </a:p>
        </p:txBody>
      </p:sp>
      <p:sp>
        <p:nvSpPr>
          <p:cNvPr id="9" name="slide-31-rect-7"/>
          <p:cNvSpPr/>
          <p:nvPr/>
        </p:nvSpPr>
        <p:spPr>
          <a:xfrm>
            <a:off x="4356100" y="2228850"/>
            <a:ext cx="3479800" cy="3067050"/>
          </a:xfrm>
          <a:prstGeom prst="roundRect">
            <a:avLst>
              <a:gd name="adj" fmla="val 3106"/>
            </a:avLst>
          </a:prstGeom>
          <a:solidFill>
            <a:srgbClr val="FFFFFF"/>
          </a:solidFill>
          <a:ln w="9525">
            <a:solidFill>
              <a:srgbClr val="D4DBD0"/>
            </a:solidFill>
            <a:prstDash val="solid"/>
          </a:ln>
        </p:spPr>
      </p:sp>
      <p:sp>
        <p:nvSpPr>
          <p:cNvPr id="10" name="slide-31-text-8"/>
          <p:cNvSpPr/>
          <p:nvPr/>
        </p:nvSpPr>
        <p:spPr>
          <a:xfrm>
            <a:off x="45847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CONTEXT MENU</a:t>
            </a:r>
            <a:endParaRPr lang="en-US" sz="1350" dirty="0"/>
          </a:p>
        </p:txBody>
      </p:sp>
      <p:sp>
        <p:nvSpPr>
          <p:cNvPr id="11" name="slide-31-text-9"/>
          <p:cNvSpPr/>
          <p:nvPr/>
        </p:nvSpPr>
        <p:spPr>
          <a:xfrm>
            <a:off x="45847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Suppress the menu</a:t>
            </a:r>
            <a:endParaRPr lang="en-US" sz="2400" dirty="0"/>
          </a:p>
        </p:txBody>
      </p:sp>
      <p:sp>
        <p:nvSpPr>
          <p:cNvPr id="12" name="slide-31-text-10"/>
          <p:cNvSpPr/>
          <p:nvPr/>
        </p:nvSpPr>
        <p:spPr>
          <a:xfrm>
            <a:off x="45847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handleRightClick</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cancels the browser's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context menu.</a:t>
            </a:r>
            <a:endParaRPr lang="en-US" sz="1950" dirty="0"/>
          </a:p>
        </p:txBody>
      </p:sp>
      <p:sp>
        <p:nvSpPr>
          <p:cNvPr id="13" name="slide-31-rect-11"/>
          <p:cNvSpPr/>
          <p:nvPr/>
        </p:nvSpPr>
        <p:spPr>
          <a:xfrm>
            <a:off x="8102600" y="2228850"/>
            <a:ext cx="3479800" cy="3067050"/>
          </a:xfrm>
          <a:prstGeom prst="roundRect">
            <a:avLst>
              <a:gd name="adj" fmla="val 3106"/>
            </a:avLst>
          </a:prstGeom>
          <a:solidFill>
            <a:srgbClr val="FFFFFF"/>
          </a:solidFill>
          <a:ln w="9525">
            <a:solidFill>
              <a:srgbClr val="D4DBD0"/>
            </a:solidFill>
            <a:prstDash val="solid"/>
          </a:ln>
        </p:spPr>
      </p:sp>
      <p:sp>
        <p:nvSpPr>
          <p:cNvPr id="14" name="slide-31-text-12"/>
          <p:cNvSpPr/>
          <p:nvPr/>
        </p:nvSpPr>
        <p:spPr>
          <a:xfrm>
            <a:off x="8331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DISTINCTION</a:t>
            </a:r>
            <a:endParaRPr lang="en-US" sz="1350" dirty="0"/>
          </a:p>
        </p:txBody>
      </p:sp>
      <p:sp>
        <p:nvSpPr>
          <p:cNvPr id="15" name="slide-31-text-13"/>
          <p:cNvSpPr/>
          <p:nvPr/>
        </p:nvSpPr>
        <p:spPr>
          <a:xfrm>
            <a:off x="8331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Bubbling is separate</a:t>
            </a:r>
            <a:endParaRPr lang="en-US" sz="2400" dirty="0"/>
          </a:p>
        </p:txBody>
      </p:sp>
      <p:sp>
        <p:nvSpPr>
          <p:cNvPr id="16" name="slide-31-text-14"/>
          <p:cNvSpPr/>
          <p:nvPr/>
        </p:nvSpPr>
        <p:spPr>
          <a:xfrm>
            <a:off x="8331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preventDefault is not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stopPropagation.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Use each deliberately.</a:t>
            </a:r>
            <a:endParaRPr lang="en-US" sz="1950" dirty="0"/>
          </a:p>
        </p:txBody>
      </p:sp>
      <p:sp>
        <p:nvSpPr>
          <p:cNvPr id="17" name="slide-31-rect-15"/>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8" name="slide-31-text-16"/>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Preserve expected navigation and keyboard access in real interfaces.</a:t>
            </a:r>
            <a:endParaRPr lang="en-US" sz="1875" dirty="0"/>
          </a:p>
        </p:txBody>
      </p:sp>
      <p:sp>
        <p:nvSpPr>
          <p:cNvPr id="19" name="slide-31-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handleLinkClick | EventsDemo.tsx:54</a:t>
            </a:r>
            <a:endParaRPr lang="en-US" sz="1275" dirty="0"/>
          </a:p>
        </p:txBody>
      </p:sp>
      <p:sp>
        <p:nvSpPr>
          <p:cNvPr id="20" name="slide-31-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4. Events / Browser defaults</a:t>
            </a:r>
            <a:endParaRPr lang="en-US" sz="1275" dirty="0"/>
          </a:p>
        </p:txBody>
      </p:sp>
      <p:sp>
        <p:nvSpPr>
          <p:cNvPr id="21" name="slide-31-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31 / 65</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A"/>
        </a:solidFill>
      </p:bgPr>
    </p:bg>
    <p:spTree>
      <p:nvGrpSpPr>
        <p:cNvPr id="1" name=""/>
        <p:cNvGrpSpPr/>
        <p:nvPr/>
      </p:nvGrpSpPr>
      <p:grpSpPr>
        <a:xfrm>
          <a:off x="0" y="0"/>
          <a:ext cx="0" cy="0"/>
          <a:chOff x="0" y="0"/>
          <a:chExt cx="0" cy="0"/>
        </a:xfrm>
      </p:grpSpPr>
      <p:sp>
        <p:nvSpPr>
          <p:cNvPr id="2" name="slide-3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3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A log is state with an explicit policy</a:t>
            </a:r>
            <a:endParaRPr lang="en-US" sz="3600" dirty="0"/>
          </a:p>
        </p:txBody>
      </p:sp>
      <p:sp>
        <p:nvSpPr>
          <p:cNvPr id="4" name="slide-3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EventsDemo keeps the newest twenty messages, not an unbounded history.</a:t>
            </a:r>
            <a:endParaRPr lang="en-US" sz="1875" dirty="0"/>
          </a:p>
        </p:txBody>
      </p:sp>
      <p:sp>
        <p:nvSpPr>
          <p:cNvPr id="5" name="slide-32-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32-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EVENTSDEMO / CURRENT LOG, REFLOWED</a:t>
            </a:r>
            <a:endParaRPr lang="en-US" sz="1350" dirty="0"/>
          </a:p>
        </p:txBody>
      </p:sp>
      <p:sp>
        <p:nvSpPr>
          <p:cNvPr id="7" name="slide-32-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log = (msg: string) =&gt; {</a:t>
            </a:r>
            <a:endParaRPr lang="en-US" sz="1575" dirty="0"/>
          </a:p>
        </p:txBody>
      </p:sp>
      <p:sp>
        <p:nvSpPr>
          <p:cNvPr id="8" name="slide-32-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setLogs(prev =&gt; [</a:t>
            </a:r>
            <a:endParaRPr lang="en-US" sz="1575" dirty="0"/>
          </a:p>
        </p:txBody>
      </p:sp>
      <p:sp>
        <p:nvSpPr>
          <p:cNvPr id="9" name="slide-32-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`${new Date().toLocaleTimeString()} — ${msg}`</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0" name="slide-32-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...prev</a:t>
            </a:r>
            <a:endParaRPr lang="en-US" sz="1575" dirty="0"/>
          </a:p>
        </p:txBody>
      </p:sp>
      <p:sp>
        <p:nvSpPr>
          <p:cNvPr id="11" name="slide-32-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].slice(</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20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32-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32-text-11"/>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PREPEND</a:t>
            </a:r>
            <a:endParaRPr lang="en-US" sz="1350" dirty="0"/>
          </a:p>
        </p:txBody>
      </p:sp>
      <p:sp>
        <p:nvSpPr>
          <p:cNvPr id="14" name="slide-32-text-12"/>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Newest message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comes first.</a:t>
            </a:r>
            <a:endParaRPr lang="en-US" sz="1950" dirty="0"/>
          </a:p>
        </p:txBody>
      </p:sp>
      <p:sp>
        <p:nvSpPr>
          <p:cNvPr id="15" name="slide-32-text-13"/>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BOUND</a:t>
            </a:r>
            <a:endParaRPr lang="en-US" sz="1350" dirty="0"/>
          </a:p>
        </p:txBody>
      </p:sp>
      <p:sp>
        <p:nvSpPr>
          <p:cNvPr id="16" name="slide-32-text-14"/>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slice keeps at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most twenty.</a:t>
            </a:r>
            <a:endParaRPr lang="en-US" sz="1950" dirty="0"/>
          </a:p>
        </p:txBody>
      </p:sp>
      <p:sp>
        <p:nvSpPr>
          <p:cNvPr id="17" name="slide-32-text-15"/>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CLEAR</a:t>
            </a:r>
            <a:endParaRPr lang="en-US" sz="1350" dirty="0"/>
          </a:p>
        </p:txBody>
      </p:sp>
      <p:sp>
        <p:nvSpPr>
          <p:cNvPr id="18" name="slide-32-text-16"/>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Clear button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sets logs to [].</a:t>
            </a:r>
            <a:endParaRPr lang="en-US" sz="1950" dirty="0"/>
          </a:p>
        </p:txBody>
      </p:sp>
      <p:sp>
        <p:nvSpPr>
          <p:cNvPr id="19" name="slide-32-rect-17"/>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0" name="slide-32-text-18"/>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State models a product decision: what to keep, how to order it and how to clear it.</a:t>
            </a:r>
            <a:endParaRPr lang="en-US" sz="1875" dirty="0"/>
          </a:p>
        </p:txBody>
      </p:sp>
      <p:sp>
        <p:nvSpPr>
          <p:cNvPr id="21" name="slide-32-text-19">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log | EventsDemo.tsx:20</a:t>
            </a:r>
            <a:endParaRPr lang="en-US" sz="1275" dirty="0"/>
          </a:p>
        </p:txBody>
      </p:sp>
      <p:sp>
        <p:nvSpPr>
          <p:cNvPr id="22" name="slide-32-text-20">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4. Events / Event log</a:t>
            </a:r>
            <a:endParaRPr lang="en-US" sz="1275" dirty="0"/>
          </a:p>
        </p:txBody>
      </p:sp>
      <p:sp>
        <p:nvSpPr>
          <p:cNvPr id="23" name="slide-32-text-21"/>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32 / 65</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3EA"/>
        </a:solidFill>
      </p:bgPr>
    </p:bg>
    <p:spTree>
      <p:nvGrpSpPr>
        <p:cNvPr id="1" name=""/>
        <p:cNvGrpSpPr/>
        <p:nvPr/>
      </p:nvGrpSpPr>
      <p:grpSpPr>
        <a:xfrm>
          <a:off x="0" y="0"/>
          <a:ext cx="0" cy="0"/>
          <a:chOff x="0" y="0"/>
          <a:chExt cx="0" cy="0"/>
        </a:xfrm>
      </p:grpSpPr>
      <p:sp>
        <p:nvSpPr>
          <p:cNvPr id="2" name="slide-3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02 / PROPS, STATE AND EVENTS</a:t>
            </a:r>
            <a:endParaRPr lang="en-US" sz="1350" dirty="0"/>
          </a:p>
        </p:txBody>
      </p:sp>
      <p:sp>
        <p:nvSpPr>
          <p:cNvPr id="3" name="slide-3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Practice: explain and strengthen the form</a:t>
            </a:r>
            <a:endParaRPr lang="en-US" sz="3600" dirty="0"/>
          </a:p>
        </p:txBody>
      </p:sp>
      <p:sp>
        <p:nvSpPr>
          <p:cNvPr id="4" name="slide-3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Start with StateDemo's existing behavior before proposing changes.</a:t>
            </a:r>
            <a:endParaRPr lang="en-US" sz="1875" dirty="0"/>
          </a:p>
        </p:txBody>
      </p:sp>
      <p:sp>
        <p:nvSpPr>
          <p:cNvPr id="5" name="slide-33-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33-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01</a:t>
            </a:r>
            <a:endParaRPr lang="en-US" sz="5700" dirty="0"/>
          </a:p>
        </p:txBody>
      </p:sp>
      <p:sp>
        <p:nvSpPr>
          <p:cNvPr id="7" name="slide-33-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TRY</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TRACE</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IMPROVE</a:t>
            </a:r>
            <a:endParaRPr lang="en-US" sz="1725" dirty="0"/>
          </a:p>
        </p:txBody>
      </p:sp>
      <p:sp>
        <p:nvSpPr>
          <p:cNvPr id="8" name="slide-33-text-6"/>
          <p:cNvSpPr/>
          <p:nvPr/>
        </p:nvSpPr>
        <p:spPr>
          <a:xfrm>
            <a:off x="2533650" y="2333625"/>
            <a:ext cx="5238750" cy="2667000"/>
          </a:xfrm>
          <a:prstGeom prst="rect">
            <a:avLst/>
          </a:prstGeom>
          <a:noFill/>
          <a:ln/>
        </p:spPr>
        <p:txBody>
          <a:bodyPr wrap="square" lIns="0" tIns="0" rIns="0" bIns="0" rtlCol="0" anchor="t"/>
          <a:lstStyle/>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Submit blank fields.</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Fix the age error.</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Submit valid values.</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Reset the form.</a:t>
            </a:r>
            <a:endParaRPr lang="en-US" sz="2775" dirty="0"/>
          </a:p>
        </p:txBody>
      </p:sp>
      <p:sp>
        <p:nvSpPr>
          <p:cNvPr id="9" name="slide-33-text-7"/>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0" name="slide-33-text-8"/>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Name each state owner.</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Trace updateField.</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Find one input edge case.</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Propose one improvement.</a:t>
            </a:r>
            <a:endParaRPr lang="en-US" sz="2100" dirty="0"/>
          </a:p>
        </p:txBody>
      </p:sp>
      <p:sp>
        <p:nvSpPr>
          <p:cNvPr id="11" name="slide-33-rect-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2" name="slide-33-text-1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Separate what the app already does from the change you would implement next.</a:t>
            </a:r>
            <a:endParaRPr lang="en-US" sz="1875" dirty="0"/>
          </a:p>
        </p:txBody>
      </p:sp>
      <p:sp>
        <p:nvSpPr>
          <p:cNvPr id="13" name="slide-33-text-1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FormState | StateDemo.tsx:88</a:t>
            </a:r>
            <a:endParaRPr lang="en-US" sz="1275" dirty="0"/>
          </a:p>
        </p:txBody>
      </p:sp>
      <p:sp>
        <p:nvSpPr>
          <p:cNvPr id="14" name="slide-33-text-1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3. State / Registration form</a:t>
            </a:r>
            <a:endParaRPr lang="en-US" sz="1275" dirty="0"/>
          </a:p>
        </p:txBody>
      </p:sp>
      <p:sp>
        <p:nvSpPr>
          <p:cNvPr id="15" name="slide-33-text-1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33 / 65</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3EA"/>
        </a:solidFill>
      </p:bgPr>
    </p:bg>
    <p:spTree>
      <p:nvGrpSpPr>
        <p:cNvPr id="1" name=""/>
        <p:cNvGrpSpPr/>
        <p:nvPr/>
      </p:nvGrpSpPr>
      <p:grpSpPr>
        <a:xfrm>
          <a:off x="0" y="0"/>
          <a:ext cx="0" cy="0"/>
          <a:chOff x="0" y="0"/>
          <a:chExt cx="0" cy="0"/>
        </a:xfrm>
      </p:grpSpPr>
      <p:sp>
        <p:nvSpPr>
          <p:cNvPr id="2" name="slide-3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3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Hooks have rules because order matters</a:t>
            </a:r>
            <a:endParaRPr lang="en-US" sz="3600" dirty="0"/>
          </a:p>
        </p:txBody>
      </p:sp>
      <p:sp>
        <p:nvSpPr>
          <p:cNvPr id="4" name="slide-3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CustomHooksDemo calls its hooks before deciding what to render.</a:t>
            </a:r>
            <a:endParaRPr lang="en-US" sz="1875" dirty="0"/>
          </a:p>
        </p:txBody>
      </p:sp>
      <p:sp>
        <p:nvSpPr>
          <p:cNvPr id="5" name="slide-34-rect-3"/>
          <p:cNvSpPr/>
          <p:nvPr/>
        </p:nvSpPr>
        <p:spPr>
          <a:xfrm>
            <a:off x="609600" y="2228850"/>
            <a:ext cx="3479800" cy="3067050"/>
          </a:xfrm>
          <a:prstGeom prst="roundRect">
            <a:avLst>
              <a:gd name="adj" fmla="val 3106"/>
            </a:avLst>
          </a:prstGeom>
          <a:solidFill>
            <a:srgbClr val="FFFFFF"/>
          </a:solidFill>
          <a:ln w="9525">
            <a:solidFill>
              <a:srgbClr val="D4DBD0"/>
            </a:solidFill>
            <a:prstDash val="solid"/>
          </a:ln>
        </p:spPr>
      </p:sp>
      <p:sp>
        <p:nvSpPr>
          <p:cNvPr id="6" name="slide-34-text-4"/>
          <p:cNvSpPr/>
          <p:nvPr/>
        </p:nvSpPr>
        <p:spPr>
          <a:xfrm>
            <a:off x="838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WHERE</a:t>
            </a:r>
            <a:endParaRPr lang="en-US" sz="1350" dirty="0"/>
          </a:p>
        </p:txBody>
      </p:sp>
      <p:sp>
        <p:nvSpPr>
          <p:cNvPr id="7" name="slide-34-text-5"/>
          <p:cNvSpPr/>
          <p:nvPr/>
        </p:nvSpPr>
        <p:spPr>
          <a:xfrm>
            <a:off x="838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React functions</a:t>
            </a:r>
            <a:endParaRPr lang="en-US" sz="2400" dirty="0"/>
          </a:p>
        </p:txBody>
      </p:sp>
      <p:sp>
        <p:nvSpPr>
          <p:cNvPr id="8" name="slide-34-text-6"/>
          <p:cNvSpPr/>
          <p:nvPr/>
        </p:nvSpPr>
        <p:spPr>
          <a:xfrm>
            <a:off x="838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Call hooks in function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components or in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custom hooks.</a:t>
            </a:r>
            <a:endParaRPr lang="en-US" sz="1950" dirty="0"/>
          </a:p>
        </p:txBody>
      </p:sp>
      <p:sp>
        <p:nvSpPr>
          <p:cNvPr id="9" name="slide-34-rect-7"/>
          <p:cNvSpPr/>
          <p:nvPr/>
        </p:nvSpPr>
        <p:spPr>
          <a:xfrm>
            <a:off x="4356100" y="2228850"/>
            <a:ext cx="3479800" cy="3067050"/>
          </a:xfrm>
          <a:prstGeom prst="roundRect">
            <a:avLst>
              <a:gd name="adj" fmla="val 3106"/>
            </a:avLst>
          </a:prstGeom>
          <a:solidFill>
            <a:srgbClr val="FFFFFF"/>
          </a:solidFill>
          <a:ln w="9525">
            <a:solidFill>
              <a:srgbClr val="D4DBD0"/>
            </a:solidFill>
            <a:prstDash val="solid"/>
          </a:ln>
        </p:spPr>
      </p:sp>
      <p:sp>
        <p:nvSpPr>
          <p:cNvPr id="10" name="slide-34-text-8"/>
          <p:cNvSpPr/>
          <p:nvPr/>
        </p:nvSpPr>
        <p:spPr>
          <a:xfrm>
            <a:off x="45847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WHEN</a:t>
            </a:r>
            <a:endParaRPr lang="en-US" sz="1350" dirty="0"/>
          </a:p>
        </p:txBody>
      </p:sp>
      <p:sp>
        <p:nvSpPr>
          <p:cNvPr id="11" name="slide-34-text-9"/>
          <p:cNvSpPr/>
          <p:nvPr/>
        </p:nvSpPr>
        <p:spPr>
          <a:xfrm>
            <a:off x="45847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At the top level</a:t>
            </a:r>
            <a:endParaRPr lang="en-US" sz="2400" dirty="0"/>
          </a:p>
        </p:txBody>
      </p:sp>
      <p:sp>
        <p:nvSpPr>
          <p:cNvPr id="12" name="slide-34-text-10"/>
          <p:cNvSpPr/>
          <p:nvPr/>
        </p:nvSpPr>
        <p:spPr>
          <a:xfrm>
            <a:off x="45847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Not inside conditions,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loops or handlers.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Before early returns.</a:t>
            </a:r>
            <a:endParaRPr lang="en-US" sz="1950" dirty="0"/>
          </a:p>
        </p:txBody>
      </p:sp>
      <p:sp>
        <p:nvSpPr>
          <p:cNvPr id="13" name="slide-34-rect-11"/>
          <p:cNvSpPr/>
          <p:nvPr/>
        </p:nvSpPr>
        <p:spPr>
          <a:xfrm>
            <a:off x="8102600" y="2228850"/>
            <a:ext cx="3479800" cy="3067050"/>
          </a:xfrm>
          <a:prstGeom prst="roundRect">
            <a:avLst>
              <a:gd name="adj" fmla="val 3106"/>
            </a:avLst>
          </a:prstGeom>
          <a:solidFill>
            <a:srgbClr val="FFFFFF"/>
          </a:solidFill>
          <a:ln w="9525">
            <a:solidFill>
              <a:srgbClr val="D4DBD0"/>
            </a:solidFill>
            <a:prstDash val="solid"/>
          </a:ln>
        </p:spPr>
      </p:sp>
      <p:sp>
        <p:nvSpPr>
          <p:cNvPr id="14" name="slide-34-text-12"/>
          <p:cNvSpPr/>
          <p:nvPr/>
        </p:nvSpPr>
        <p:spPr>
          <a:xfrm>
            <a:off x="8331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RESPONSIBILITY</a:t>
            </a:r>
            <a:endParaRPr lang="en-US" sz="1350" dirty="0"/>
          </a:p>
        </p:txBody>
      </p:sp>
      <p:sp>
        <p:nvSpPr>
          <p:cNvPr id="15" name="slide-34-text-13"/>
          <p:cNvSpPr/>
          <p:nvPr/>
        </p:nvSpPr>
        <p:spPr>
          <a:xfrm>
            <a:off x="8331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Keep work honest</a:t>
            </a:r>
            <a:endParaRPr lang="en-US" sz="2400" dirty="0"/>
          </a:p>
        </p:txBody>
      </p:sp>
      <p:sp>
        <p:nvSpPr>
          <p:cNvPr id="16" name="slide-34-text-14"/>
          <p:cNvSpPr/>
          <p:nvPr/>
        </p:nvSpPr>
        <p:spPr>
          <a:xfrm>
            <a:off x="8331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Render computes UI.</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Events handle actions.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Effects synchronize.</a:t>
            </a:r>
            <a:endParaRPr lang="en-US" sz="1950" dirty="0"/>
          </a:p>
        </p:txBody>
      </p:sp>
      <p:sp>
        <p:nvSpPr>
          <p:cNvPr id="17" name="slide-34-rect-15"/>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8" name="slide-34-text-16"/>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Custom hook names begin with use. Follow the hooks linter rather than hiding warnings.</a:t>
            </a:r>
            <a:endParaRPr lang="en-US" sz="1875" dirty="0"/>
          </a:p>
        </p:txBody>
      </p:sp>
      <p:sp>
        <p:nvSpPr>
          <p:cNvPr id="19" name="slide-34-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CustomHooksDemo hook calls | CustomHooksDemo.tsx:22</a:t>
            </a:r>
            <a:endParaRPr lang="en-US" sz="1275" dirty="0"/>
          </a:p>
        </p:txBody>
      </p:sp>
      <p:sp>
        <p:nvSpPr>
          <p:cNvPr id="20" name="slide-34-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Fetching users</a:t>
            </a:r>
            <a:endParaRPr lang="en-US" sz="1275" dirty="0"/>
          </a:p>
        </p:txBody>
      </p:sp>
      <p:sp>
        <p:nvSpPr>
          <p:cNvPr id="21" name="slide-34-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34 / 65</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A"/>
        </a:solidFill>
      </p:bgPr>
    </p:bg>
    <p:spTree>
      <p:nvGrpSpPr>
        <p:cNvPr id="1" name=""/>
        <p:cNvGrpSpPr/>
        <p:nvPr/>
      </p:nvGrpSpPr>
      <p:grpSpPr>
        <a:xfrm>
          <a:off x="0" y="0"/>
          <a:ext cx="0" cy="0"/>
          <a:chOff x="0" y="0"/>
          <a:chExt cx="0" cy="0"/>
        </a:xfrm>
      </p:grpSpPr>
      <p:sp>
        <p:nvSpPr>
          <p:cNvPr id="2" name="slide-3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35-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An effect synchronizes with something outside</a:t>
            </a:r>
            <a:endParaRPr lang="en-US" sz="3600" dirty="0"/>
          </a:p>
        </p:txBody>
      </p:sp>
      <p:sp>
        <p:nvSpPr>
          <p:cNvPr id="4" name="slide-35-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EffectDemo keeps the browser title synchronized with count.</a:t>
            </a:r>
            <a:endParaRPr lang="en-US" sz="1875" dirty="0"/>
          </a:p>
        </p:txBody>
      </p:sp>
      <p:sp>
        <p:nvSpPr>
          <p:cNvPr id="5" name="slide-35-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35-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EFFECTDEMO / CURRENT TITLE EFFECT</a:t>
            </a:r>
            <a:endParaRPr lang="en-US" sz="1350" dirty="0"/>
          </a:p>
        </p:txBody>
      </p:sp>
      <p:sp>
        <p:nvSpPr>
          <p:cNvPr id="7" name="slide-35-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useEffect(() =&gt; {</a:t>
            </a:r>
            <a:endParaRPr lang="en-US" sz="1575" dirty="0"/>
          </a:p>
        </p:txBody>
      </p:sp>
      <p:sp>
        <p:nvSpPr>
          <p:cNvPr id="8" name="slide-35-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previousTitle = document.title;</a:t>
            </a:r>
            <a:endParaRPr lang="en-US" sz="1575" dirty="0"/>
          </a:p>
        </p:txBody>
      </p:sp>
      <p:sp>
        <p:nvSpPr>
          <p:cNvPr id="9" name="slide-35-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document.title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`Count: ${count} | React Demo`</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0" name="slide-35-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=&gt; { document.title = previousTitle; };</a:t>
            </a:r>
            <a:endParaRPr lang="en-US" sz="1575" dirty="0"/>
          </a:p>
        </p:txBody>
      </p:sp>
      <p:sp>
        <p:nvSpPr>
          <p:cNvPr id="11" name="slide-35-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[count]);</a:t>
            </a:r>
            <a:endParaRPr lang="en-US" sz="1575" dirty="0"/>
          </a:p>
        </p:txBody>
      </p:sp>
      <p:sp>
        <p:nvSpPr>
          <p:cNvPr id="12" name="slide-35-text-10"/>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READ</a:t>
            </a:r>
            <a:endParaRPr lang="en-US" sz="1350" dirty="0"/>
          </a:p>
        </p:txBody>
      </p:sp>
      <p:sp>
        <p:nvSpPr>
          <p:cNvPr id="13" name="slide-35-text-11"/>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count is a</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reactive input.</a:t>
            </a:r>
            <a:endParaRPr lang="en-US" sz="1950" dirty="0"/>
          </a:p>
        </p:txBody>
      </p:sp>
      <p:sp>
        <p:nvSpPr>
          <p:cNvPr id="14" name="slide-35-text-12"/>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SYNCHRONIZE</a:t>
            </a:r>
            <a:endParaRPr lang="en-US" sz="1350" dirty="0"/>
          </a:p>
        </p:txBody>
      </p:sp>
      <p:sp>
        <p:nvSpPr>
          <p:cNvPr id="15" name="slide-35-text-13"/>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Write the title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after commit.</a:t>
            </a:r>
            <a:endParaRPr lang="en-US" sz="1950" dirty="0"/>
          </a:p>
        </p:txBody>
      </p:sp>
      <p:sp>
        <p:nvSpPr>
          <p:cNvPr id="16" name="slide-35-text-14"/>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CLEAN UP</a:t>
            </a:r>
            <a:endParaRPr lang="en-US" sz="1350" dirty="0"/>
          </a:p>
        </p:txBody>
      </p:sp>
      <p:sp>
        <p:nvSpPr>
          <p:cNvPr id="17" name="slide-35-text-15"/>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Restore the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previous title.</a:t>
            </a:r>
            <a:endParaRPr lang="en-US" sz="1950" dirty="0"/>
          </a:p>
        </p:txBody>
      </p:sp>
      <p:sp>
        <p:nvSpPr>
          <p:cNvPr id="18" name="slide-35-rect-16"/>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9" name="slide-35-text-17"/>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Derive values during render; use effects for deliberate external synchronization.</a:t>
            </a:r>
            <a:endParaRPr lang="en-US" sz="1875" dirty="0"/>
          </a:p>
        </p:txBody>
      </p:sp>
      <p:sp>
        <p:nvSpPr>
          <p:cNvPr id="20" name="slide-35-text-18">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document.title effect | EffectDemo.tsx:32</a:t>
            </a:r>
            <a:endParaRPr lang="en-US" sz="1275" dirty="0"/>
          </a:p>
        </p:txBody>
      </p:sp>
      <p:sp>
        <p:nvSpPr>
          <p:cNvPr id="21" name="slide-35-text-19">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5. useEffect / Document title</a:t>
            </a:r>
            <a:endParaRPr lang="en-US" sz="1275" dirty="0"/>
          </a:p>
        </p:txBody>
      </p:sp>
      <p:sp>
        <p:nvSpPr>
          <p:cNvPr id="22" name="slide-35-text-20"/>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35 / 65</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A"/>
        </a:solidFill>
      </p:bgPr>
    </p:bg>
    <p:spTree>
      <p:nvGrpSpPr>
        <p:cNvPr id="1" name=""/>
        <p:cNvGrpSpPr/>
        <p:nvPr/>
      </p:nvGrpSpPr>
      <p:grpSpPr>
        <a:xfrm>
          <a:off x="0" y="0"/>
          <a:ext cx="0" cy="0"/>
          <a:chOff x="0" y="0"/>
          <a:chExt cx="0" cy="0"/>
        </a:xfrm>
      </p:grpSpPr>
      <p:sp>
        <p:nvSpPr>
          <p:cNvPr id="2" name="slide-36-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36-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Dependencies describe re-synchronization</a:t>
            </a:r>
            <a:endParaRPr lang="en-US" sz="3600" dirty="0"/>
          </a:p>
        </p:txBody>
      </p:sp>
      <p:sp>
        <p:nvSpPr>
          <p:cNvPr id="4" name="slide-36-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EffectDemo puts four different lifetimes next to one another.</a:t>
            </a:r>
            <a:endParaRPr lang="en-US" sz="1875" dirty="0"/>
          </a:p>
        </p:txBody>
      </p:sp>
      <p:sp>
        <p:nvSpPr>
          <p:cNvPr id="5" name="slide-36-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36-text-4"/>
          <p:cNvSpPr/>
          <p:nvPr/>
        </p:nvSpPr>
        <p:spPr>
          <a:xfrm>
            <a:off x="781050" y="2333625"/>
            <a:ext cx="28479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Dependency argument</a:t>
            </a:r>
            <a:endParaRPr lang="en-US" sz="1800" dirty="0"/>
          </a:p>
        </p:txBody>
      </p:sp>
      <p:sp>
        <p:nvSpPr>
          <p:cNvPr id="7" name="slide-36-text-5"/>
          <p:cNvSpPr/>
          <p:nvPr/>
        </p:nvSpPr>
        <p:spPr>
          <a:xfrm>
            <a:off x="3971925" y="2333625"/>
            <a:ext cx="329565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Running example</a:t>
            </a:r>
            <a:endParaRPr lang="en-US" sz="1800" dirty="0"/>
          </a:p>
        </p:txBody>
      </p:sp>
      <p:sp>
        <p:nvSpPr>
          <p:cNvPr id="8" name="slide-36-text-6"/>
          <p:cNvSpPr/>
          <p:nvPr/>
        </p:nvSpPr>
        <p:spPr>
          <a:xfrm>
            <a:off x="7610475" y="2333625"/>
            <a:ext cx="38004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When setup runs</a:t>
            </a:r>
            <a:endParaRPr lang="en-US" sz="1800" dirty="0"/>
          </a:p>
        </p:txBody>
      </p:sp>
      <p:sp>
        <p:nvSpPr>
          <p:cNvPr id="9" name="slide-36-rect-7"/>
          <p:cNvSpPr/>
          <p:nvPr/>
        </p:nvSpPr>
        <p:spPr>
          <a:xfrm>
            <a:off x="609600" y="2724150"/>
            <a:ext cx="10972800" cy="666750"/>
          </a:xfrm>
          <a:prstGeom prst="rect">
            <a:avLst/>
          </a:prstGeom>
          <a:solidFill>
            <a:srgbClr val="FFFFFF"/>
          </a:solidFill>
          <a:ln w="12700">
            <a:solidFill>
              <a:srgbClr val="FFFFFF">
                <a:alpha val="0"/>
              </a:srgbClr>
            </a:solidFill>
            <a:prstDash val="solid"/>
          </a:ln>
        </p:spPr>
      </p:sp>
      <p:sp>
        <p:nvSpPr>
          <p:cNvPr id="10" name="slide-36-text-8"/>
          <p:cNvSpPr/>
          <p:nvPr/>
        </p:nvSpPr>
        <p:spPr>
          <a:xfrm>
            <a:off x="781050" y="2819400"/>
            <a:ext cx="2847975" cy="49530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Omitted</a:t>
            </a:r>
            <a:endParaRPr lang="en-US" sz="1725" dirty="0"/>
          </a:p>
        </p:txBody>
      </p:sp>
      <p:sp>
        <p:nvSpPr>
          <p:cNvPr id="11" name="slide-36-text-9"/>
          <p:cNvSpPr/>
          <p:nvPr/>
        </p:nvSpPr>
        <p:spPr>
          <a:xfrm>
            <a:off x="3971925" y="2819400"/>
            <a:ext cx="3295650"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Effect-run display</a:t>
            </a:r>
            <a:endParaRPr lang="en-US" sz="1725" dirty="0"/>
          </a:p>
        </p:txBody>
      </p:sp>
      <p:sp>
        <p:nvSpPr>
          <p:cNvPr id="12" name="slide-36-text-10"/>
          <p:cNvSpPr/>
          <p:nvPr/>
        </p:nvSpPr>
        <p:spPr>
          <a:xfrm>
            <a:off x="7610475" y="2819400"/>
            <a:ext cx="3800475"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After each committed render</a:t>
            </a:r>
            <a:endParaRPr lang="en-US" sz="1725" dirty="0"/>
          </a:p>
        </p:txBody>
      </p:sp>
      <p:sp>
        <p:nvSpPr>
          <p:cNvPr id="13" name="slide-36-rect-11"/>
          <p:cNvSpPr/>
          <p:nvPr/>
        </p:nvSpPr>
        <p:spPr>
          <a:xfrm>
            <a:off x="609600" y="3409950"/>
            <a:ext cx="10972800" cy="666750"/>
          </a:xfrm>
          <a:prstGeom prst="rect">
            <a:avLst/>
          </a:prstGeom>
          <a:solidFill>
            <a:srgbClr val="F6F3EA"/>
          </a:solidFill>
          <a:ln w="12700">
            <a:solidFill>
              <a:srgbClr val="F6F3EA">
                <a:alpha val="0"/>
              </a:srgbClr>
            </a:solidFill>
            <a:prstDash val="solid"/>
          </a:ln>
        </p:spPr>
      </p:sp>
      <p:sp>
        <p:nvSpPr>
          <p:cNvPr id="14" name="slide-36-text-12"/>
          <p:cNvSpPr/>
          <p:nvPr/>
        </p:nvSpPr>
        <p:spPr>
          <a:xfrm>
            <a:off x="781050" y="3505200"/>
            <a:ext cx="2847975" cy="49530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a:t>
            </a:r>
            <a:endParaRPr lang="en-US" sz="1725" dirty="0"/>
          </a:p>
        </p:txBody>
      </p:sp>
      <p:sp>
        <p:nvSpPr>
          <p:cNvPr id="15" name="slide-36-text-13"/>
          <p:cNvSpPr/>
          <p:nvPr/>
        </p:nvSpPr>
        <p:spPr>
          <a:xfrm>
            <a:off x="3971925" y="3505200"/>
            <a:ext cx="3295650"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Window resize listener</a:t>
            </a:r>
            <a:endParaRPr lang="en-US" sz="1725" dirty="0"/>
          </a:p>
        </p:txBody>
      </p:sp>
      <p:sp>
        <p:nvSpPr>
          <p:cNvPr id="16" name="slide-36-text-14"/>
          <p:cNvSpPr/>
          <p:nvPr/>
        </p:nvSpPr>
        <p:spPr>
          <a:xfrm>
            <a:off x="7610475" y="3505200"/>
            <a:ext cx="3800475"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On mount; cleanup on unmount</a:t>
            </a:r>
            <a:endParaRPr lang="en-US" sz="1725" dirty="0"/>
          </a:p>
        </p:txBody>
      </p:sp>
      <p:sp>
        <p:nvSpPr>
          <p:cNvPr id="17" name="slide-36-rect-15"/>
          <p:cNvSpPr/>
          <p:nvPr/>
        </p:nvSpPr>
        <p:spPr>
          <a:xfrm>
            <a:off x="609600" y="4095750"/>
            <a:ext cx="10972800" cy="666750"/>
          </a:xfrm>
          <a:prstGeom prst="rect">
            <a:avLst/>
          </a:prstGeom>
          <a:solidFill>
            <a:srgbClr val="FFFFFF"/>
          </a:solidFill>
          <a:ln w="12700">
            <a:solidFill>
              <a:srgbClr val="FFFFFF">
                <a:alpha val="0"/>
              </a:srgbClr>
            </a:solidFill>
            <a:prstDash val="solid"/>
          </a:ln>
        </p:spPr>
      </p:sp>
      <p:sp>
        <p:nvSpPr>
          <p:cNvPr id="18" name="slide-36-text-16"/>
          <p:cNvSpPr/>
          <p:nvPr/>
        </p:nvSpPr>
        <p:spPr>
          <a:xfrm>
            <a:off x="781050" y="4191000"/>
            <a:ext cx="2847975" cy="49530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[count]</a:t>
            </a:r>
            <a:endParaRPr lang="en-US" sz="1725" dirty="0"/>
          </a:p>
        </p:txBody>
      </p:sp>
      <p:sp>
        <p:nvSpPr>
          <p:cNvPr id="19" name="slide-36-text-17"/>
          <p:cNvSpPr/>
          <p:nvPr/>
        </p:nvSpPr>
        <p:spPr>
          <a:xfrm>
            <a:off x="3971925" y="4191000"/>
            <a:ext cx="3295650"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Browser document title</a:t>
            </a:r>
            <a:endParaRPr lang="en-US" sz="1725" dirty="0"/>
          </a:p>
        </p:txBody>
      </p:sp>
      <p:sp>
        <p:nvSpPr>
          <p:cNvPr id="20" name="slide-36-text-18"/>
          <p:cNvSpPr/>
          <p:nvPr/>
        </p:nvSpPr>
        <p:spPr>
          <a:xfrm>
            <a:off x="7610475" y="4191000"/>
            <a:ext cx="3800475"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On mount and count changes</a:t>
            </a:r>
            <a:endParaRPr lang="en-US" sz="1725" dirty="0"/>
          </a:p>
        </p:txBody>
      </p:sp>
      <p:sp>
        <p:nvSpPr>
          <p:cNvPr id="21" name="slide-36-rect-19"/>
          <p:cNvSpPr/>
          <p:nvPr/>
        </p:nvSpPr>
        <p:spPr>
          <a:xfrm>
            <a:off x="609600" y="4781550"/>
            <a:ext cx="10972800" cy="666750"/>
          </a:xfrm>
          <a:prstGeom prst="rect">
            <a:avLst/>
          </a:prstGeom>
          <a:solidFill>
            <a:srgbClr val="F6F3EA"/>
          </a:solidFill>
          <a:ln w="12700">
            <a:solidFill>
              <a:srgbClr val="F6F3EA">
                <a:alpha val="0"/>
              </a:srgbClr>
            </a:solidFill>
            <a:prstDash val="solid"/>
          </a:ln>
        </p:spPr>
      </p:sp>
      <p:sp>
        <p:nvSpPr>
          <p:cNvPr id="22" name="slide-36-text-20"/>
          <p:cNvSpPr/>
          <p:nvPr/>
        </p:nvSpPr>
        <p:spPr>
          <a:xfrm>
            <a:off x="781050" y="4876800"/>
            <a:ext cx="2847975" cy="49530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alibri" pitchFamily="34" charset="0"/>
                <a:ea typeface="Calibri" pitchFamily="34" charset="-122"/>
                <a:cs typeface="Calibri" pitchFamily="34" charset="-120"/>
              </a:rPr>
              <a:t>[timerRunning]</a:t>
            </a:r>
            <a:endParaRPr lang="en-US" sz="1725" dirty="0"/>
          </a:p>
        </p:txBody>
      </p:sp>
      <p:sp>
        <p:nvSpPr>
          <p:cNvPr id="23" name="slide-36-text-21"/>
          <p:cNvSpPr/>
          <p:nvPr/>
        </p:nvSpPr>
        <p:spPr>
          <a:xfrm>
            <a:off x="3971925" y="4876800"/>
            <a:ext cx="3295650"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Interval timer</a:t>
            </a:r>
            <a:endParaRPr lang="en-US" sz="1725" dirty="0"/>
          </a:p>
        </p:txBody>
      </p:sp>
      <p:sp>
        <p:nvSpPr>
          <p:cNvPr id="24" name="slide-36-text-22"/>
          <p:cNvSpPr/>
          <p:nvPr/>
        </p:nvSpPr>
        <p:spPr>
          <a:xfrm>
            <a:off x="7610475" y="4876800"/>
            <a:ext cx="3800475" cy="49530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On mount and toggle changes</a:t>
            </a:r>
            <a:endParaRPr lang="en-US" sz="1725" dirty="0"/>
          </a:p>
        </p:txBody>
      </p:sp>
      <p:sp>
        <p:nvSpPr>
          <p:cNvPr id="25" name="slide-36-rect-23"/>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6" name="slide-36-text-24"/>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Strict Mode adds a development setup / cleanup cycle. “Exactly once” is the wrong promise.</a:t>
            </a:r>
            <a:endParaRPr lang="en-US" sz="1875" dirty="0"/>
          </a:p>
        </p:txBody>
      </p:sp>
      <p:sp>
        <p:nvSpPr>
          <p:cNvPr id="27" name="slide-36-text-25">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effectRunCount | EffectDemo.tsx:23</a:t>
            </a:r>
            <a:endParaRPr lang="en-US" sz="1275" dirty="0"/>
          </a:p>
        </p:txBody>
      </p:sp>
      <p:sp>
        <p:nvSpPr>
          <p:cNvPr id="28" name="slide-36-text-26">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5. useEffect / Effect executions</a:t>
            </a:r>
            <a:endParaRPr lang="en-US" sz="1275" dirty="0"/>
          </a:p>
        </p:txBody>
      </p:sp>
      <p:sp>
        <p:nvSpPr>
          <p:cNvPr id="29" name="slide-36-text-27"/>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36 / 65</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3EA"/>
        </a:solidFill>
      </p:bgPr>
    </p:bg>
    <p:spTree>
      <p:nvGrpSpPr>
        <p:cNvPr id="1" name=""/>
        <p:cNvGrpSpPr/>
        <p:nvPr/>
      </p:nvGrpSpPr>
      <p:grpSpPr>
        <a:xfrm>
          <a:off x="0" y="0"/>
          <a:ext cx="0" cy="0"/>
          <a:chOff x="0" y="0"/>
          <a:chExt cx="0" cy="0"/>
        </a:xfrm>
      </p:grpSpPr>
      <p:sp>
        <p:nvSpPr>
          <p:cNvPr id="2" name="slide-37-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37-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Every subscription needs matching cleanup</a:t>
            </a:r>
            <a:endParaRPr lang="en-US" sz="3600" dirty="0"/>
          </a:p>
        </p:txBody>
      </p:sp>
      <p:sp>
        <p:nvSpPr>
          <p:cNvPr id="4" name="slide-37-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resize effect registers and removes the same function.</a:t>
            </a:r>
            <a:endParaRPr lang="en-US" sz="1875" dirty="0"/>
          </a:p>
        </p:txBody>
      </p:sp>
      <p:sp>
        <p:nvSpPr>
          <p:cNvPr id="5" name="slide-37-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37-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EFFECTDEMO / CURRENT RESIZE EFFECT</a:t>
            </a:r>
            <a:endParaRPr lang="en-US" sz="1350" dirty="0"/>
          </a:p>
        </p:txBody>
      </p:sp>
      <p:sp>
        <p:nvSpPr>
          <p:cNvPr id="7" name="slide-37-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useEffect(() =&gt; {</a:t>
            </a:r>
            <a:endParaRPr lang="en-US" sz="1575" dirty="0"/>
          </a:p>
        </p:txBody>
      </p:sp>
      <p:sp>
        <p:nvSpPr>
          <p:cNvPr id="8" name="slide-37-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handleResize = () =&gt;</a:t>
            </a:r>
            <a:endParaRPr lang="en-US" sz="1575" dirty="0"/>
          </a:p>
        </p:txBody>
      </p:sp>
      <p:sp>
        <p:nvSpPr>
          <p:cNvPr id="9" name="slide-37-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setWindowWidth(window.innerWidth);</a:t>
            </a:r>
            <a:endParaRPr lang="en-US" sz="1575" dirty="0"/>
          </a:p>
        </p:txBody>
      </p:sp>
      <p:sp>
        <p:nvSpPr>
          <p:cNvPr id="10" name="slide-37-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window.addEventListener(</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'resize'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handleResize);</a:t>
            </a:r>
            <a:endParaRPr lang="en-US" sz="1575" dirty="0"/>
          </a:p>
        </p:txBody>
      </p:sp>
      <p:sp>
        <p:nvSpPr>
          <p:cNvPr id="11" name="slide-37-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=&gt;</a:t>
            </a:r>
            <a:endParaRPr lang="en-US" sz="1575" dirty="0"/>
          </a:p>
        </p:txBody>
      </p:sp>
      <p:sp>
        <p:nvSpPr>
          <p:cNvPr id="12" name="slide-37-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window.removeEventListener(</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'resize'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handleResize);</a:t>
            </a:r>
            <a:endParaRPr lang="en-US" sz="1575" dirty="0"/>
          </a:p>
        </p:txBody>
      </p:sp>
      <p:sp>
        <p:nvSpPr>
          <p:cNvPr id="13" name="slide-37-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4" name="slide-37-text-12"/>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SETUP</a:t>
            </a:r>
            <a:endParaRPr lang="en-US" sz="1350" dirty="0"/>
          </a:p>
        </p:txBody>
      </p:sp>
      <p:sp>
        <p:nvSpPr>
          <p:cNvPr id="15" name="slide-37-text-13"/>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Register one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listener.</a:t>
            </a:r>
            <a:endParaRPr lang="en-US" sz="1950" dirty="0"/>
          </a:p>
        </p:txBody>
      </p:sp>
      <p:sp>
        <p:nvSpPr>
          <p:cNvPr id="16" name="slide-37-text-14"/>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UPDATE</a:t>
            </a:r>
            <a:endParaRPr lang="en-US" sz="1350" dirty="0"/>
          </a:p>
        </p:txBody>
      </p:sp>
      <p:sp>
        <p:nvSpPr>
          <p:cNvPr id="17" name="slide-37-text-15"/>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Store the width</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when it fires.</a:t>
            </a:r>
            <a:endParaRPr lang="en-US" sz="1950" dirty="0"/>
          </a:p>
        </p:txBody>
      </p:sp>
      <p:sp>
        <p:nvSpPr>
          <p:cNvPr id="18" name="slide-37-text-16"/>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CLEANUP</a:t>
            </a:r>
            <a:endParaRPr lang="en-US" sz="1350" dirty="0"/>
          </a:p>
        </p:txBody>
      </p:sp>
      <p:sp>
        <p:nvSpPr>
          <p:cNvPr id="19" name="slide-37-text-17"/>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Remove that exact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listener function.</a:t>
            </a:r>
            <a:endParaRPr lang="en-US" sz="1950" dirty="0"/>
          </a:p>
        </p:txBody>
      </p:sp>
      <p:sp>
        <p:nvSpPr>
          <p:cNvPr id="20" name="slide-37-text-18">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resize effect | EffectDemo.tsx:39</a:t>
            </a:r>
            <a:endParaRPr lang="en-US" sz="1275" dirty="0"/>
          </a:p>
        </p:txBody>
      </p:sp>
      <p:sp>
        <p:nvSpPr>
          <p:cNvPr id="21" name="slide-37-text-19">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5. useEffect / Resize listener</a:t>
            </a:r>
            <a:endParaRPr lang="en-US" sz="1275" dirty="0"/>
          </a:p>
        </p:txBody>
      </p:sp>
      <p:sp>
        <p:nvSpPr>
          <p:cNvPr id="22" name="slide-37-text-20"/>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37 / 65</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3EA"/>
        </a:solidFill>
      </p:bgPr>
    </p:bg>
    <p:spTree>
      <p:nvGrpSpPr>
        <p:cNvPr id="1" name=""/>
        <p:cNvGrpSpPr/>
        <p:nvPr/>
      </p:nvGrpSpPr>
      <p:grpSpPr>
        <a:xfrm>
          <a:off x="0" y="0"/>
          <a:ext cx="0" cy="0"/>
          <a:chOff x="0" y="0"/>
          <a:chExt cx="0" cy="0"/>
        </a:xfrm>
      </p:grpSpPr>
      <p:sp>
        <p:nvSpPr>
          <p:cNvPr id="2" name="slide-38-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38-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Predict: stop, reset or leave the tab?</a:t>
            </a:r>
            <a:endParaRPr lang="en-US" sz="3600" dirty="0"/>
          </a:p>
        </p:txBody>
      </p:sp>
      <p:sp>
        <p:nvSpPr>
          <p:cNvPr id="4" name="slide-38-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timer's state and the interval's lifetime are different things.</a:t>
            </a:r>
            <a:endParaRPr lang="en-US" sz="1875" dirty="0"/>
          </a:p>
        </p:txBody>
      </p:sp>
      <p:sp>
        <p:nvSpPr>
          <p:cNvPr id="5" name="slide-38-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38-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a:t>
            </a:r>
            <a:endParaRPr lang="en-US" sz="5700" dirty="0"/>
          </a:p>
        </p:txBody>
      </p:sp>
      <p:sp>
        <p:nvSpPr>
          <p:cNvPr id="7" name="slide-38-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DISCUSS</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EXPLAIN</a:t>
            </a:r>
            <a:endParaRPr lang="en-US" sz="1725" dirty="0"/>
          </a:p>
        </p:txBody>
      </p:sp>
      <p:sp>
        <p:nvSpPr>
          <p:cNvPr id="8" name="slide-38-rect-6"/>
          <p:cNvSpPr/>
          <p:nvPr/>
        </p:nvSpPr>
        <p:spPr>
          <a:xfrm>
            <a:off x="2457450" y="2190750"/>
            <a:ext cx="5410200" cy="3048000"/>
          </a:xfrm>
          <a:prstGeom prst="roundRect">
            <a:avLst>
              <a:gd name="adj" fmla="val 3125"/>
            </a:avLst>
          </a:prstGeom>
          <a:solidFill>
            <a:srgbClr val="152B2A"/>
          </a:solidFill>
          <a:ln w="12700">
            <a:solidFill>
              <a:srgbClr val="152B2A">
                <a:alpha val="0"/>
              </a:srgbClr>
            </a:solidFill>
            <a:prstDash val="solid"/>
          </a:ln>
        </p:spPr>
      </p:sp>
      <p:sp>
        <p:nvSpPr>
          <p:cNvPr id="9" name="slide-38-text-7"/>
          <p:cNvSpPr/>
          <p:nvPr/>
        </p:nvSpPr>
        <p:spPr>
          <a:xfrm>
            <a:off x="2686050" y="2381250"/>
            <a:ext cx="49530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CURRENT TIMER / REFLOWED</a:t>
            </a:r>
            <a:endParaRPr lang="en-US" sz="1350" dirty="0"/>
          </a:p>
        </p:txBody>
      </p:sp>
      <p:sp>
        <p:nvSpPr>
          <p:cNvPr id="10" name="slide-38-text-8"/>
          <p:cNvSpPr/>
          <p:nvPr/>
        </p:nvSpPr>
        <p:spPr>
          <a:xfrm>
            <a:off x="2686050" y="276225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useEffect(() =&gt; {</a:t>
            </a:r>
            <a:endParaRPr lang="en-US" sz="1575" dirty="0"/>
          </a:p>
        </p:txBody>
      </p:sp>
      <p:sp>
        <p:nvSpPr>
          <p:cNvPr id="11" name="slide-38-text-9"/>
          <p:cNvSpPr/>
          <p:nvPr/>
        </p:nvSpPr>
        <p:spPr>
          <a:xfrm>
            <a:off x="2686050" y="3022283"/>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(!timerRunning)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38-text-10"/>
          <p:cNvSpPr/>
          <p:nvPr/>
        </p:nvSpPr>
        <p:spPr>
          <a:xfrm>
            <a:off x="2686050" y="328231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id = setInterval(() =&gt; {</a:t>
            </a:r>
            <a:endParaRPr lang="en-US" sz="1575" dirty="0"/>
          </a:p>
        </p:txBody>
      </p:sp>
      <p:sp>
        <p:nvSpPr>
          <p:cNvPr id="13" name="slide-38-text-11"/>
          <p:cNvSpPr/>
          <p:nvPr/>
        </p:nvSpPr>
        <p:spPr>
          <a:xfrm>
            <a:off x="2686050" y="3542347"/>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setSeconds(prev =&gt; prev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38-text-12"/>
          <p:cNvSpPr/>
          <p:nvPr/>
        </p:nvSpPr>
        <p:spPr>
          <a:xfrm>
            <a:off x="2686050" y="380238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1000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5" name="slide-38-text-13"/>
          <p:cNvSpPr/>
          <p:nvPr/>
        </p:nvSpPr>
        <p:spPr>
          <a:xfrm>
            <a:off x="2686050" y="4062412"/>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=&gt; clearInterval(id);</a:t>
            </a:r>
            <a:endParaRPr lang="en-US" sz="1575" dirty="0"/>
          </a:p>
        </p:txBody>
      </p:sp>
      <p:sp>
        <p:nvSpPr>
          <p:cNvPr id="16" name="slide-38-text-14"/>
          <p:cNvSpPr/>
          <p:nvPr/>
        </p:nvSpPr>
        <p:spPr>
          <a:xfrm>
            <a:off x="2686050" y="432244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[timerRunning]);</a:t>
            </a:r>
            <a:endParaRPr lang="en-US" sz="1575" dirty="0"/>
          </a:p>
        </p:txBody>
      </p:sp>
      <p:sp>
        <p:nvSpPr>
          <p:cNvPr id="17" name="slide-38-text-15"/>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8" name="slide-38-text-16"/>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What does Stop keep?</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What does Reset clear?</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What happens after</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leaving this tab</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and returning?</a:t>
            </a:r>
            <a:endParaRPr lang="en-US" sz="2100" dirty="0"/>
          </a:p>
        </p:txBody>
      </p:sp>
      <p:sp>
        <p:nvSpPr>
          <p:cNvPr id="19" name="slide-38-rect-17"/>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0" name="slide-38-text-18"/>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Make a prediction, discuss with a neighbor, then explain your reasoning.</a:t>
            </a:r>
            <a:endParaRPr lang="en-US" sz="1875" dirty="0"/>
          </a:p>
        </p:txBody>
      </p:sp>
      <p:sp>
        <p:nvSpPr>
          <p:cNvPr id="21" name="slide-38-text-19">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timer effect | EffectDemo.tsx:46</a:t>
            </a:r>
            <a:endParaRPr lang="en-US" sz="1275" dirty="0"/>
          </a:p>
        </p:txBody>
      </p:sp>
      <p:sp>
        <p:nvSpPr>
          <p:cNvPr id="22" name="slide-38-text-20">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5. useEffect / Interval timer</a:t>
            </a:r>
            <a:endParaRPr lang="en-US" sz="1275" dirty="0"/>
          </a:p>
        </p:txBody>
      </p:sp>
      <p:sp>
        <p:nvSpPr>
          <p:cNvPr id="23" name="slide-38-text-21"/>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38 / 65</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3EA"/>
        </a:solidFill>
      </p:bgPr>
    </p:bg>
    <p:spTree>
      <p:nvGrpSpPr>
        <p:cNvPr id="1" name=""/>
        <p:cNvGrpSpPr/>
        <p:nvPr/>
      </p:nvGrpSpPr>
      <p:grpSpPr>
        <a:xfrm>
          <a:off x="0" y="0"/>
          <a:ext cx="0" cy="0"/>
          <a:chOff x="0" y="0"/>
          <a:chExt cx="0" cy="0"/>
        </a:xfrm>
      </p:grpSpPr>
      <p:sp>
        <p:nvSpPr>
          <p:cNvPr id="2" name="slide-39-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39-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A fetch hook exposes observable states</a:t>
            </a:r>
            <a:endParaRPr lang="en-US" sz="3600" dirty="0"/>
          </a:p>
        </p:txBody>
      </p:sp>
      <p:sp>
        <p:nvSpPr>
          <p:cNvPr id="4" name="slide-39-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CustomHooksDemo fetches bundled /users.json, not a remote service.</a:t>
            </a:r>
            <a:endParaRPr lang="en-US" sz="1875" dirty="0"/>
          </a:p>
        </p:txBody>
      </p:sp>
      <p:sp>
        <p:nvSpPr>
          <p:cNvPr id="5" name="slide-39-rect-3"/>
          <p:cNvSpPr/>
          <p:nvPr/>
        </p:nvSpPr>
        <p:spPr>
          <a:xfrm>
            <a:off x="609600" y="2190750"/>
            <a:ext cx="5372100" cy="1724025"/>
          </a:xfrm>
          <a:prstGeom prst="roundRect">
            <a:avLst>
              <a:gd name="adj" fmla="val 5525"/>
            </a:avLst>
          </a:prstGeom>
          <a:solidFill>
            <a:srgbClr val="FFFFFF"/>
          </a:solidFill>
          <a:ln w="9525">
            <a:solidFill>
              <a:srgbClr val="D4DBD0"/>
            </a:solidFill>
            <a:prstDash val="solid"/>
          </a:ln>
        </p:spPr>
      </p:sp>
      <p:sp>
        <p:nvSpPr>
          <p:cNvPr id="6" name="slide-39-text-4"/>
          <p:cNvSpPr/>
          <p:nvPr/>
        </p:nvSpPr>
        <p:spPr>
          <a:xfrm>
            <a:off x="838200" y="2381250"/>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PENDING</a:t>
            </a:r>
            <a:endParaRPr lang="en-US" sz="1350" dirty="0"/>
          </a:p>
        </p:txBody>
      </p:sp>
      <p:sp>
        <p:nvSpPr>
          <p:cNvPr id="7" name="slide-39-text-5"/>
          <p:cNvSpPr/>
          <p:nvPr/>
        </p:nvSpPr>
        <p:spPr>
          <a:xfrm>
            <a:off x="838200" y="2733675"/>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Loading</a:t>
            </a:r>
            <a:endParaRPr lang="en-US" sz="2175" dirty="0"/>
          </a:p>
        </p:txBody>
      </p:sp>
      <p:sp>
        <p:nvSpPr>
          <p:cNvPr id="8" name="slide-39-text-6"/>
          <p:cNvSpPr/>
          <p:nvPr/>
        </p:nvSpPr>
        <p:spPr>
          <a:xfrm>
            <a:off x="838200" y="3209925"/>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 card displays Loading users...</a:t>
            </a:r>
            <a:endParaRPr lang="en-US" sz="1875" dirty="0"/>
          </a:p>
        </p:txBody>
      </p:sp>
      <p:sp>
        <p:nvSpPr>
          <p:cNvPr id="9" name="slide-39-rect-7"/>
          <p:cNvSpPr/>
          <p:nvPr/>
        </p:nvSpPr>
        <p:spPr>
          <a:xfrm>
            <a:off x="6210300" y="2190750"/>
            <a:ext cx="5372100" cy="1724025"/>
          </a:xfrm>
          <a:prstGeom prst="roundRect">
            <a:avLst>
              <a:gd name="adj" fmla="val 5525"/>
            </a:avLst>
          </a:prstGeom>
          <a:solidFill>
            <a:srgbClr val="FFFFFF"/>
          </a:solidFill>
          <a:ln w="9525">
            <a:solidFill>
              <a:srgbClr val="D4DBD0"/>
            </a:solidFill>
            <a:prstDash val="solid"/>
          </a:ln>
        </p:spPr>
      </p:sp>
      <p:sp>
        <p:nvSpPr>
          <p:cNvPr id="10" name="slide-39-text-8"/>
          <p:cNvSpPr/>
          <p:nvPr/>
        </p:nvSpPr>
        <p:spPr>
          <a:xfrm>
            <a:off x="6438900" y="2381250"/>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FULFILLED</a:t>
            </a:r>
            <a:endParaRPr lang="en-US" sz="1350" dirty="0"/>
          </a:p>
        </p:txBody>
      </p:sp>
      <p:sp>
        <p:nvSpPr>
          <p:cNvPr id="11" name="slide-39-text-9"/>
          <p:cNvSpPr/>
          <p:nvPr/>
        </p:nvSpPr>
        <p:spPr>
          <a:xfrm>
            <a:off x="6438900" y="2733675"/>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Data available</a:t>
            </a:r>
            <a:endParaRPr lang="en-US" sz="2175" dirty="0"/>
          </a:p>
        </p:txBody>
      </p:sp>
      <p:sp>
        <p:nvSpPr>
          <p:cNvPr id="12" name="slide-39-text-10"/>
          <p:cNvSpPr/>
          <p:nvPr/>
        </p:nvSpPr>
        <p:spPr>
          <a:xfrm>
            <a:off x="6438900" y="3209925"/>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Names and emails replace the loading text.</a:t>
            </a:r>
            <a:endParaRPr lang="en-US" sz="1875" dirty="0"/>
          </a:p>
        </p:txBody>
      </p:sp>
      <p:sp>
        <p:nvSpPr>
          <p:cNvPr id="13" name="slide-39-rect-11"/>
          <p:cNvSpPr/>
          <p:nvPr/>
        </p:nvSpPr>
        <p:spPr>
          <a:xfrm>
            <a:off x="609600" y="4143375"/>
            <a:ext cx="5372100" cy="1724025"/>
          </a:xfrm>
          <a:prstGeom prst="roundRect">
            <a:avLst>
              <a:gd name="adj" fmla="val 5525"/>
            </a:avLst>
          </a:prstGeom>
          <a:solidFill>
            <a:srgbClr val="FFFFFF"/>
          </a:solidFill>
          <a:ln w="9525">
            <a:solidFill>
              <a:srgbClr val="D4DBD0"/>
            </a:solidFill>
            <a:prstDash val="solid"/>
          </a:ln>
        </p:spPr>
      </p:sp>
      <p:sp>
        <p:nvSpPr>
          <p:cNvPr id="14" name="slide-39-text-12"/>
          <p:cNvSpPr/>
          <p:nvPr/>
        </p:nvSpPr>
        <p:spPr>
          <a:xfrm>
            <a:off x="838200" y="43338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REJECTED</a:t>
            </a:r>
            <a:endParaRPr lang="en-US" sz="1350" dirty="0"/>
          </a:p>
        </p:txBody>
      </p:sp>
      <p:sp>
        <p:nvSpPr>
          <p:cNvPr id="15" name="slide-39-text-13"/>
          <p:cNvSpPr/>
          <p:nvPr/>
        </p:nvSpPr>
        <p:spPr>
          <a:xfrm>
            <a:off x="838200" y="4686300"/>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Request failed</a:t>
            </a:r>
            <a:endParaRPr lang="en-US" sz="2175" dirty="0"/>
          </a:p>
        </p:txBody>
      </p:sp>
      <p:sp>
        <p:nvSpPr>
          <p:cNvPr id="16" name="slide-39-text-14"/>
          <p:cNvSpPr/>
          <p:nvPr/>
        </p:nvSpPr>
        <p:spPr>
          <a:xfrm>
            <a:off x="838200" y="5162550"/>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An alert displays Unable to load users.</a:t>
            </a:r>
            <a:endParaRPr lang="en-US" sz="1875" dirty="0"/>
          </a:p>
        </p:txBody>
      </p:sp>
      <p:sp>
        <p:nvSpPr>
          <p:cNvPr id="17" name="slide-39-rect-15"/>
          <p:cNvSpPr/>
          <p:nvPr/>
        </p:nvSpPr>
        <p:spPr>
          <a:xfrm>
            <a:off x="6210300" y="4143375"/>
            <a:ext cx="5372100" cy="1724025"/>
          </a:xfrm>
          <a:prstGeom prst="roundRect">
            <a:avLst>
              <a:gd name="adj" fmla="val 5525"/>
            </a:avLst>
          </a:prstGeom>
          <a:solidFill>
            <a:srgbClr val="FFFFFF"/>
          </a:solidFill>
          <a:ln w="9525">
            <a:solidFill>
              <a:srgbClr val="D4DBD0"/>
            </a:solidFill>
            <a:prstDash val="solid"/>
          </a:ln>
        </p:spPr>
      </p:sp>
      <p:sp>
        <p:nvSpPr>
          <p:cNvPr id="18" name="slide-39-text-16"/>
          <p:cNvSpPr/>
          <p:nvPr/>
        </p:nvSpPr>
        <p:spPr>
          <a:xfrm>
            <a:off x="6438900" y="43338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EMPTY ARRAY</a:t>
            </a:r>
            <a:endParaRPr lang="en-US" sz="1350" dirty="0"/>
          </a:p>
        </p:txBody>
      </p:sp>
      <p:sp>
        <p:nvSpPr>
          <p:cNvPr id="19" name="slide-39-text-17"/>
          <p:cNvSpPr/>
          <p:nvPr/>
        </p:nvSpPr>
        <p:spPr>
          <a:xfrm>
            <a:off x="6438900" y="4686300"/>
            <a:ext cx="4914900" cy="400050"/>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No rows</a:t>
            </a:r>
            <a:endParaRPr lang="en-US" sz="2175" dirty="0"/>
          </a:p>
        </p:txBody>
      </p:sp>
      <p:sp>
        <p:nvSpPr>
          <p:cNvPr id="20" name="slide-39-text-18"/>
          <p:cNvSpPr/>
          <p:nvPr/>
        </p:nvSpPr>
        <p:spPr>
          <a:xfrm>
            <a:off x="6438900" y="5162550"/>
            <a:ext cx="4914900" cy="5334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 current code renders an empty list.</a:t>
            </a:r>
            <a:endParaRPr lang="en-US" sz="1875" dirty="0"/>
          </a:p>
        </p:txBody>
      </p:sp>
      <p:sp>
        <p:nvSpPr>
          <p:cNvPr id="21" name="slide-39-text-19">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fetch UI | CustomHooksDemo.tsx:98</a:t>
            </a:r>
            <a:endParaRPr lang="en-US" sz="1275" dirty="0"/>
          </a:p>
        </p:txBody>
      </p:sp>
      <p:sp>
        <p:nvSpPr>
          <p:cNvPr id="22" name="slide-39-text-20">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Fetching users</a:t>
            </a:r>
            <a:endParaRPr lang="en-US" sz="1275" dirty="0"/>
          </a:p>
        </p:txBody>
      </p:sp>
      <p:sp>
        <p:nvSpPr>
          <p:cNvPr id="23" name="slide-39-text-21"/>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39 / 65</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3EA"/>
        </a:solidFill>
      </p:bgPr>
    </p:bg>
    <p:spTree>
      <p:nvGrpSpPr>
        <p:cNvPr id="1" name=""/>
        <p:cNvGrpSpPr/>
        <p:nvPr/>
      </p:nvGrpSpPr>
      <p:grpSpPr>
        <a:xfrm>
          <a:off x="0" y="0"/>
          <a:ext cx="0" cy="0"/>
          <a:chOff x="0" y="0"/>
          <a:chExt cx="0" cy="0"/>
        </a:xfrm>
      </p:grpSpPr>
      <p:sp>
        <p:nvSpPr>
          <p:cNvPr id="2" name="slide-40-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40-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Let only the current request update state</a:t>
            </a:r>
            <a:endParaRPr lang="en-US" sz="3600" dirty="0"/>
          </a:p>
        </p:txBody>
      </p:sp>
      <p:sp>
        <p:nvSpPr>
          <p:cNvPr id="4" name="slide-40-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running useFetch uses a cancellation flag, not AbortController or a decoder.</a:t>
            </a:r>
            <a:endParaRPr lang="en-US" sz="1875" dirty="0"/>
          </a:p>
        </p:txBody>
      </p:sp>
      <p:sp>
        <p:nvSpPr>
          <p:cNvPr id="5" name="slide-40-rect-3"/>
          <p:cNvSpPr/>
          <p:nvPr/>
        </p:nvSpPr>
        <p:spPr>
          <a:xfrm>
            <a:off x="609600" y="2114550"/>
            <a:ext cx="8096250" cy="4095750"/>
          </a:xfrm>
          <a:prstGeom prst="roundRect">
            <a:avLst>
              <a:gd name="adj" fmla="val 2326"/>
            </a:avLst>
          </a:prstGeom>
          <a:solidFill>
            <a:srgbClr val="152B2A"/>
          </a:solidFill>
          <a:ln w="12700">
            <a:solidFill>
              <a:srgbClr val="152B2A">
                <a:alpha val="0"/>
              </a:srgbClr>
            </a:solidFill>
            <a:prstDash val="solid"/>
          </a:ln>
        </p:spPr>
      </p:sp>
      <p:sp>
        <p:nvSpPr>
          <p:cNvPr id="6" name="slide-40-text-4"/>
          <p:cNvSpPr/>
          <p:nvPr/>
        </p:nvSpPr>
        <p:spPr>
          <a:xfrm>
            <a:off x="838200" y="2305050"/>
            <a:ext cx="763905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USEFETCH / CURRENT LIFETIME EXCERPTS</a:t>
            </a:r>
            <a:endParaRPr lang="en-US" sz="1350" dirty="0"/>
          </a:p>
        </p:txBody>
      </p:sp>
      <p:sp>
        <p:nvSpPr>
          <p:cNvPr id="7" name="slide-40-text-5"/>
          <p:cNvSpPr/>
          <p:nvPr/>
        </p:nvSpPr>
        <p:spPr>
          <a:xfrm>
            <a:off x="838200" y="268605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let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cancelled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false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8" name="slide-40-text-6"/>
          <p:cNvSpPr/>
          <p:nvPr/>
        </p:nvSpPr>
        <p:spPr>
          <a:xfrm>
            <a:off x="838200" y="294608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B4C9BC"/>
                </a:solidFill>
                <a:latin typeface="Consolas" pitchFamily="34" charset="0"/>
                <a:ea typeface="Consolas" pitchFamily="34" charset="-122"/>
                <a:cs typeface="Consolas" pitchFamily="34" charset="-120"/>
              </a:rPr>
              <a:t>// Inside fetchData:</a:t>
            </a:r>
            <a:endParaRPr lang="en-US" sz="1575" dirty="0"/>
          </a:p>
        </p:txBody>
      </p:sp>
      <p:sp>
        <p:nvSpPr>
          <p:cNvPr id="9" name="slide-40-text-7"/>
          <p:cNvSpPr/>
          <p:nvPr/>
        </p:nvSpPr>
        <p:spPr>
          <a:xfrm>
            <a:off x="838200" y="320611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response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await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fetch(url);</a:t>
            </a:r>
            <a:endParaRPr lang="en-US" sz="1575" dirty="0"/>
          </a:p>
        </p:txBody>
      </p:sp>
      <p:sp>
        <p:nvSpPr>
          <p:cNvPr id="10" name="slide-40-text-8"/>
          <p:cNvSpPr/>
          <p:nvPr/>
        </p:nvSpPr>
        <p:spPr>
          <a:xfrm>
            <a:off x="838200" y="3466148"/>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(!response.ok) {</a:t>
            </a:r>
            <a:endParaRPr lang="en-US" sz="1575" dirty="0"/>
          </a:p>
        </p:txBody>
      </p:sp>
      <p:sp>
        <p:nvSpPr>
          <p:cNvPr id="11" name="slide-40-text-9"/>
          <p:cNvSpPr/>
          <p:nvPr/>
        </p:nvSpPr>
        <p:spPr>
          <a:xfrm>
            <a:off x="838200" y="372618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throw</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new</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Error(</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`HTTP error! status: ${response.status}`</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40-text-10"/>
          <p:cNvSpPr/>
          <p:nvPr/>
        </p:nvSpPr>
        <p:spPr>
          <a:xfrm>
            <a:off x="838200" y="398621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40-text-11"/>
          <p:cNvSpPr/>
          <p:nvPr/>
        </p:nvSpPr>
        <p:spPr>
          <a:xfrm>
            <a:off x="838200" y="424624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result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await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response.json();</a:t>
            </a:r>
            <a:endParaRPr lang="en-US" sz="1575" dirty="0"/>
          </a:p>
        </p:txBody>
      </p:sp>
      <p:sp>
        <p:nvSpPr>
          <p:cNvPr id="14" name="slide-40-text-12"/>
          <p:cNvSpPr/>
          <p:nvPr/>
        </p:nvSpPr>
        <p:spPr>
          <a:xfrm>
            <a:off x="838200" y="4506278"/>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(!cancelled) setData(result);</a:t>
            </a:r>
            <a:endParaRPr lang="en-US" sz="1575" dirty="0"/>
          </a:p>
        </p:txBody>
      </p:sp>
      <p:sp>
        <p:nvSpPr>
          <p:cNvPr id="15" name="slide-40-text-13"/>
          <p:cNvSpPr/>
          <p:nvPr/>
        </p:nvSpPr>
        <p:spPr>
          <a:xfrm>
            <a:off x="838200" y="476631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6" name="slide-40-text-14"/>
          <p:cNvSpPr/>
          <p:nvPr/>
        </p:nvSpPr>
        <p:spPr>
          <a:xfrm>
            <a:off x="838200" y="502634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B4C9BC"/>
                </a:solidFill>
                <a:latin typeface="Consolas" pitchFamily="34" charset="0"/>
                <a:ea typeface="Consolas" pitchFamily="34" charset="-122"/>
                <a:cs typeface="Consolas" pitchFamily="34" charset="-120"/>
              </a:rPr>
              <a:t>// The effect's cleanup:</a:t>
            </a:r>
            <a:endParaRPr lang="en-US" sz="1575" dirty="0"/>
          </a:p>
        </p:txBody>
      </p:sp>
      <p:sp>
        <p:nvSpPr>
          <p:cNvPr id="17" name="slide-40-text-15"/>
          <p:cNvSpPr/>
          <p:nvPr/>
        </p:nvSpPr>
        <p:spPr>
          <a:xfrm>
            <a:off x="838200" y="528637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=&gt; { cancelled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true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8" name="slide-40-text-16"/>
          <p:cNvSpPr/>
          <p:nvPr/>
        </p:nvSpPr>
        <p:spPr>
          <a:xfrm>
            <a:off x="9010650" y="21907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STATUS</a:t>
            </a:r>
            <a:endParaRPr lang="en-US" sz="1350" dirty="0"/>
          </a:p>
        </p:txBody>
      </p:sp>
      <p:sp>
        <p:nvSpPr>
          <p:cNvPr id="19" name="slide-40-text-17"/>
          <p:cNvSpPr/>
          <p:nvPr/>
        </p:nvSpPr>
        <p:spPr>
          <a:xfrm>
            <a:off x="9010650" y="25336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Check response.ok</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before reading JSON.</a:t>
            </a:r>
            <a:endParaRPr lang="en-US" sz="1950" dirty="0"/>
          </a:p>
        </p:txBody>
      </p:sp>
      <p:sp>
        <p:nvSpPr>
          <p:cNvPr id="20" name="slide-40-text-18"/>
          <p:cNvSpPr/>
          <p:nvPr/>
        </p:nvSpPr>
        <p:spPr>
          <a:xfrm>
            <a:off x="9010650" y="355600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LIFETIME</a:t>
            </a:r>
            <a:endParaRPr lang="en-US" sz="1350" dirty="0"/>
          </a:p>
        </p:txBody>
      </p:sp>
      <p:sp>
        <p:nvSpPr>
          <p:cNvPr id="21" name="slide-40-text-19"/>
          <p:cNvSpPr/>
          <p:nvPr/>
        </p:nvSpPr>
        <p:spPr>
          <a:xfrm>
            <a:off x="9010650" y="389890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Ignore results from</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obsolete effects.</a:t>
            </a:r>
            <a:endParaRPr lang="en-US" sz="1950" dirty="0"/>
          </a:p>
        </p:txBody>
      </p:sp>
      <p:sp>
        <p:nvSpPr>
          <p:cNvPr id="22" name="slide-40-text-20"/>
          <p:cNvSpPr/>
          <p:nvPr/>
        </p:nvSpPr>
        <p:spPr>
          <a:xfrm>
            <a:off x="9010650" y="49212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BOUNDARY</a:t>
            </a:r>
            <a:endParaRPr lang="en-US" sz="1350" dirty="0"/>
          </a:p>
        </p:txBody>
      </p:sp>
      <p:sp>
        <p:nvSpPr>
          <p:cNvPr id="23" name="slide-40-text-21"/>
          <p:cNvSpPr/>
          <p:nvPr/>
        </p:nvSpPr>
        <p:spPr>
          <a:xfrm>
            <a:off x="9010650" y="52641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Parsed JSON is not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validated by T.</a:t>
            </a:r>
            <a:endParaRPr lang="en-US" sz="1950" dirty="0"/>
          </a:p>
        </p:txBody>
      </p:sp>
      <p:sp>
        <p:nvSpPr>
          <p:cNvPr id="24" name="slide-40-text-2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useFetch | useFetch.ts:17</a:t>
            </a:r>
            <a:endParaRPr lang="en-US" sz="1275" dirty="0"/>
          </a:p>
        </p:txBody>
      </p:sp>
      <p:sp>
        <p:nvSpPr>
          <p:cNvPr id="25" name="slide-40-text-2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Fetching users</a:t>
            </a:r>
            <a:endParaRPr lang="en-US" sz="1275" dirty="0"/>
          </a:p>
        </p:txBody>
      </p:sp>
      <p:sp>
        <p:nvSpPr>
          <p:cNvPr id="26" name="slide-40-text-2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40 / 65</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3EA"/>
        </a:solidFill>
      </p:bgPr>
    </p:bg>
    <p:spTree>
      <p:nvGrpSpPr>
        <p:cNvPr id="1" name=""/>
        <p:cNvGrpSpPr/>
        <p:nvPr/>
      </p:nvGrpSpPr>
      <p:grpSpPr>
        <a:xfrm>
          <a:off x="0" y="0"/>
          <a:ext cx="0" cy="0"/>
          <a:chOff x="0" y="0"/>
          <a:chExt cx="0" cy="0"/>
        </a:xfrm>
      </p:grpSpPr>
      <p:sp>
        <p:nvSpPr>
          <p:cNvPr id="2" name="slide-4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41-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Read the generic syntax without the mystery</a:t>
            </a:r>
            <a:endParaRPr lang="en-US" sz="3600" dirty="0"/>
          </a:p>
        </p:txBody>
      </p:sp>
      <p:sp>
        <p:nvSpPr>
          <p:cNvPr id="4" name="slide-41-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A reusable implementation can preserve a different type at each call site.</a:t>
            </a:r>
            <a:endParaRPr lang="en-US" sz="1875" dirty="0"/>
          </a:p>
        </p:txBody>
      </p:sp>
      <p:sp>
        <p:nvSpPr>
          <p:cNvPr id="5" name="slide-41-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41-text-4"/>
          <p:cNvSpPr/>
          <p:nvPr/>
        </p:nvSpPr>
        <p:spPr>
          <a:xfrm>
            <a:off x="781050" y="2333625"/>
            <a:ext cx="260985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Syntax</a:t>
            </a:r>
            <a:endParaRPr lang="en-US" sz="1800" dirty="0"/>
          </a:p>
        </p:txBody>
      </p:sp>
      <p:sp>
        <p:nvSpPr>
          <p:cNvPr id="7" name="slide-41-text-5"/>
          <p:cNvSpPr/>
          <p:nvPr/>
        </p:nvSpPr>
        <p:spPr>
          <a:xfrm>
            <a:off x="3733800" y="2333625"/>
            <a:ext cx="38004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Meaning</a:t>
            </a:r>
            <a:endParaRPr lang="en-US" sz="1800" dirty="0"/>
          </a:p>
        </p:txBody>
      </p:sp>
      <p:sp>
        <p:nvSpPr>
          <p:cNvPr id="8" name="slide-41-text-6"/>
          <p:cNvSpPr/>
          <p:nvPr/>
        </p:nvSpPr>
        <p:spPr>
          <a:xfrm>
            <a:off x="7877175" y="2333625"/>
            <a:ext cx="35337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Actual use</a:t>
            </a:r>
            <a:endParaRPr lang="en-US" sz="1800" dirty="0"/>
          </a:p>
        </p:txBody>
      </p:sp>
      <p:sp>
        <p:nvSpPr>
          <p:cNvPr id="9" name="slide-41-rect-7"/>
          <p:cNvSpPr/>
          <p:nvPr/>
        </p:nvSpPr>
        <p:spPr>
          <a:xfrm>
            <a:off x="609600" y="2724150"/>
            <a:ext cx="10972800" cy="723900"/>
          </a:xfrm>
          <a:prstGeom prst="rect">
            <a:avLst/>
          </a:prstGeom>
          <a:solidFill>
            <a:srgbClr val="FFFFFF"/>
          </a:solidFill>
          <a:ln w="12700">
            <a:solidFill>
              <a:srgbClr val="FFFFFF">
                <a:alpha val="0"/>
              </a:srgbClr>
            </a:solidFill>
            <a:prstDash val="solid"/>
          </a:ln>
        </p:spPr>
      </p:sp>
      <p:sp>
        <p:nvSpPr>
          <p:cNvPr id="10" name="slide-41-text-8"/>
          <p:cNvSpPr/>
          <p:nvPr/>
        </p:nvSpPr>
        <p:spPr>
          <a:xfrm>
            <a:off x="781050" y="2819400"/>
            <a:ext cx="2609850" cy="5524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onsolas" pitchFamily="34" charset="0"/>
                <a:ea typeface="Consolas" pitchFamily="34" charset="-122"/>
                <a:cs typeface="Consolas" pitchFamily="34" charset="-120"/>
              </a:rPr>
              <a:t>&lt;T&gt;</a:t>
            </a:r>
            <a:endParaRPr lang="en-US" sz="1800" dirty="0"/>
          </a:p>
        </p:txBody>
      </p:sp>
      <p:sp>
        <p:nvSpPr>
          <p:cNvPr id="11" name="slide-41-text-9"/>
          <p:cNvSpPr/>
          <p:nvPr/>
        </p:nvSpPr>
        <p:spPr>
          <a:xfrm>
            <a:off x="3733800" y="2819400"/>
            <a:ext cx="38004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A placeholder for a type</a:t>
            </a:r>
            <a:endParaRPr lang="en-US" sz="1800" dirty="0"/>
          </a:p>
        </p:txBody>
      </p:sp>
      <p:sp>
        <p:nvSpPr>
          <p:cNvPr id="12" name="slide-41-text-10"/>
          <p:cNvSpPr/>
          <p:nvPr/>
        </p:nvSpPr>
        <p:spPr>
          <a:xfrm>
            <a:off x="7877175" y="2819400"/>
            <a:ext cx="35337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useFetch and useLocalStorage</a:t>
            </a:r>
            <a:endParaRPr lang="en-US" sz="1800" dirty="0"/>
          </a:p>
        </p:txBody>
      </p:sp>
      <p:sp>
        <p:nvSpPr>
          <p:cNvPr id="13" name="slide-41-rect-11"/>
          <p:cNvSpPr/>
          <p:nvPr/>
        </p:nvSpPr>
        <p:spPr>
          <a:xfrm>
            <a:off x="609600" y="3467100"/>
            <a:ext cx="10972800" cy="723900"/>
          </a:xfrm>
          <a:prstGeom prst="rect">
            <a:avLst/>
          </a:prstGeom>
          <a:solidFill>
            <a:srgbClr val="F6F3EA"/>
          </a:solidFill>
          <a:ln w="12700">
            <a:solidFill>
              <a:srgbClr val="F6F3EA">
                <a:alpha val="0"/>
              </a:srgbClr>
            </a:solidFill>
            <a:prstDash val="solid"/>
          </a:ln>
        </p:spPr>
      </p:sp>
      <p:sp>
        <p:nvSpPr>
          <p:cNvPr id="14" name="slide-41-text-12"/>
          <p:cNvSpPr/>
          <p:nvPr/>
        </p:nvSpPr>
        <p:spPr>
          <a:xfrm>
            <a:off x="781050" y="3562350"/>
            <a:ext cx="2609850" cy="5524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onsolas" pitchFamily="34" charset="0"/>
                <a:ea typeface="Consolas" pitchFamily="34" charset="-122"/>
                <a:cs typeface="Consolas" pitchFamily="34" charset="-120"/>
              </a:rPr>
              <a:t>&lt;DemoUser[]&gt;</a:t>
            </a:r>
            <a:endParaRPr lang="en-US" sz="1800" dirty="0"/>
          </a:p>
        </p:txBody>
      </p:sp>
      <p:sp>
        <p:nvSpPr>
          <p:cNvPr id="15" name="slide-41-text-13"/>
          <p:cNvSpPr/>
          <p:nvPr/>
        </p:nvSpPr>
        <p:spPr>
          <a:xfrm>
            <a:off x="3733800" y="3562350"/>
            <a:ext cx="38004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Choose the result's type</a:t>
            </a:r>
            <a:endParaRPr lang="en-US" sz="1800" dirty="0"/>
          </a:p>
        </p:txBody>
      </p:sp>
      <p:sp>
        <p:nvSpPr>
          <p:cNvPr id="16" name="slide-41-text-14"/>
          <p:cNvSpPr/>
          <p:nvPr/>
        </p:nvSpPr>
        <p:spPr>
          <a:xfrm>
            <a:off x="7877175" y="3562350"/>
            <a:ext cx="35337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The bundled users request</a:t>
            </a:r>
            <a:endParaRPr lang="en-US" sz="1800" dirty="0"/>
          </a:p>
        </p:txBody>
      </p:sp>
      <p:sp>
        <p:nvSpPr>
          <p:cNvPr id="17" name="slide-41-rect-15"/>
          <p:cNvSpPr/>
          <p:nvPr/>
        </p:nvSpPr>
        <p:spPr>
          <a:xfrm>
            <a:off x="609600" y="4210050"/>
            <a:ext cx="10972800" cy="723900"/>
          </a:xfrm>
          <a:prstGeom prst="rect">
            <a:avLst/>
          </a:prstGeom>
          <a:solidFill>
            <a:srgbClr val="FFFFFF"/>
          </a:solidFill>
          <a:ln w="12700">
            <a:solidFill>
              <a:srgbClr val="FFFFFF">
                <a:alpha val="0"/>
              </a:srgbClr>
            </a:solidFill>
            <a:prstDash val="solid"/>
          </a:ln>
        </p:spPr>
      </p:sp>
      <p:sp>
        <p:nvSpPr>
          <p:cNvPr id="18" name="slide-41-text-16"/>
          <p:cNvSpPr/>
          <p:nvPr/>
        </p:nvSpPr>
        <p:spPr>
          <a:xfrm>
            <a:off x="781050" y="4305300"/>
            <a:ext cx="2609850" cy="5524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onsolas" pitchFamily="34" charset="0"/>
                <a:ea typeface="Consolas" pitchFamily="34" charset="-122"/>
                <a:cs typeface="Consolas" pitchFamily="34" charset="-120"/>
              </a:rPr>
              <a:t>T | null</a:t>
            </a:r>
            <a:endParaRPr lang="en-US" sz="1800" dirty="0"/>
          </a:p>
        </p:txBody>
      </p:sp>
      <p:sp>
        <p:nvSpPr>
          <p:cNvPr id="19" name="slide-41-text-17"/>
          <p:cNvSpPr/>
          <p:nvPr/>
        </p:nvSpPr>
        <p:spPr>
          <a:xfrm>
            <a:off x="3733800" y="4305300"/>
            <a:ext cx="38004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Data or no result yet</a:t>
            </a:r>
            <a:endParaRPr lang="en-US" sz="1800" dirty="0"/>
          </a:p>
        </p:txBody>
      </p:sp>
      <p:sp>
        <p:nvSpPr>
          <p:cNvPr id="20" name="slide-41-text-18"/>
          <p:cNvSpPr/>
          <p:nvPr/>
        </p:nvSpPr>
        <p:spPr>
          <a:xfrm>
            <a:off x="7877175" y="4305300"/>
            <a:ext cx="35337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Narrow before reading data</a:t>
            </a:r>
            <a:endParaRPr lang="en-US" sz="1800" dirty="0"/>
          </a:p>
        </p:txBody>
      </p:sp>
      <p:sp>
        <p:nvSpPr>
          <p:cNvPr id="21" name="slide-41-rect-19"/>
          <p:cNvSpPr/>
          <p:nvPr/>
        </p:nvSpPr>
        <p:spPr>
          <a:xfrm>
            <a:off x="609600" y="4953000"/>
            <a:ext cx="10972800" cy="723900"/>
          </a:xfrm>
          <a:prstGeom prst="rect">
            <a:avLst/>
          </a:prstGeom>
          <a:solidFill>
            <a:srgbClr val="F6F3EA"/>
          </a:solidFill>
          <a:ln w="12700">
            <a:solidFill>
              <a:srgbClr val="F6F3EA">
                <a:alpha val="0"/>
              </a:srgbClr>
            </a:solidFill>
            <a:prstDash val="solid"/>
          </a:ln>
        </p:spPr>
      </p:sp>
      <p:sp>
        <p:nvSpPr>
          <p:cNvPr id="22" name="slide-41-text-20"/>
          <p:cNvSpPr/>
          <p:nvPr/>
        </p:nvSpPr>
        <p:spPr>
          <a:xfrm>
            <a:off x="781050" y="5048250"/>
            <a:ext cx="2609850" cy="552450"/>
          </a:xfrm>
          <a:prstGeom prst="rect">
            <a:avLst/>
          </a:prstGeom>
          <a:noFill/>
          <a:ln/>
        </p:spPr>
        <p:txBody>
          <a:bodyPr wrap="square" lIns="0" tIns="0" rIns="0" bIns="0" rtlCol="0" anchor="ctr"/>
          <a:lstStyle/>
          <a:p>
            <a:pPr algn="l" indent="0" marL="0">
              <a:lnSpc>
                <a:spcPts val="2106"/>
              </a:lnSpc>
              <a:buNone/>
            </a:pPr>
            <a:r>
              <a:rPr lang="en-US" sz="1800" b="1" dirty="0">
                <a:solidFill>
                  <a:srgbClr val="183B34"/>
                </a:solidFill>
                <a:latin typeface="Consolas" pitchFamily="34" charset="0"/>
                <a:ea typeface="Consolas" pitchFamily="34" charset="-122"/>
                <a:cs typeface="Consolas" pitchFamily="34" charset="-120"/>
              </a:rPr>
              <a:t>as const</a:t>
            </a:r>
            <a:endParaRPr lang="en-US" sz="1800" dirty="0"/>
          </a:p>
        </p:txBody>
      </p:sp>
      <p:sp>
        <p:nvSpPr>
          <p:cNvPr id="23" name="slide-41-text-21"/>
          <p:cNvSpPr/>
          <p:nvPr/>
        </p:nvSpPr>
        <p:spPr>
          <a:xfrm>
            <a:off x="3733800" y="5048250"/>
            <a:ext cx="38004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Preserve tuple positions</a:t>
            </a:r>
            <a:endParaRPr lang="en-US" sz="1800" dirty="0"/>
          </a:p>
        </p:txBody>
      </p:sp>
      <p:sp>
        <p:nvSpPr>
          <p:cNvPr id="24" name="slide-41-text-22"/>
          <p:cNvSpPr/>
          <p:nvPr/>
        </p:nvSpPr>
        <p:spPr>
          <a:xfrm>
            <a:off x="7877175" y="5048250"/>
            <a:ext cx="3533775" cy="552450"/>
          </a:xfrm>
          <a:prstGeom prst="rect">
            <a:avLst/>
          </a:prstGeom>
          <a:noFill/>
          <a:ln/>
        </p:spPr>
        <p:txBody>
          <a:bodyPr wrap="square" lIns="0" tIns="0" rIns="0" bIns="0" rtlCol="0" anchor="ctr"/>
          <a:lstStyle/>
          <a:p>
            <a:pPr algn="l" indent="0" marL="0">
              <a:lnSpc>
                <a:spcPts val="2106"/>
              </a:lnSpc>
              <a:buNone/>
            </a:pPr>
            <a:r>
              <a:rPr lang="en-US" sz="1800" dirty="0">
                <a:solidFill>
                  <a:srgbClr val="536B61"/>
                </a:solidFill>
                <a:latin typeface="Calibri" pitchFamily="34" charset="0"/>
                <a:ea typeface="Calibri" pitchFamily="34" charset="-122"/>
                <a:cs typeface="Calibri" pitchFamily="34" charset="-120"/>
              </a:rPr>
              <a:t>Storage value and setter</a:t>
            </a:r>
            <a:endParaRPr lang="en-US" sz="1800" dirty="0"/>
          </a:p>
        </p:txBody>
      </p:sp>
      <p:sp>
        <p:nvSpPr>
          <p:cNvPr id="25" name="slide-41-text-23">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DemoUser / useFetch | CustomHooksDemo.tsx:16</a:t>
            </a:r>
            <a:endParaRPr lang="en-US" sz="1275" dirty="0"/>
          </a:p>
        </p:txBody>
      </p:sp>
      <p:sp>
        <p:nvSpPr>
          <p:cNvPr id="26" name="slide-41-text-24">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Fetching users</a:t>
            </a:r>
            <a:endParaRPr lang="en-US" sz="1275" dirty="0"/>
          </a:p>
        </p:txBody>
      </p:sp>
      <p:sp>
        <p:nvSpPr>
          <p:cNvPr id="27" name="slide-41-text-25"/>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41 / 65</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3EA"/>
        </a:solidFill>
      </p:bgPr>
    </p:bg>
    <p:spTree>
      <p:nvGrpSpPr>
        <p:cNvPr id="1" name=""/>
        <p:cNvGrpSpPr/>
        <p:nvPr/>
      </p:nvGrpSpPr>
      <p:grpSpPr>
        <a:xfrm>
          <a:off x="0" y="0"/>
          <a:ext cx="0" cy="0"/>
          <a:chOff x="0" y="0"/>
          <a:chExt cx="0" cy="0"/>
        </a:xfrm>
      </p:grpSpPr>
      <p:sp>
        <p:nvSpPr>
          <p:cNvPr id="2" name="slide-4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4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Persistence is a behavior with a contract</a:t>
            </a:r>
            <a:endParaRPr lang="en-US" sz="3600" dirty="0"/>
          </a:p>
        </p:txBody>
      </p:sp>
      <p:sp>
        <p:nvSpPr>
          <p:cNvPr id="4" name="slide-4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current useLocalStorage hook reads lazily and writes inside its custom setter.</a:t>
            </a:r>
            <a:endParaRPr lang="en-US" sz="1875" dirty="0"/>
          </a:p>
        </p:txBody>
      </p:sp>
      <p:sp>
        <p:nvSpPr>
          <p:cNvPr id="5" name="slide-42-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42-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CURRENT STORAGE SETTER AND RETURN / EXCERPTS</a:t>
            </a:r>
            <a:endParaRPr lang="en-US" sz="1350" dirty="0"/>
          </a:p>
        </p:txBody>
      </p:sp>
      <p:sp>
        <p:nvSpPr>
          <p:cNvPr id="7" name="slide-42-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valueToStore = value instanceof Function</a:t>
            </a:r>
            <a:endParaRPr lang="en-US" sz="1575" dirty="0"/>
          </a:p>
        </p:txBody>
      </p:sp>
      <p:sp>
        <p:nvSpPr>
          <p:cNvPr id="8" name="slide-42-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value(storedValue) : value;</a:t>
            </a:r>
            <a:endParaRPr lang="en-US" sz="1575" dirty="0"/>
          </a:p>
        </p:txBody>
      </p:sp>
      <p:sp>
        <p:nvSpPr>
          <p:cNvPr id="9" name="slide-42-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setStoredValue(valueToStore);</a:t>
            </a:r>
            <a:endParaRPr lang="en-US" sz="1575" dirty="0"/>
          </a:p>
        </p:txBody>
      </p:sp>
      <p:sp>
        <p:nvSpPr>
          <p:cNvPr id="10" name="slide-42-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window.localStorage.setItem(</a:t>
            </a:r>
            <a:endParaRPr lang="en-US" sz="1575" dirty="0"/>
          </a:p>
        </p:txBody>
      </p:sp>
      <p:sp>
        <p:nvSpPr>
          <p:cNvPr id="11" name="slide-42-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key, JSON.stringify(valueToStore)</a:t>
            </a:r>
            <a:endParaRPr lang="en-US" sz="1575" dirty="0"/>
          </a:p>
        </p:txBody>
      </p:sp>
      <p:sp>
        <p:nvSpPr>
          <p:cNvPr id="12" name="slide-42-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3" name="slide-42-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4" name="slide-42-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[storedValue, setValue]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as</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5" name="slide-42-text-13"/>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READ</a:t>
            </a:r>
            <a:endParaRPr lang="en-US" sz="1350" dirty="0"/>
          </a:p>
        </p:txBody>
      </p:sp>
      <p:sp>
        <p:nvSpPr>
          <p:cNvPr id="16" name="slide-42-text-14"/>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Parse stored JSON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 initialization.</a:t>
            </a:r>
            <a:endParaRPr lang="en-US" sz="1950" dirty="0"/>
          </a:p>
        </p:txBody>
      </p:sp>
      <p:sp>
        <p:nvSpPr>
          <p:cNvPr id="17" name="slide-42-text-15"/>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WRITE</a:t>
            </a:r>
            <a:endParaRPr lang="en-US" sz="1350" dirty="0"/>
          </a:p>
        </p:txBody>
      </p:sp>
      <p:sp>
        <p:nvSpPr>
          <p:cNvPr id="18" name="slide-42-text-16"/>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Update state and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browser storage.</a:t>
            </a:r>
            <a:endParaRPr lang="en-US" sz="1950" dirty="0"/>
          </a:p>
        </p:txBody>
      </p:sp>
      <p:sp>
        <p:nvSpPr>
          <p:cNvPr id="19" name="slide-42-text-17"/>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CAUTION</a:t>
            </a:r>
            <a:endParaRPr lang="en-US" sz="1350" dirty="0"/>
          </a:p>
        </p:txBody>
      </p:sp>
      <p:sp>
        <p:nvSpPr>
          <p:cNvPr id="20" name="slide-42-text-18"/>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setter reads a</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captured snapshot.</a:t>
            </a:r>
            <a:endParaRPr lang="en-US" sz="1950" dirty="0"/>
          </a:p>
        </p:txBody>
      </p:sp>
      <p:sp>
        <p:nvSpPr>
          <p:cNvPr id="21" name="slide-42-rect-1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2" name="slide-42-text-2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Accepting updater functions is not the same as preserving React's queued updater semantics.</a:t>
            </a:r>
            <a:endParaRPr lang="en-US" sz="1875" dirty="0"/>
          </a:p>
        </p:txBody>
      </p:sp>
      <p:sp>
        <p:nvSpPr>
          <p:cNvPr id="23" name="slide-42-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useLocalStorage | useLocalStorage.ts:17</a:t>
            </a:r>
            <a:endParaRPr lang="en-US" sz="1275" dirty="0"/>
          </a:p>
        </p:txBody>
      </p:sp>
      <p:sp>
        <p:nvSpPr>
          <p:cNvPr id="24" name="slide-42-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Persistent state</a:t>
            </a:r>
            <a:endParaRPr lang="en-US" sz="1275" dirty="0"/>
          </a:p>
        </p:txBody>
      </p:sp>
      <p:sp>
        <p:nvSpPr>
          <p:cNvPr id="25" name="slide-42-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42 / 65</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3EA"/>
        </a:solidFill>
      </p:bgPr>
    </p:bg>
    <p:spTree>
      <p:nvGrpSpPr>
        <p:cNvPr id="1" name=""/>
        <p:cNvGrpSpPr/>
        <p:nvPr/>
      </p:nvGrpSpPr>
      <p:grpSpPr>
        <a:xfrm>
          <a:off x="0" y="0"/>
          <a:ext cx="0" cy="0"/>
          <a:chOff x="0" y="0"/>
          <a:chExt cx="0" cy="0"/>
        </a:xfrm>
      </p:grpSpPr>
      <p:sp>
        <p:nvSpPr>
          <p:cNvPr id="2" name="slide-4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4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Extract the whole stateful responsibility</a:t>
            </a:r>
            <a:endParaRPr lang="en-US" sz="3600" dirty="0"/>
          </a:p>
        </p:txBody>
      </p:sp>
      <p:sp>
        <p:nvSpPr>
          <p:cNvPr id="4" name="slide-4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useWindowDimensions packages state, subscription and cleanup together.</a:t>
            </a:r>
            <a:endParaRPr lang="en-US" sz="1875" dirty="0"/>
          </a:p>
        </p:txBody>
      </p:sp>
      <p:sp>
        <p:nvSpPr>
          <p:cNvPr id="5" name="slide-43-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43-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USEWINDOWDIMENSIONS / CURRENT EFFECT, REFLOWED</a:t>
            </a:r>
            <a:endParaRPr lang="en-US" sz="1350" dirty="0"/>
          </a:p>
        </p:txBody>
      </p:sp>
      <p:sp>
        <p:nvSpPr>
          <p:cNvPr id="7" name="slide-43-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useEffect(() =&gt; {</a:t>
            </a:r>
            <a:endParaRPr lang="en-US" sz="1575" dirty="0"/>
          </a:p>
        </p:txBody>
      </p:sp>
      <p:sp>
        <p:nvSpPr>
          <p:cNvPr id="8" name="slide-43-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handleResize = () =&gt; {</a:t>
            </a:r>
            <a:endParaRPr lang="en-US" sz="1575" dirty="0"/>
          </a:p>
        </p:txBody>
      </p:sp>
      <p:sp>
        <p:nvSpPr>
          <p:cNvPr id="9" name="slide-43-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setDimensions({</a:t>
            </a:r>
            <a:endParaRPr lang="en-US" sz="1575" dirty="0"/>
          </a:p>
        </p:txBody>
      </p:sp>
      <p:sp>
        <p:nvSpPr>
          <p:cNvPr id="10" name="slide-43-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width: window.innerWidth,</a:t>
            </a:r>
            <a:endParaRPr lang="en-US" sz="1575" dirty="0"/>
          </a:p>
        </p:txBody>
      </p:sp>
      <p:sp>
        <p:nvSpPr>
          <p:cNvPr id="11" name="slide-43-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height: window.innerHeight,</a:t>
            </a:r>
            <a:endParaRPr lang="en-US" sz="1575" dirty="0"/>
          </a:p>
        </p:txBody>
      </p:sp>
      <p:sp>
        <p:nvSpPr>
          <p:cNvPr id="12" name="slide-43-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43-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4" name="slide-43-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window.addEventListener(</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'resize'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handleResize);</a:t>
            </a:r>
            <a:endParaRPr lang="en-US" sz="1575" dirty="0"/>
          </a:p>
        </p:txBody>
      </p:sp>
      <p:sp>
        <p:nvSpPr>
          <p:cNvPr id="15" name="slide-43-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=&gt;</a:t>
            </a:r>
            <a:endParaRPr lang="en-US" sz="1575" dirty="0"/>
          </a:p>
        </p:txBody>
      </p:sp>
      <p:sp>
        <p:nvSpPr>
          <p:cNvPr id="16" name="slide-43-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window.removeEventListener(</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'resize'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handleResize);</a:t>
            </a:r>
            <a:endParaRPr lang="en-US" sz="1575" dirty="0"/>
          </a:p>
        </p:txBody>
      </p:sp>
      <p:sp>
        <p:nvSpPr>
          <p:cNvPr id="17" name="slide-43-text-15"/>
          <p:cNvSpPr/>
          <p:nvPr/>
        </p:nvSpPr>
        <p:spPr>
          <a:xfrm>
            <a:off x="838200" y="528637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8" name="slide-43-text-16"/>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HOOK</a:t>
            </a:r>
            <a:endParaRPr lang="en-US" sz="1350" dirty="0"/>
          </a:p>
        </p:txBody>
      </p:sp>
      <p:sp>
        <p:nvSpPr>
          <p:cNvPr id="19" name="slide-43-text-17"/>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Own the browser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subscription.</a:t>
            </a:r>
            <a:endParaRPr lang="en-US" sz="1950" dirty="0"/>
          </a:p>
        </p:txBody>
      </p:sp>
      <p:sp>
        <p:nvSpPr>
          <p:cNvPr id="20" name="slide-43-text-18"/>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COMPONENT</a:t>
            </a:r>
            <a:endParaRPr lang="en-US" sz="1350" dirty="0"/>
          </a:p>
        </p:txBody>
      </p:sp>
      <p:sp>
        <p:nvSpPr>
          <p:cNvPr id="21" name="slide-43-text-19"/>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Choose the text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and bar color.</a:t>
            </a:r>
            <a:endParaRPr lang="en-US" sz="1950" dirty="0"/>
          </a:p>
        </p:txBody>
      </p:sp>
      <p:sp>
        <p:nvSpPr>
          <p:cNvPr id="22" name="slide-43-text-20"/>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SCOPE</a:t>
            </a:r>
            <a:endParaRPr lang="en-US" sz="1350" dirty="0"/>
          </a:p>
        </p:txBody>
      </p:sp>
      <p:sp>
        <p:nvSpPr>
          <p:cNvPr id="23" name="slide-43-text-21"/>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Each call creates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its own listener.</a:t>
            </a:r>
            <a:endParaRPr lang="en-US" sz="1950" dirty="0"/>
          </a:p>
        </p:txBody>
      </p:sp>
      <p:sp>
        <p:nvSpPr>
          <p:cNvPr id="24" name="slide-43-text-2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useWindowDimensions | useWindowDimensions.ts:18</a:t>
            </a:r>
            <a:endParaRPr lang="en-US" sz="1275" dirty="0"/>
          </a:p>
        </p:txBody>
      </p:sp>
      <p:sp>
        <p:nvSpPr>
          <p:cNvPr id="25" name="slide-43-text-2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Window dimensions</a:t>
            </a:r>
            <a:endParaRPr lang="en-US" sz="1275" dirty="0"/>
          </a:p>
        </p:txBody>
      </p:sp>
      <p:sp>
        <p:nvSpPr>
          <p:cNvPr id="26" name="slide-43-text-2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43 / 65</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3EA"/>
        </a:solidFill>
      </p:bgPr>
    </p:bg>
    <p:spTree>
      <p:nvGrpSpPr>
        <p:cNvPr id="1" name=""/>
        <p:cNvGrpSpPr/>
        <p:nvPr/>
      </p:nvGrpSpPr>
      <p:grpSpPr>
        <a:xfrm>
          <a:off x="0" y="0"/>
          <a:ext cx="0" cy="0"/>
          <a:chOff x="0" y="0"/>
          <a:chExt cx="0" cy="0"/>
        </a:xfrm>
      </p:grpSpPr>
      <p:sp>
        <p:nvSpPr>
          <p:cNvPr id="2" name="slide-4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03 / EFFECTS AND CUSTOM HOOKS</a:t>
            </a:r>
            <a:endParaRPr lang="en-US" sz="1350" dirty="0"/>
          </a:p>
        </p:txBody>
      </p:sp>
      <p:sp>
        <p:nvSpPr>
          <p:cNvPr id="3" name="slide-4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Predict: will this toggle recolor the app?</a:t>
            </a:r>
            <a:endParaRPr lang="en-US" sz="3600" dirty="0"/>
          </a:p>
        </p:txBody>
      </p:sp>
      <p:sp>
        <p:nvSpPr>
          <p:cNvPr id="4" name="slide-4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Custom Hooks has a saved theme preference; Context has a separate theme value.</a:t>
            </a:r>
            <a:endParaRPr lang="en-US" sz="1875" dirty="0"/>
          </a:p>
        </p:txBody>
      </p:sp>
      <p:sp>
        <p:nvSpPr>
          <p:cNvPr id="5" name="slide-44-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44-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a:t>
            </a:r>
            <a:endParaRPr lang="en-US" sz="5700" dirty="0"/>
          </a:p>
        </p:txBody>
      </p:sp>
      <p:sp>
        <p:nvSpPr>
          <p:cNvPr id="7" name="slide-44-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DISCUSS</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EXPLAIN</a:t>
            </a:r>
            <a:endParaRPr lang="en-US" sz="1725" dirty="0"/>
          </a:p>
        </p:txBody>
      </p:sp>
      <p:sp>
        <p:nvSpPr>
          <p:cNvPr id="8" name="slide-44-text-6"/>
          <p:cNvSpPr/>
          <p:nvPr/>
        </p:nvSpPr>
        <p:spPr>
          <a:xfrm>
            <a:off x="2533650" y="2333625"/>
            <a:ext cx="5238750" cy="2667000"/>
          </a:xfrm>
          <a:prstGeom prst="rect">
            <a:avLst/>
          </a:prstGeom>
          <a:noFill/>
          <a:ln/>
        </p:spPr>
        <p:txBody>
          <a:bodyPr wrap="square" lIns="0" tIns="0" rIns="0" bIns="0" rtlCol="0" anchor="t"/>
          <a:lstStyle/>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Click Toggle Theme</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inside Custom Hooks.</a:t>
            </a:r>
            <a:endParaRPr lang="en-US" sz="2775" dirty="0"/>
          </a:p>
          <a:p>
            <a:pPr algn="l" indent="0" marL="0">
              <a:lnSpc>
                <a:spcPts val="3247"/>
              </a:lnSpc>
              <a:buNone/>
            </a:pP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Will the entire app</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switch colors?</a:t>
            </a:r>
            <a:endParaRPr lang="en-US" sz="2775" dirty="0"/>
          </a:p>
        </p:txBody>
      </p:sp>
      <p:sp>
        <p:nvSpPr>
          <p:cNvPr id="9" name="slide-44-text-7"/>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0" name="slide-44-text-8"/>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Predict the result.</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Find the storage key.</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Find the other owner.</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Explain why they differ.</a:t>
            </a:r>
            <a:endParaRPr lang="en-US" sz="2100" dirty="0"/>
          </a:p>
        </p:txBody>
      </p:sp>
      <p:sp>
        <p:nvSpPr>
          <p:cNvPr id="11" name="slide-44-rect-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2" name="slide-44-text-1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Reusing a hook shares logic. It does not automatically share one live state value.</a:t>
            </a:r>
            <a:endParaRPr lang="en-US" sz="1875" dirty="0"/>
          </a:p>
        </p:txBody>
      </p:sp>
      <p:sp>
        <p:nvSpPr>
          <p:cNvPr id="13" name="slide-44-text-1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preferences | CustomHooksDemo.tsx:26</a:t>
            </a:r>
            <a:endParaRPr lang="en-US" sz="1275" dirty="0"/>
          </a:p>
        </p:txBody>
      </p:sp>
      <p:sp>
        <p:nvSpPr>
          <p:cNvPr id="14" name="slide-44-text-1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6. Custom Hooks / Persistent state</a:t>
            </a:r>
            <a:endParaRPr lang="en-US" sz="1275" dirty="0"/>
          </a:p>
        </p:txBody>
      </p:sp>
      <p:sp>
        <p:nvSpPr>
          <p:cNvPr id="15" name="slide-44-text-1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44 / 65</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3EA"/>
        </a:solidFill>
      </p:bgPr>
    </p:bg>
    <p:spTree>
      <p:nvGrpSpPr>
        <p:cNvPr id="1" name=""/>
        <p:cNvGrpSpPr/>
        <p:nvPr/>
      </p:nvGrpSpPr>
      <p:grpSpPr>
        <a:xfrm>
          <a:off x="0" y="0"/>
          <a:ext cx="0" cy="0"/>
          <a:chOff x="0" y="0"/>
          <a:chExt cx="0" cy="0"/>
        </a:xfrm>
      </p:grpSpPr>
      <p:sp>
        <p:nvSpPr>
          <p:cNvPr id="2" name="slide-4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04 / SHARED STATE</a:t>
            </a:r>
            <a:endParaRPr lang="en-US" sz="1350" dirty="0"/>
          </a:p>
        </p:txBody>
      </p:sp>
      <p:sp>
        <p:nvSpPr>
          <p:cNvPr id="3" name="slide-45-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Context connects consumers to one owner</a:t>
            </a:r>
            <a:endParaRPr lang="en-US" sz="3600" dirty="0"/>
          </a:p>
        </p:txBody>
      </p:sp>
      <p:sp>
        <p:nvSpPr>
          <p:cNvPr id="4" name="slide-45-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ContextDemo reads auth; its children also consume theme and notifications.</a:t>
            </a:r>
            <a:endParaRPr lang="en-US" sz="1875" dirty="0"/>
          </a:p>
        </p:txBody>
      </p:sp>
      <p:sp>
        <p:nvSpPr>
          <p:cNvPr id="5" name="slide-45-text-3"/>
          <p:cNvSpPr/>
          <p:nvPr/>
        </p:nvSpPr>
        <p:spPr>
          <a:xfrm>
            <a:off x="609600" y="2190750"/>
            <a:ext cx="51435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WITHOUT CONTEXT / COMPARISON</a:t>
            </a:r>
            <a:endParaRPr lang="en-US" sz="1350" dirty="0"/>
          </a:p>
        </p:txBody>
      </p:sp>
      <p:sp>
        <p:nvSpPr>
          <p:cNvPr id="6" name="slide-45-rect-4"/>
          <p:cNvSpPr/>
          <p:nvPr/>
        </p:nvSpPr>
        <p:spPr>
          <a:xfrm>
            <a:off x="1905000" y="2571750"/>
            <a:ext cx="2476500" cy="514350"/>
          </a:xfrm>
          <a:prstGeom prst="roundRect">
            <a:avLst>
              <a:gd name="adj" fmla="val 11111"/>
            </a:avLst>
          </a:prstGeom>
          <a:solidFill>
            <a:srgbClr val="FFFFFF"/>
          </a:solidFill>
          <a:ln w="9525">
            <a:solidFill>
              <a:srgbClr val="D4DBD0"/>
            </a:solidFill>
            <a:prstDash val="solid"/>
          </a:ln>
        </p:spPr>
      </p:sp>
      <p:sp>
        <p:nvSpPr>
          <p:cNvPr id="7" name="slide-45-text-5"/>
          <p:cNvSpPr/>
          <p:nvPr/>
        </p:nvSpPr>
        <p:spPr>
          <a:xfrm>
            <a:off x="2047875" y="2676525"/>
            <a:ext cx="2190750" cy="361950"/>
          </a:xfrm>
          <a:prstGeom prst="rect">
            <a:avLst/>
          </a:prstGeom>
          <a:noFill/>
          <a:ln/>
        </p:spPr>
        <p:txBody>
          <a:bodyPr wrap="square" lIns="0" tIns="0" rIns="0" bIns="0" rtlCol="0" anchor="t"/>
          <a:lstStyle/>
          <a:p>
            <a:pPr algn="ctr" indent="0" marL="0">
              <a:lnSpc>
                <a:spcPts val="2282"/>
              </a:lnSpc>
              <a:buNone/>
            </a:pPr>
            <a:r>
              <a:rPr lang="en-US" sz="1950" b="1" dirty="0">
                <a:solidFill>
                  <a:srgbClr val="183B34"/>
                </a:solidFill>
                <a:latin typeface="Calibri" pitchFamily="34" charset="0"/>
                <a:ea typeface="Calibri" pitchFamily="34" charset="-122"/>
                <a:cs typeface="Calibri" pitchFamily="34" charset="-120"/>
              </a:rPr>
              <a:t>Parent owns user</a:t>
            </a:r>
            <a:endParaRPr lang="en-US" sz="1950" dirty="0"/>
          </a:p>
        </p:txBody>
      </p:sp>
      <p:sp>
        <p:nvSpPr>
          <p:cNvPr id="8" name="slide-45-arrow-6"/>
          <p:cNvSpPr/>
          <p:nvPr/>
        </p:nvSpPr>
        <p:spPr>
          <a:xfrm>
            <a:off x="3143250" y="3124200"/>
            <a:ext cx="0" cy="257175"/>
          </a:xfrm>
          <a:prstGeom prst="line">
            <a:avLst/>
          </a:prstGeom>
          <a:noFill/>
          <a:ln w="23813">
            <a:solidFill>
              <a:srgbClr val="B34F25"/>
            </a:solidFill>
            <a:prstDash val="solid"/>
            <a:headEnd type="none"/>
            <a:tailEnd type="triangle"/>
          </a:ln>
        </p:spPr>
      </p:sp>
      <p:sp>
        <p:nvSpPr>
          <p:cNvPr id="9" name="slide-45-text-7"/>
          <p:cNvSpPr/>
          <p:nvPr/>
        </p:nvSpPr>
        <p:spPr>
          <a:xfrm>
            <a:off x="3362325" y="3105150"/>
            <a:ext cx="1352550" cy="276225"/>
          </a:xfrm>
          <a:prstGeom prst="rect">
            <a:avLst/>
          </a:prstGeom>
          <a:noFill/>
          <a:ln/>
        </p:spPr>
        <p:txBody>
          <a:bodyPr wrap="square" lIns="0" tIns="0" rIns="0" bIns="0" rtlCol="0" anchor="t"/>
          <a:lstStyle/>
          <a:p>
            <a:pPr algn="l" indent="0" marL="0">
              <a:lnSpc>
                <a:spcPts val="1843"/>
              </a:lnSpc>
              <a:buNone/>
            </a:pPr>
            <a:r>
              <a:rPr lang="en-US" sz="1575" dirty="0">
                <a:solidFill>
                  <a:srgbClr val="B34F25"/>
                </a:solidFill>
                <a:latin typeface="Consolas" pitchFamily="34" charset="0"/>
                <a:ea typeface="Consolas" pitchFamily="34" charset="-122"/>
                <a:cs typeface="Consolas" pitchFamily="34" charset="-120"/>
              </a:rPr>
              <a:t>user</a:t>
            </a:r>
            <a:endParaRPr lang="en-US" sz="1575" dirty="0"/>
          </a:p>
        </p:txBody>
      </p:sp>
      <p:sp>
        <p:nvSpPr>
          <p:cNvPr id="10" name="slide-45-rect-8"/>
          <p:cNvSpPr/>
          <p:nvPr/>
        </p:nvSpPr>
        <p:spPr>
          <a:xfrm>
            <a:off x="1657350" y="3419475"/>
            <a:ext cx="2971800" cy="514350"/>
          </a:xfrm>
          <a:prstGeom prst="roundRect">
            <a:avLst>
              <a:gd name="adj" fmla="val 11111"/>
            </a:avLst>
          </a:prstGeom>
          <a:solidFill>
            <a:srgbClr val="FFFFFF"/>
          </a:solidFill>
          <a:ln w="9525">
            <a:solidFill>
              <a:srgbClr val="D4DBD0"/>
            </a:solidFill>
            <a:prstDash val="solid"/>
          </a:ln>
        </p:spPr>
      </p:sp>
      <p:sp>
        <p:nvSpPr>
          <p:cNvPr id="11" name="slide-45-text-9"/>
          <p:cNvSpPr/>
          <p:nvPr/>
        </p:nvSpPr>
        <p:spPr>
          <a:xfrm>
            <a:off x="1809750" y="3533775"/>
            <a:ext cx="2667000" cy="342900"/>
          </a:xfrm>
          <a:prstGeom prst="rect">
            <a:avLst/>
          </a:prstGeom>
          <a:noFill/>
          <a:ln/>
        </p:spPr>
        <p:txBody>
          <a:bodyPr wrap="square" lIns="0" tIns="0" rIns="0" bIns="0" rtlCol="0" anchor="t"/>
          <a:lstStyle/>
          <a:p>
            <a:pPr algn="ctr" indent="0" marL="0">
              <a:lnSpc>
                <a:spcPts val="2194"/>
              </a:lnSpc>
              <a:buNone/>
            </a:pPr>
            <a:r>
              <a:rPr lang="en-US" sz="1875" b="1" dirty="0">
                <a:solidFill>
                  <a:srgbClr val="183B34"/>
                </a:solidFill>
                <a:latin typeface="Calibri" pitchFamily="34" charset="0"/>
                <a:ea typeface="Calibri" pitchFamily="34" charset="-122"/>
                <a:cs typeface="Calibri" pitchFamily="34" charset="-120"/>
              </a:rPr>
              <a:t>Panel forwards props</a:t>
            </a:r>
            <a:endParaRPr lang="en-US" sz="1875" dirty="0"/>
          </a:p>
        </p:txBody>
      </p:sp>
      <p:sp>
        <p:nvSpPr>
          <p:cNvPr id="12" name="slide-45-rect-10"/>
          <p:cNvSpPr/>
          <p:nvPr/>
        </p:nvSpPr>
        <p:spPr>
          <a:xfrm>
            <a:off x="3133725" y="3933825"/>
            <a:ext cx="19050" cy="209550"/>
          </a:xfrm>
          <a:prstGeom prst="rect">
            <a:avLst/>
          </a:prstGeom>
          <a:solidFill>
            <a:srgbClr val="B34F25"/>
          </a:solidFill>
          <a:ln w="12700">
            <a:solidFill>
              <a:srgbClr val="B34F25">
                <a:alpha val="0"/>
              </a:srgbClr>
            </a:solidFill>
            <a:prstDash val="solid"/>
          </a:ln>
        </p:spPr>
      </p:sp>
      <p:sp>
        <p:nvSpPr>
          <p:cNvPr id="13" name="slide-45-rect-11"/>
          <p:cNvSpPr/>
          <p:nvPr/>
        </p:nvSpPr>
        <p:spPr>
          <a:xfrm>
            <a:off x="1809750" y="4124325"/>
            <a:ext cx="2695575" cy="19050"/>
          </a:xfrm>
          <a:prstGeom prst="rect">
            <a:avLst/>
          </a:prstGeom>
          <a:solidFill>
            <a:srgbClr val="B34F25"/>
          </a:solidFill>
          <a:ln w="12700">
            <a:solidFill>
              <a:srgbClr val="B34F25">
                <a:alpha val="0"/>
              </a:srgbClr>
            </a:solidFill>
            <a:prstDash val="solid"/>
          </a:ln>
        </p:spPr>
      </p:sp>
      <p:sp>
        <p:nvSpPr>
          <p:cNvPr id="14" name="slide-45-text-12"/>
          <p:cNvSpPr/>
          <p:nvPr/>
        </p:nvSpPr>
        <p:spPr>
          <a:xfrm>
            <a:off x="4762500" y="3962400"/>
            <a:ext cx="990600" cy="276225"/>
          </a:xfrm>
          <a:prstGeom prst="rect">
            <a:avLst/>
          </a:prstGeom>
          <a:noFill/>
          <a:ln/>
        </p:spPr>
        <p:txBody>
          <a:bodyPr wrap="square" lIns="0" tIns="0" rIns="0" bIns="0" rtlCol="0" anchor="t"/>
          <a:lstStyle/>
          <a:p>
            <a:pPr algn="l" indent="0" marL="0">
              <a:lnSpc>
                <a:spcPts val="1755"/>
              </a:lnSpc>
              <a:buNone/>
            </a:pPr>
            <a:r>
              <a:rPr lang="en-US" sz="1500" dirty="0">
                <a:solidFill>
                  <a:srgbClr val="B34F25"/>
                </a:solidFill>
                <a:latin typeface="Consolas" pitchFamily="34" charset="0"/>
                <a:ea typeface="Consolas" pitchFamily="34" charset="-122"/>
                <a:cs typeface="Consolas" pitchFamily="34" charset="-120"/>
              </a:rPr>
              <a:t>user</a:t>
            </a:r>
            <a:endParaRPr lang="en-US" sz="1500" dirty="0"/>
          </a:p>
        </p:txBody>
      </p:sp>
      <p:sp>
        <p:nvSpPr>
          <p:cNvPr id="15" name="slide-45-arrow-13"/>
          <p:cNvSpPr/>
          <p:nvPr/>
        </p:nvSpPr>
        <p:spPr>
          <a:xfrm>
            <a:off x="1809750" y="4162425"/>
            <a:ext cx="0" cy="257175"/>
          </a:xfrm>
          <a:prstGeom prst="line">
            <a:avLst/>
          </a:prstGeom>
          <a:noFill/>
          <a:ln w="23813">
            <a:solidFill>
              <a:srgbClr val="B34F25"/>
            </a:solidFill>
            <a:prstDash val="solid"/>
            <a:headEnd type="none"/>
            <a:tailEnd type="triangle"/>
          </a:ln>
        </p:spPr>
      </p:sp>
      <p:sp>
        <p:nvSpPr>
          <p:cNvPr id="16" name="slide-45-arrow-14"/>
          <p:cNvSpPr/>
          <p:nvPr/>
        </p:nvSpPr>
        <p:spPr>
          <a:xfrm>
            <a:off x="4505325" y="4162425"/>
            <a:ext cx="0" cy="257175"/>
          </a:xfrm>
          <a:prstGeom prst="line">
            <a:avLst/>
          </a:prstGeom>
          <a:noFill/>
          <a:ln w="23813">
            <a:solidFill>
              <a:srgbClr val="B34F25"/>
            </a:solidFill>
            <a:prstDash val="solid"/>
            <a:headEnd type="none"/>
            <a:tailEnd type="triangle"/>
          </a:ln>
        </p:spPr>
      </p:sp>
      <p:sp>
        <p:nvSpPr>
          <p:cNvPr id="17" name="slide-45-rect-15"/>
          <p:cNvSpPr/>
          <p:nvPr/>
        </p:nvSpPr>
        <p:spPr>
          <a:xfrm>
            <a:off x="609600" y="4457700"/>
            <a:ext cx="2400300" cy="647700"/>
          </a:xfrm>
          <a:prstGeom prst="roundRect">
            <a:avLst>
              <a:gd name="adj" fmla="val 13235"/>
            </a:avLst>
          </a:prstGeom>
          <a:solidFill>
            <a:srgbClr val="FFFFFF"/>
          </a:solidFill>
          <a:ln w="9525">
            <a:solidFill>
              <a:srgbClr val="D4DBD0"/>
            </a:solidFill>
            <a:prstDash val="solid"/>
          </a:ln>
        </p:spPr>
      </p:sp>
      <p:sp>
        <p:nvSpPr>
          <p:cNvPr id="18" name="slide-45-text-16"/>
          <p:cNvSpPr/>
          <p:nvPr/>
        </p:nvSpPr>
        <p:spPr>
          <a:xfrm>
            <a:off x="800100" y="4562475"/>
            <a:ext cx="2019300" cy="438150"/>
          </a:xfrm>
          <a:prstGeom prst="rect">
            <a:avLst/>
          </a:prstGeom>
          <a:noFill/>
          <a:ln/>
        </p:spPr>
        <p:txBody>
          <a:bodyPr wrap="square" lIns="0" tIns="0" rIns="0" bIns="0" rtlCol="0" anchor="t"/>
          <a:lstStyle/>
          <a:p>
            <a:pPr algn="ctr"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LoginForm</a:t>
            </a:r>
            <a:endParaRPr lang="en-US" sz="2175" dirty="0"/>
          </a:p>
        </p:txBody>
      </p:sp>
      <p:sp>
        <p:nvSpPr>
          <p:cNvPr id="19" name="slide-45-rect-17"/>
          <p:cNvSpPr/>
          <p:nvPr/>
        </p:nvSpPr>
        <p:spPr>
          <a:xfrm>
            <a:off x="3257550" y="4457700"/>
            <a:ext cx="2495550" cy="647700"/>
          </a:xfrm>
          <a:prstGeom prst="roundRect">
            <a:avLst>
              <a:gd name="adj" fmla="val 13235"/>
            </a:avLst>
          </a:prstGeom>
          <a:solidFill>
            <a:srgbClr val="FFFFFF"/>
          </a:solidFill>
          <a:ln w="9525">
            <a:solidFill>
              <a:srgbClr val="D4DBD0"/>
            </a:solidFill>
            <a:prstDash val="solid"/>
          </a:ln>
        </p:spPr>
      </p:sp>
      <p:sp>
        <p:nvSpPr>
          <p:cNvPr id="20" name="slide-45-text-18"/>
          <p:cNvSpPr/>
          <p:nvPr/>
        </p:nvSpPr>
        <p:spPr>
          <a:xfrm>
            <a:off x="3448050" y="4562475"/>
            <a:ext cx="2114550" cy="438150"/>
          </a:xfrm>
          <a:prstGeom prst="rect">
            <a:avLst/>
          </a:prstGeom>
          <a:noFill/>
          <a:ln/>
        </p:spPr>
        <p:txBody>
          <a:bodyPr wrap="square" lIns="0" tIns="0" rIns="0" bIns="0" rtlCol="0" anchor="t"/>
          <a:lstStyle/>
          <a:p>
            <a:pPr algn="ctr"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UserProfile</a:t>
            </a:r>
            <a:endParaRPr lang="en-US" sz="2175" dirty="0"/>
          </a:p>
        </p:txBody>
      </p:sp>
      <p:sp>
        <p:nvSpPr>
          <p:cNvPr id="21" name="slide-45-text-19"/>
          <p:cNvSpPr/>
          <p:nvPr/>
        </p:nvSpPr>
        <p:spPr>
          <a:xfrm>
            <a:off x="6191250" y="2190750"/>
            <a:ext cx="5391150" cy="247650"/>
          </a:xfrm>
          <a:prstGeom prst="rect">
            <a:avLst/>
          </a:prstGeom>
          <a:noFill/>
          <a:ln/>
        </p:spPr>
        <p:txBody>
          <a:bodyPr wrap="square" lIns="0" tIns="0" rIns="0" bIns="0" rtlCol="0" anchor="t"/>
          <a:lstStyle/>
          <a:p>
            <a:pPr algn="l" indent="0" marL="0">
              <a:lnSpc>
                <a:spcPts val="1485"/>
              </a:lnSpc>
              <a:buNone/>
            </a:pPr>
            <a:r>
              <a:rPr lang="en-US" sz="1350" b="1" dirty="0">
                <a:solidFill>
                  <a:srgbClr val="123B35"/>
                </a:solidFill>
                <a:latin typeface="Calibri" pitchFamily="34" charset="0"/>
                <a:ea typeface="Calibri" pitchFamily="34" charset="-122"/>
                <a:cs typeface="Calibri" pitchFamily="34" charset="-120"/>
              </a:rPr>
              <a:t>READING SHARED CONTEXT</a:t>
            </a:r>
            <a:endParaRPr lang="en-US" sz="1350" dirty="0"/>
          </a:p>
        </p:txBody>
      </p:sp>
      <p:sp>
        <p:nvSpPr>
          <p:cNvPr id="22" name="slide-45-rect-20"/>
          <p:cNvSpPr/>
          <p:nvPr/>
        </p:nvSpPr>
        <p:spPr>
          <a:xfrm>
            <a:off x="6191250" y="2524125"/>
            <a:ext cx="5391150" cy="2752725"/>
          </a:xfrm>
          <a:prstGeom prst="roundRect">
            <a:avLst>
              <a:gd name="adj" fmla="val 4152"/>
            </a:avLst>
          </a:prstGeom>
          <a:solidFill>
            <a:srgbClr val="E5EDE2"/>
          </a:solidFill>
          <a:ln w="12700">
            <a:solidFill>
              <a:srgbClr val="E5EDE2">
                <a:alpha val="0"/>
              </a:srgbClr>
            </a:solidFill>
            <a:prstDash val="solid"/>
          </a:ln>
        </p:spPr>
      </p:sp>
      <p:sp>
        <p:nvSpPr>
          <p:cNvPr id="23" name="slide-45-text-21"/>
          <p:cNvSpPr/>
          <p:nvPr/>
        </p:nvSpPr>
        <p:spPr>
          <a:xfrm>
            <a:off x="6419850" y="2686050"/>
            <a:ext cx="4933950" cy="400050"/>
          </a:xfrm>
          <a:prstGeom prst="rect">
            <a:avLst/>
          </a:prstGeom>
          <a:noFill/>
          <a:ln/>
        </p:spPr>
        <p:txBody>
          <a:bodyPr wrap="square" lIns="0" tIns="0" rIns="0" bIns="0" rtlCol="0" anchor="t"/>
          <a:lstStyle/>
          <a:p>
            <a:pPr algn="l" indent="0" marL="0">
              <a:lnSpc>
                <a:spcPts val="2632"/>
              </a:lnSpc>
              <a:buNone/>
            </a:pPr>
            <a:r>
              <a:rPr lang="en-US" sz="2250" b="1" dirty="0">
                <a:solidFill>
                  <a:srgbClr val="183B34"/>
                </a:solidFill>
                <a:latin typeface="Trebuchet MS" pitchFamily="34" charset="0"/>
                <a:ea typeface="Trebuchet MS" pitchFamily="34" charset="-122"/>
                <a:cs typeface="Trebuchet MS" pitchFamily="34" charset="-120"/>
              </a:rPr>
              <a:t>AuthProvider</a:t>
            </a:r>
            <a:endParaRPr lang="en-US" sz="2250" dirty="0"/>
          </a:p>
        </p:txBody>
      </p:sp>
      <p:sp>
        <p:nvSpPr>
          <p:cNvPr id="24" name="slide-45-rect-22"/>
          <p:cNvSpPr/>
          <p:nvPr/>
        </p:nvSpPr>
        <p:spPr>
          <a:xfrm>
            <a:off x="6419850" y="3219450"/>
            <a:ext cx="4933950" cy="1790700"/>
          </a:xfrm>
          <a:prstGeom prst="roundRect">
            <a:avLst>
              <a:gd name="adj" fmla="val 4255"/>
            </a:avLst>
          </a:prstGeom>
          <a:solidFill>
            <a:srgbClr val="FFFFFF"/>
          </a:solidFill>
          <a:ln w="9525">
            <a:solidFill>
              <a:srgbClr val="D4DBD0"/>
            </a:solidFill>
            <a:prstDash val="solid"/>
          </a:ln>
        </p:spPr>
      </p:sp>
      <p:sp>
        <p:nvSpPr>
          <p:cNvPr id="25" name="slide-45-text-23"/>
          <p:cNvSpPr/>
          <p:nvPr/>
        </p:nvSpPr>
        <p:spPr>
          <a:xfrm>
            <a:off x="6629400" y="3343275"/>
            <a:ext cx="4514850" cy="342900"/>
          </a:xfrm>
          <a:prstGeom prst="rect">
            <a:avLst/>
          </a:prstGeom>
          <a:noFill/>
          <a:ln/>
        </p:spPr>
        <p:txBody>
          <a:bodyPr wrap="square" lIns="0" tIns="0" rIns="0" bIns="0" rtlCol="0" anchor="t"/>
          <a:lstStyle/>
          <a:p>
            <a:pPr algn="l" indent="0" marL="0">
              <a:lnSpc>
                <a:spcPts val="2282"/>
              </a:lnSpc>
              <a:buNone/>
            </a:pPr>
            <a:r>
              <a:rPr lang="en-US" sz="1950" b="1" dirty="0">
                <a:solidFill>
                  <a:srgbClr val="183B34"/>
                </a:solidFill>
                <a:latin typeface="Trebuchet MS" pitchFamily="34" charset="0"/>
                <a:ea typeface="Trebuchet MS" pitchFamily="34" charset="-122"/>
                <a:cs typeface="Trebuchet MS" pitchFamily="34" charset="-120"/>
              </a:rPr>
              <a:t>ContextDemo</a:t>
            </a:r>
            <a:endParaRPr lang="en-US" sz="1950" dirty="0"/>
          </a:p>
        </p:txBody>
      </p:sp>
      <p:sp>
        <p:nvSpPr>
          <p:cNvPr id="26" name="slide-45-text-24"/>
          <p:cNvSpPr/>
          <p:nvPr/>
        </p:nvSpPr>
        <p:spPr>
          <a:xfrm>
            <a:off x="6629400" y="3705225"/>
            <a:ext cx="4514850" cy="314325"/>
          </a:xfrm>
          <a:prstGeom prst="rect">
            <a:avLst/>
          </a:prstGeom>
          <a:noFill/>
          <a:ln/>
        </p:spPr>
        <p:txBody>
          <a:bodyPr wrap="square" lIns="0" tIns="0" rIns="0" bIns="0" rtlCol="0" anchor="t"/>
          <a:lstStyle/>
          <a:p>
            <a:pPr algn="l" indent="0" marL="0">
              <a:lnSpc>
                <a:spcPts val="1931"/>
              </a:lnSpc>
              <a:buNone/>
            </a:pPr>
            <a:r>
              <a:rPr lang="en-US" sz="1650" dirty="0">
                <a:solidFill>
                  <a:srgbClr val="536B61"/>
                </a:solidFill>
                <a:latin typeface="Calibri" pitchFamily="34" charset="0"/>
                <a:ea typeface="Calibri" pitchFamily="34" charset="-122"/>
                <a:cs typeface="Calibri" pitchFamily="34" charset="-120"/>
              </a:rPr>
              <a:t>useAuth() selects the login or profile view</a:t>
            </a:r>
            <a:endParaRPr lang="en-US" sz="1650" dirty="0"/>
          </a:p>
        </p:txBody>
      </p:sp>
      <p:sp>
        <p:nvSpPr>
          <p:cNvPr id="27" name="slide-45-rect-25"/>
          <p:cNvSpPr/>
          <p:nvPr/>
        </p:nvSpPr>
        <p:spPr>
          <a:xfrm>
            <a:off x="6600825" y="4133850"/>
            <a:ext cx="2047875" cy="666750"/>
          </a:xfrm>
          <a:prstGeom prst="roundRect">
            <a:avLst>
              <a:gd name="adj" fmla="val 8571"/>
            </a:avLst>
          </a:prstGeom>
          <a:solidFill>
            <a:srgbClr val="E5EDE2"/>
          </a:solidFill>
          <a:ln w="12700">
            <a:solidFill>
              <a:srgbClr val="E5EDE2">
                <a:alpha val="0"/>
              </a:srgbClr>
            </a:solidFill>
            <a:prstDash val="solid"/>
          </a:ln>
        </p:spPr>
      </p:sp>
      <p:sp>
        <p:nvSpPr>
          <p:cNvPr id="28" name="slide-45-rect-26"/>
          <p:cNvSpPr/>
          <p:nvPr/>
        </p:nvSpPr>
        <p:spPr>
          <a:xfrm>
            <a:off x="9058275" y="4133850"/>
            <a:ext cx="2105025" cy="666750"/>
          </a:xfrm>
          <a:prstGeom prst="roundRect">
            <a:avLst>
              <a:gd name="adj" fmla="val 8571"/>
            </a:avLst>
          </a:prstGeom>
          <a:solidFill>
            <a:srgbClr val="E5EDE2"/>
          </a:solidFill>
          <a:ln w="12700">
            <a:solidFill>
              <a:srgbClr val="E5EDE2">
                <a:alpha val="0"/>
              </a:srgbClr>
            </a:solidFill>
            <a:prstDash val="solid"/>
          </a:ln>
        </p:spPr>
      </p:sp>
      <p:sp>
        <p:nvSpPr>
          <p:cNvPr id="29" name="slide-45-text-27"/>
          <p:cNvSpPr/>
          <p:nvPr/>
        </p:nvSpPr>
        <p:spPr>
          <a:xfrm>
            <a:off x="6715125" y="4305300"/>
            <a:ext cx="1819275" cy="381000"/>
          </a:xfrm>
          <a:prstGeom prst="rect">
            <a:avLst/>
          </a:prstGeom>
          <a:noFill/>
          <a:ln/>
        </p:spPr>
        <p:txBody>
          <a:bodyPr wrap="square" lIns="0" tIns="0" rIns="0" bIns="0" rtlCol="0" anchor="t"/>
          <a:lstStyle/>
          <a:p>
            <a:pPr algn="ctr" indent="0" marL="0">
              <a:lnSpc>
                <a:spcPts val="2282"/>
              </a:lnSpc>
              <a:buNone/>
            </a:pPr>
            <a:r>
              <a:rPr lang="en-US" sz="1950" b="1" dirty="0">
                <a:solidFill>
                  <a:srgbClr val="183B34"/>
                </a:solidFill>
                <a:latin typeface="Calibri" pitchFamily="34" charset="0"/>
                <a:ea typeface="Calibri" pitchFamily="34" charset="-122"/>
                <a:cs typeface="Calibri" pitchFamily="34" charset="-120"/>
              </a:rPr>
              <a:t>LoginForm</a:t>
            </a:r>
            <a:endParaRPr lang="en-US" sz="1950" dirty="0"/>
          </a:p>
        </p:txBody>
      </p:sp>
      <p:sp>
        <p:nvSpPr>
          <p:cNvPr id="30" name="slide-45-text-28"/>
          <p:cNvSpPr/>
          <p:nvPr/>
        </p:nvSpPr>
        <p:spPr>
          <a:xfrm>
            <a:off x="8696325" y="4333875"/>
            <a:ext cx="304800" cy="304800"/>
          </a:xfrm>
          <a:prstGeom prst="rect">
            <a:avLst/>
          </a:prstGeom>
          <a:noFill/>
          <a:ln/>
        </p:spPr>
        <p:txBody>
          <a:bodyPr wrap="square" lIns="0" tIns="0" rIns="0" bIns="0" rtlCol="0" anchor="t"/>
          <a:lstStyle/>
          <a:p>
            <a:pPr algn="ctr" indent="0" marL="0">
              <a:lnSpc>
                <a:spcPts val="1579"/>
              </a:lnSpc>
              <a:buNone/>
            </a:pPr>
            <a:r>
              <a:rPr lang="en-US" sz="1350" b="1" dirty="0">
                <a:solidFill>
                  <a:srgbClr val="B34F25"/>
                </a:solidFill>
                <a:latin typeface="Calibri" pitchFamily="34" charset="0"/>
                <a:ea typeface="Calibri" pitchFamily="34" charset="-122"/>
                <a:cs typeface="Calibri" pitchFamily="34" charset="-120"/>
              </a:rPr>
              <a:t>OR</a:t>
            </a:r>
            <a:endParaRPr lang="en-US" sz="1350" dirty="0"/>
          </a:p>
        </p:txBody>
      </p:sp>
      <p:sp>
        <p:nvSpPr>
          <p:cNvPr id="31" name="slide-45-text-29"/>
          <p:cNvSpPr/>
          <p:nvPr/>
        </p:nvSpPr>
        <p:spPr>
          <a:xfrm>
            <a:off x="9172575" y="4305300"/>
            <a:ext cx="1876425" cy="381000"/>
          </a:xfrm>
          <a:prstGeom prst="rect">
            <a:avLst/>
          </a:prstGeom>
          <a:noFill/>
          <a:ln/>
        </p:spPr>
        <p:txBody>
          <a:bodyPr wrap="square" lIns="0" tIns="0" rIns="0" bIns="0" rtlCol="0" anchor="t"/>
          <a:lstStyle/>
          <a:p>
            <a:pPr algn="ctr" indent="0" marL="0">
              <a:lnSpc>
                <a:spcPts val="2282"/>
              </a:lnSpc>
              <a:buNone/>
            </a:pPr>
            <a:r>
              <a:rPr lang="en-US" sz="1950" b="1" dirty="0">
                <a:solidFill>
                  <a:srgbClr val="183B34"/>
                </a:solidFill>
                <a:latin typeface="Calibri" pitchFamily="34" charset="0"/>
                <a:ea typeface="Calibri" pitchFamily="34" charset="-122"/>
                <a:cs typeface="Calibri" pitchFamily="34" charset="-120"/>
              </a:rPr>
              <a:t>UserProfile</a:t>
            </a:r>
            <a:endParaRPr lang="en-US" sz="1950" dirty="0"/>
          </a:p>
        </p:txBody>
      </p:sp>
      <p:sp>
        <p:nvSpPr>
          <p:cNvPr id="32" name="slide-45-rect-30"/>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33" name="slide-45-text-31"/>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Context distributes a value. State in the provider still decides how that value changes.</a:t>
            </a:r>
            <a:endParaRPr lang="en-US" sz="1875" dirty="0"/>
          </a:p>
        </p:txBody>
      </p:sp>
      <p:sp>
        <p:nvSpPr>
          <p:cNvPr id="34" name="slide-45-text-3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AuthProvider | AuthContext.tsx:30</a:t>
            </a:r>
            <a:endParaRPr lang="en-US" sz="1275" dirty="0"/>
          </a:p>
        </p:txBody>
      </p:sp>
      <p:sp>
        <p:nvSpPr>
          <p:cNvPr id="35" name="slide-45-text-3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Demo authentication</a:t>
            </a:r>
            <a:endParaRPr lang="en-US" sz="1275" dirty="0"/>
          </a:p>
        </p:txBody>
      </p:sp>
      <p:sp>
        <p:nvSpPr>
          <p:cNvPr id="36" name="slide-45-text-3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45 / 65</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3EA"/>
        </a:solidFill>
      </p:bgPr>
    </p:bg>
    <p:spTree>
      <p:nvGrpSpPr>
        <p:cNvPr id="1" name=""/>
        <p:cNvGrpSpPr/>
        <p:nvPr/>
      </p:nvGrpSpPr>
      <p:grpSpPr>
        <a:xfrm>
          <a:off x="0" y="0"/>
          <a:ext cx="0" cy="0"/>
          <a:chOff x="0" y="0"/>
          <a:chExt cx="0" cy="0"/>
        </a:xfrm>
      </p:grpSpPr>
      <p:sp>
        <p:nvSpPr>
          <p:cNvPr id="2" name="slide-46-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04 / SHARED STATE</a:t>
            </a:r>
            <a:endParaRPr lang="en-US" sz="1350" dirty="0"/>
          </a:p>
        </p:txBody>
      </p:sp>
      <p:sp>
        <p:nvSpPr>
          <p:cNvPr id="3" name="slide-46-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Make a missing provider an explicit error</a:t>
            </a:r>
            <a:endParaRPr lang="en-US" sz="3600" dirty="0"/>
          </a:p>
        </p:txBody>
      </p:sp>
      <p:sp>
        <p:nvSpPr>
          <p:cNvPr id="4" name="slide-46-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actual useAuth wrapper narrows away undefined.</a:t>
            </a:r>
            <a:endParaRPr lang="en-US" sz="1875" dirty="0"/>
          </a:p>
        </p:txBody>
      </p:sp>
      <p:sp>
        <p:nvSpPr>
          <p:cNvPr id="5" name="slide-46-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46-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AUTHCONTEXT.TSX / CURRENT CONSUMER HOOK</a:t>
            </a:r>
            <a:endParaRPr lang="en-US" sz="1350" dirty="0"/>
          </a:p>
        </p:txBody>
      </p:sp>
      <p:sp>
        <p:nvSpPr>
          <p:cNvPr id="7" name="slide-46-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export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useAuth = (): AuthContextType =&gt; {</a:t>
            </a:r>
            <a:endParaRPr lang="en-US" sz="1575" dirty="0"/>
          </a:p>
        </p:txBody>
      </p:sp>
      <p:sp>
        <p:nvSpPr>
          <p:cNvPr id="8" name="slide-46-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context = useContext(AuthContext);</a:t>
            </a:r>
            <a:endParaRPr lang="en-US" sz="1575" dirty="0"/>
          </a:p>
        </p:txBody>
      </p:sp>
      <p:sp>
        <p:nvSpPr>
          <p:cNvPr id="9" name="slide-46-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(context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undefined</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46-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throw</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new</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Error(</a:t>
            </a:r>
            <a:endParaRPr lang="en-US" sz="1575" dirty="0"/>
          </a:p>
        </p:txBody>
      </p:sp>
      <p:sp>
        <p:nvSpPr>
          <p:cNvPr id="11" name="slide-46-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'useAuth must be used within an AuthProvider'</a:t>
            </a:r>
            <a:endParaRPr lang="en-US" sz="1575" dirty="0"/>
          </a:p>
        </p:txBody>
      </p:sp>
      <p:sp>
        <p:nvSpPr>
          <p:cNvPr id="12" name="slide-46-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46-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4" name="slide-46-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context;</a:t>
            </a:r>
            <a:endParaRPr lang="en-US" sz="1575" dirty="0"/>
          </a:p>
        </p:txBody>
      </p:sp>
      <p:sp>
        <p:nvSpPr>
          <p:cNvPr id="15" name="slide-46-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6" name="slide-46-text-14"/>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DEFAULT</a:t>
            </a:r>
            <a:endParaRPr lang="en-US" sz="1350" dirty="0"/>
          </a:p>
        </p:txBody>
      </p:sp>
      <p:sp>
        <p:nvSpPr>
          <p:cNvPr id="17" name="slide-46-text-15"/>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undefined means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 provider.</a:t>
            </a:r>
            <a:endParaRPr lang="en-US" sz="1950" dirty="0"/>
          </a:p>
        </p:txBody>
      </p:sp>
      <p:sp>
        <p:nvSpPr>
          <p:cNvPr id="18" name="slide-46-text-16"/>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GUARD</a:t>
            </a:r>
            <a:endParaRPr lang="en-US" sz="1350" dirty="0"/>
          </a:p>
        </p:txBody>
      </p:sp>
      <p:sp>
        <p:nvSpPr>
          <p:cNvPr id="19" name="slide-46-text-17"/>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Fail clearly 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misconfiguration.</a:t>
            </a:r>
            <a:endParaRPr lang="en-US" sz="1950" dirty="0"/>
          </a:p>
        </p:txBody>
      </p:sp>
      <p:sp>
        <p:nvSpPr>
          <p:cNvPr id="20" name="slide-46-text-18"/>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CONSUMER</a:t>
            </a:r>
            <a:endParaRPr lang="en-US" sz="1350" dirty="0"/>
          </a:p>
        </p:txBody>
      </p:sp>
      <p:sp>
        <p:nvSpPr>
          <p:cNvPr id="21" name="slide-46-text-19"/>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Read a complete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AuthContextType.</a:t>
            </a:r>
            <a:endParaRPr lang="en-US" sz="1950" dirty="0"/>
          </a:p>
        </p:txBody>
      </p:sp>
      <p:sp>
        <p:nvSpPr>
          <p:cNvPr id="22" name="slide-46-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useAuth | AuthContext.tsx:68</a:t>
            </a:r>
            <a:endParaRPr lang="en-US" sz="1275" dirty="0"/>
          </a:p>
        </p:txBody>
      </p:sp>
      <p:sp>
        <p:nvSpPr>
          <p:cNvPr id="23" name="slide-46-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Demo authentication</a:t>
            </a:r>
            <a:endParaRPr lang="en-US" sz="1275" dirty="0"/>
          </a:p>
        </p:txBody>
      </p:sp>
      <p:sp>
        <p:nvSpPr>
          <p:cNvPr id="24" name="slide-46-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46 / 65</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3EA"/>
        </a:solidFill>
      </p:bgPr>
    </p:bg>
    <p:spTree>
      <p:nvGrpSpPr>
        <p:cNvPr id="1" name=""/>
        <p:cNvGrpSpPr/>
        <p:nvPr/>
      </p:nvGrpSpPr>
      <p:grpSpPr>
        <a:xfrm>
          <a:off x="0" y="0"/>
          <a:ext cx="0" cy="0"/>
          <a:chOff x="0" y="0"/>
          <a:chExt cx="0" cy="0"/>
        </a:xfrm>
      </p:grpSpPr>
      <p:sp>
        <p:nvSpPr>
          <p:cNvPr id="2" name="slide-47-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04 / SHARED STATE</a:t>
            </a:r>
            <a:endParaRPr lang="en-US" sz="1350" dirty="0"/>
          </a:p>
        </p:txBody>
      </p:sp>
      <p:sp>
        <p:nvSpPr>
          <p:cNvPr id="3" name="slide-47-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Put shared state inside the provider</a:t>
            </a:r>
            <a:endParaRPr lang="en-US" sz="3600" dirty="0"/>
          </a:p>
        </p:txBody>
      </p:sp>
      <p:sp>
        <p:nvSpPr>
          <p:cNvPr id="4" name="slide-47-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AuthProvider owns the demo user and exposes login/logout operations.</a:t>
            </a:r>
            <a:endParaRPr lang="en-US" sz="1875" dirty="0"/>
          </a:p>
        </p:txBody>
      </p:sp>
      <p:sp>
        <p:nvSpPr>
          <p:cNvPr id="5" name="slide-47-rect-3"/>
          <p:cNvSpPr/>
          <p:nvPr/>
        </p:nvSpPr>
        <p:spPr>
          <a:xfrm>
            <a:off x="609600" y="2114550"/>
            <a:ext cx="8096250" cy="4095750"/>
          </a:xfrm>
          <a:prstGeom prst="roundRect">
            <a:avLst>
              <a:gd name="adj" fmla="val 2326"/>
            </a:avLst>
          </a:prstGeom>
          <a:solidFill>
            <a:srgbClr val="152B2A"/>
          </a:solidFill>
          <a:ln w="12700">
            <a:solidFill>
              <a:srgbClr val="152B2A">
                <a:alpha val="0"/>
              </a:srgbClr>
            </a:solidFill>
            <a:prstDash val="solid"/>
          </a:ln>
        </p:spPr>
      </p:sp>
      <p:sp>
        <p:nvSpPr>
          <p:cNvPr id="6" name="slide-47-text-4"/>
          <p:cNvSpPr/>
          <p:nvPr/>
        </p:nvSpPr>
        <p:spPr>
          <a:xfrm>
            <a:off x="838200" y="2305050"/>
            <a:ext cx="763905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AUTHPROVIDER / CURRENT STATE AND OPERATIONS</a:t>
            </a:r>
            <a:endParaRPr lang="en-US" sz="1350" dirty="0"/>
          </a:p>
        </p:txBody>
      </p:sp>
      <p:sp>
        <p:nvSpPr>
          <p:cNvPr id="7" name="slide-47-text-5"/>
          <p:cNvSpPr/>
          <p:nvPr/>
        </p:nvSpPr>
        <p:spPr>
          <a:xfrm>
            <a:off x="838200" y="268605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[user, setUser] = useState&lt;User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null</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&gt;(</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null</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8" name="slide-47-text-6"/>
          <p:cNvSpPr/>
          <p:nvPr/>
        </p:nvSpPr>
        <p:spPr>
          <a:xfrm>
            <a:off x="838200" y="294608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login = (userData: User) =&gt; {</a:t>
            </a:r>
            <a:endParaRPr lang="en-US" sz="1575" dirty="0"/>
          </a:p>
        </p:txBody>
      </p:sp>
      <p:sp>
        <p:nvSpPr>
          <p:cNvPr id="9" name="slide-47-text-7"/>
          <p:cNvSpPr/>
          <p:nvPr/>
        </p:nvSpPr>
        <p:spPr>
          <a:xfrm>
            <a:off x="838200" y="320611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setUser(userData);</a:t>
            </a:r>
            <a:endParaRPr lang="en-US" sz="1575" dirty="0"/>
          </a:p>
        </p:txBody>
      </p:sp>
      <p:sp>
        <p:nvSpPr>
          <p:cNvPr id="10" name="slide-47-text-8"/>
          <p:cNvSpPr/>
          <p:nvPr/>
        </p:nvSpPr>
        <p:spPr>
          <a:xfrm>
            <a:off x="838200" y="3466148"/>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localStorage.setItem(</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'demoUser'</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JSON.stringify(userData));</a:t>
            </a:r>
            <a:endParaRPr lang="en-US" sz="1575" dirty="0"/>
          </a:p>
        </p:txBody>
      </p:sp>
      <p:sp>
        <p:nvSpPr>
          <p:cNvPr id="11" name="slide-47-text-9"/>
          <p:cNvSpPr/>
          <p:nvPr/>
        </p:nvSpPr>
        <p:spPr>
          <a:xfrm>
            <a:off x="838200" y="372618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47-text-10"/>
          <p:cNvSpPr/>
          <p:nvPr/>
        </p:nvSpPr>
        <p:spPr>
          <a:xfrm>
            <a:off x="838200" y="398621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logout = () =&gt; {</a:t>
            </a:r>
            <a:endParaRPr lang="en-US" sz="1575" dirty="0"/>
          </a:p>
        </p:txBody>
      </p:sp>
      <p:sp>
        <p:nvSpPr>
          <p:cNvPr id="13" name="slide-47-text-11"/>
          <p:cNvSpPr/>
          <p:nvPr/>
        </p:nvSpPr>
        <p:spPr>
          <a:xfrm>
            <a:off x="838200" y="424624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setUser(</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null</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47-text-12"/>
          <p:cNvSpPr/>
          <p:nvPr/>
        </p:nvSpPr>
        <p:spPr>
          <a:xfrm>
            <a:off x="838200" y="4506278"/>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localStorage.removeItem(</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'demoUser'</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5" name="slide-47-text-13"/>
          <p:cNvSpPr/>
          <p:nvPr/>
        </p:nvSpPr>
        <p:spPr>
          <a:xfrm>
            <a:off x="838200" y="4766310"/>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6" name="slide-47-text-14"/>
          <p:cNvSpPr/>
          <p:nvPr/>
        </p:nvSpPr>
        <p:spPr>
          <a:xfrm>
            <a:off x="838200" y="5026343"/>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isAuthenticated = user !==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null</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7" name="slide-47-text-15"/>
          <p:cNvSpPr/>
          <p:nvPr/>
        </p:nvSpPr>
        <p:spPr>
          <a:xfrm>
            <a:off x="838200" y="5286375"/>
            <a:ext cx="763905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isAdmin = user?.role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'admin'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8" name="slide-47-text-16"/>
          <p:cNvSpPr/>
          <p:nvPr/>
        </p:nvSpPr>
        <p:spPr>
          <a:xfrm>
            <a:off x="9010650" y="21907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OWN</a:t>
            </a:r>
            <a:endParaRPr lang="en-US" sz="1350" dirty="0"/>
          </a:p>
        </p:txBody>
      </p:sp>
      <p:sp>
        <p:nvSpPr>
          <p:cNvPr id="19" name="slide-47-text-17"/>
          <p:cNvSpPr/>
          <p:nvPr/>
        </p:nvSpPr>
        <p:spPr>
          <a:xfrm>
            <a:off x="9010650" y="25336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One user value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per provider.</a:t>
            </a:r>
            <a:endParaRPr lang="en-US" sz="1950" dirty="0"/>
          </a:p>
        </p:txBody>
      </p:sp>
      <p:sp>
        <p:nvSpPr>
          <p:cNvPr id="20" name="slide-47-text-18"/>
          <p:cNvSpPr/>
          <p:nvPr/>
        </p:nvSpPr>
        <p:spPr>
          <a:xfrm>
            <a:off x="9010650" y="355600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DERIVE</a:t>
            </a:r>
            <a:endParaRPr lang="en-US" sz="1350" dirty="0"/>
          </a:p>
        </p:txBody>
      </p:sp>
      <p:sp>
        <p:nvSpPr>
          <p:cNvPr id="21" name="slide-47-text-19"/>
          <p:cNvSpPr/>
          <p:nvPr/>
        </p:nvSpPr>
        <p:spPr>
          <a:xfrm>
            <a:off x="9010650" y="389890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Flags follow user;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 duplicate state.</a:t>
            </a:r>
            <a:endParaRPr lang="en-US" sz="1950" dirty="0"/>
          </a:p>
        </p:txBody>
      </p:sp>
      <p:sp>
        <p:nvSpPr>
          <p:cNvPr id="22" name="slide-47-text-20"/>
          <p:cNvSpPr/>
          <p:nvPr/>
        </p:nvSpPr>
        <p:spPr>
          <a:xfrm>
            <a:off x="9010650" y="4921250"/>
            <a:ext cx="257175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PERSIST</a:t>
            </a:r>
            <a:endParaRPr lang="en-US" sz="1350" dirty="0"/>
          </a:p>
        </p:txBody>
      </p:sp>
      <p:sp>
        <p:nvSpPr>
          <p:cNvPr id="23" name="slide-47-text-21"/>
          <p:cNvSpPr/>
          <p:nvPr/>
        </p:nvSpPr>
        <p:spPr>
          <a:xfrm>
            <a:off x="9010650" y="5264150"/>
            <a:ext cx="257175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Save a mock user;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restore on mount.</a:t>
            </a:r>
            <a:endParaRPr lang="en-US" sz="1950" dirty="0"/>
          </a:p>
        </p:txBody>
      </p:sp>
      <p:sp>
        <p:nvSpPr>
          <p:cNvPr id="24" name="slide-47-text-2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AuthProvider | AuthContext.tsx:30</a:t>
            </a:r>
            <a:endParaRPr lang="en-US" sz="1275" dirty="0"/>
          </a:p>
        </p:txBody>
      </p:sp>
      <p:sp>
        <p:nvSpPr>
          <p:cNvPr id="25" name="slide-47-text-2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Demo authentication</a:t>
            </a:r>
            <a:endParaRPr lang="en-US" sz="1275" dirty="0"/>
          </a:p>
        </p:txBody>
      </p:sp>
      <p:sp>
        <p:nvSpPr>
          <p:cNvPr id="26" name="slide-47-text-2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47 / 65</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3EA"/>
        </a:solidFill>
      </p:bgPr>
    </p:bg>
    <p:spTree>
      <p:nvGrpSpPr>
        <p:cNvPr id="1" name=""/>
        <p:cNvGrpSpPr/>
        <p:nvPr/>
      </p:nvGrpSpPr>
      <p:grpSpPr>
        <a:xfrm>
          <a:off x="0" y="0"/>
          <a:ext cx="0" cy="0"/>
          <a:chOff x="0" y="0"/>
          <a:chExt cx="0" cy="0"/>
        </a:xfrm>
      </p:grpSpPr>
      <p:sp>
        <p:nvSpPr>
          <p:cNvPr id="2" name="slide-48-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04 / SHARED STATE</a:t>
            </a:r>
            <a:endParaRPr lang="en-US" sz="1350" dirty="0"/>
          </a:p>
        </p:txBody>
      </p:sp>
      <p:sp>
        <p:nvSpPr>
          <p:cNvPr id="3" name="slide-48-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Consumers turn shared values into UI</a:t>
            </a:r>
            <a:endParaRPr lang="en-US" sz="3600" dirty="0"/>
          </a:p>
        </p:txBody>
      </p:sp>
      <p:sp>
        <p:nvSpPr>
          <p:cNvPr id="4" name="slide-48-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UserProfile reads auth and requests both logout and notification feedback.</a:t>
            </a:r>
            <a:endParaRPr lang="en-US" sz="1875" dirty="0"/>
          </a:p>
        </p:txBody>
      </p:sp>
      <p:sp>
        <p:nvSpPr>
          <p:cNvPr id="5" name="slide-48-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48-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USERPROFILE / CURRENT LOGIC</a:t>
            </a:r>
            <a:endParaRPr lang="en-US" sz="1350" dirty="0"/>
          </a:p>
        </p:txBody>
      </p:sp>
      <p:sp>
        <p:nvSpPr>
          <p:cNvPr id="7" name="slide-48-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user, logout, isAdmin } = useAuth();</a:t>
            </a:r>
            <a:endParaRPr lang="en-US" sz="1575" dirty="0"/>
          </a:p>
        </p:txBody>
      </p:sp>
      <p:sp>
        <p:nvSpPr>
          <p:cNvPr id="8" name="slide-48-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addNotification } = useNotifications();</a:t>
            </a:r>
            <a:endParaRPr lang="en-US" sz="1575" dirty="0"/>
          </a:p>
        </p:txBody>
      </p:sp>
      <p:sp>
        <p:nvSpPr>
          <p:cNvPr id="9" name="slide-48-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48-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(!user)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null</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1" name="slide-48-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2" name="slide-48-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handleLogout = () =&gt; {</a:t>
            </a:r>
            <a:endParaRPr lang="en-US" sz="1575" dirty="0"/>
          </a:p>
        </p:txBody>
      </p:sp>
      <p:sp>
        <p:nvSpPr>
          <p:cNvPr id="13" name="slide-48-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logout();</a:t>
            </a:r>
            <a:endParaRPr lang="en-US" sz="1575" dirty="0"/>
          </a:p>
        </p:txBody>
      </p:sp>
      <p:sp>
        <p:nvSpPr>
          <p:cNvPr id="14" name="slide-48-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addNotification(</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'Logged out'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'info'</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5" name="slide-48-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6" name="slide-48-text-14"/>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READ</a:t>
            </a:r>
            <a:endParaRPr lang="en-US" sz="1350" dirty="0"/>
          </a:p>
        </p:txBody>
      </p:sp>
      <p:sp>
        <p:nvSpPr>
          <p:cNvPr id="17" name="slide-48-text-15"/>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Auth supplies user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and role flags.</a:t>
            </a:r>
            <a:endParaRPr lang="en-US" sz="1950" dirty="0"/>
          </a:p>
        </p:txBody>
      </p:sp>
      <p:sp>
        <p:nvSpPr>
          <p:cNvPr id="18" name="slide-48-text-16"/>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NARROW</a:t>
            </a:r>
            <a:endParaRPr lang="en-US" sz="1350" dirty="0"/>
          </a:p>
        </p:txBody>
      </p:sp>
      <p:sp>
        <p:nvSpPr>
          <p:cNvPr id="19" name="slide-48-text-17"/>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 user means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 profile.</a:t>
            </a:r>
            <a:endParaRPr lang="en-US" sz="1950" dirty="0"/>
          </a:p>
        </p:txBody>
      </p:sp>
      <p:sp>
        <p:nvSpPr>
          <p:cNvPr id="20" name="slide-48-text-18"/>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ACT</a:t>
            </a:r>
            <a:endParaRPr lang="en-US" sz="1350" dirty="0"/>
          </a:p>
        </p:txBody>
      </p:sp>
      <p:sp>
        <p:nvSpPr>
          <p:cNvPr id="21" name="slide-48-text-19"/>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Call operations;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do not mutate user.</a:t>
            </a:r>
            <a:endParaRPr lang="en-US" sz="1950" dirty="0"/>
          </a:p>
        </p:txBody>
      </p:sp>
      <p:sp>
        <p:nvSpPr>
          <p:cNvPr id="22" name="slide-48-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UserProfile | ContextDemo.tsx:50</a:t>
            </a:r>
            <a:endParaRPr lang="en-US" sz="1275" dirty="0"/>
          </a:p>
        </p:txBody>
      </p:sp>
      <p:sp>
        <p:nvSpPr>
          <p:cNvPr id="23" name="slide-48-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Demo authentication</a:t>
            </a:r>
            <a:endParaRPr lang="en-US" sz="1275" dirty="0"/>
          </a:p>
        </p:txBody>
      </p:sp>
      <p:sp>
        <p:nvSpPr>
          <p:cNvPr id="24" name="slide-48-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48 / 65</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3EA"/>
        </a:solidFill>
      </p:bgPr>
    </p:bg>
    <p:spTree>
      <p:nvGrpSpPr>
        <p:cNvPr id="1" name=""/>
        <p:cNvGrpSpPr/>
        <p:nvPr/>
      </p:nvGrpSpPr>
      <p:grpSpPr>
        <a:xfrm>
          <a:off x="0" y="0"/>
          <a:ext cx="0" cy="0"/>
          <a:chOff x="0" y="0"/>
          <a:chExt cx="0" cy="0"/>
        </a:xfrm>
      </p:grpSpPr>
      <p:sp>
        <p:nvSpPr>
          <p:cNvPr id="2" name="slide-49-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04 / SHARED STATE</a:t>
            </a:r>
            <a:endParaRPr lang="en-US" sz="1350" dirty="0"/>
          </a:p>
        </p:txBody>
      </p:sp>
      <p:sp>
        <p:nvSpPr>
          <p:cNvPr id="3" name="slide-49-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The real theme toggle has one shared owner</a:t>
            </a:r>
            <a:endParaRPr lang="en-US" sz="3600" dirty="0"/>
          </a:p>
        </p:txBody>
      </p:sp>
      <p:sp>
        <p:nvSpPr>
          <p:cNvPr id="4" name="slide-49-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ThemeToggler and AppContent read the same ThemeProvider.</a:t>
            </a:r>
            <a:endParaRPr lang="en-US" sz="1875" dirty="0"/>
          </a:p>
        </p:txBody>
      </p:sp>
      <p:sp>
        <p:nvSpPr>
          <p:cNvPr id="5" name="slide-49-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49-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THEMEPROVIDER / CURRENT CORE</a:t>
            </a:r>
            <a:endParaRPr lang="en-US" sz="1350" dirty="0"/>
          </a:p>
        </p:txBody>
      </p:sp>
      <p:sp>
        <p:nvSpPr>
          <p:cNvPr id="7" name="slide-49-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[theme, setTheme] =</a:t>
            </a:r>
            <a:endParaRPr lang="en-US" sz="1575" dirty="0"/>
          </a:p>
        </p:txBody>
      </p:sp>
      <p:sp>
        <p:nvSpPr>
          <p:cNvPr id="8" name="slide-49-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useState&lt;</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'light'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'dark'</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&gt;(</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'light'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9" name="slide-49-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toggleTheme = () =&gt; {</a:t>
            </a:r>
            <a:endParaRPr lang="en-US" sz="1575" dirty="0"/>
          </a:p>
        </p:txBody>
      </p:sp>
      <p:sp>
        <p:nvSpPr>
          <p:cNvPr id="10" name="slide-49-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setTheme(prev =&gt; (prev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'light'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'dark'</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'light'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1" name="slide-49-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49-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49-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&lt;ThemeContext.Provider value={{ theme, toggleTheme }}&gt;</a:t>
            </a:r>
            <a:endParaRPr lang="en-US" sz="1575" dirty="0"/>
          </a:p>
        </p:txBody>
      </p:sp>
      <p:sp>
        <p:nvSpPr>
          <p:cNvPr id="14" name="slide-49-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{children}</a:t>
            </a:r>
            <a:endParaRPr lang="en-US" sz="1575" dirty="0"/>
          </a:p>
        </p:txBody>
      </p:sp>
      <p:sp>
        <p:nvSpPr>
          <p:cNvPr id="15" name="slide-49-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&lt;/ThemeContext.Provider&gt;</a:t>
            </a:r>
            <a:endParaRPr lang="en-US" sz="1575" dirty="0"/>
          </a:p>
        </p:txBody>
      </p:sp>
      <p:sp>
        <p:nvSpPr>
          <p:cNvPr id="16" name="slide-49-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7" name="slide-49-text-15"/>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UNION</a:t>
            </a:r>
            <a:endParaRPr lang="en-US" sz="1350" dirty="0"/>
          </a:p>
        </p:txBody>
      </p:sp>
      <p:sp>
        <p:nvSpPr>
          <p:cNvPr id="18" name="slide-49-text-16"/>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Only light or dark</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in typed code.</a:t>
            </a:r>
            <a:endParaRPr lang="en-US" sz="1950" dirty="0"/>
          </a:p>
        </p:txBody>
      </p:sp>
      <p:sp>
        <p:nvSpPr>
          <p:cNvPr id="19" name="slide-49-text-17"/>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UPDATE</a:t>
            </a:r>
            <a:endParaRPr lang="en-US" sz="1350" dirty="0"/>
          </a:p>
        </p:txBody>
      </p:sp>
      <p:sp>
        <p:nvSpPr>
          <p:cNvPr id="20" name="slide-49-text-18"/>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Toggle from the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previous value.</a:t>
            </a:r>
            <a:endParaRPr lang="en-US" sz="1950" dirty="0"/>
          </a:p>
        </p:txBody>
      </p:sp>
      <p:sp>
        <p:nvSpPr>
          <p:cNvPr id="21" name="slide-49-text-19"/>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CONSUMERS</a:t>
            </a:r>
            <a:endParaRPr lang="en-US" sz="1350" dirty="0"/>
          </a:p>
        </p:txBody>
      </p:sp>
      <p:sp>
        <p:nvSpPr>
          <p:cNvPr id="22" name="slide-49-text-20"/>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Text and app colors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change together.</a:t>
            </a:r>
            <a:endParaRPr lang="en-US" sz="1950" dirty="0"/>
          </a:p>
        </p:txBody>
      </p:sp>
      <p:sp>
        <p:nvSpPr>
          <p:cNvPr id="23" name="slide-49-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ThemeProvider | ThemeContext.tsx:38</a:t>
            </a:r>
            <a:endParaRPr lang="en-US" sz="1275" dirty="0"/>
          </a:p>
        </p:txBody>
      </p:sp>
      <p:sp>
        <p:nvSpPr>
          <p:cNvPr id="24" name="slide-49-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Theme</a:t>
            </a:r>
            <a:endParaRPr lang="en-US" sz="1275" dirty="0"/>
          </a:p>
        </p:txBody>
      </p:sp>
      <p:sp>
        <p:nvSpPr>
          <p:cNvPr id="25" name="slide-49-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49 / 65</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3EA"/>
        </a:solidFill>
      </p:bgPr>
    </p:bg>
    <p:spTree>
      <p:nvGrpSpPr>
        <p:cNvPr id="1" name=""/>
        <p:cNvGrpSpPr/>
        <p:nvPr/>
      </p:nvGrpSpPr>
      <p:grpSpPr>
        <a:xfrm>
          <a:off x="0" y="0"/>
          <a:ext cx="0" cy="0"/>
          <a:chOff x="0" y="0"/>
          <a:chExt cx="0" cy="0"/>
        </a:xfrm>
      </p:grpSpPr>
      <p:sp>
        <p:nvSpPr>
          <p:cNvPr id="2" name="slide-50-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04 / SHARED STATE</a:t>
            </a:r>
            <a:endParaRPr lang="en-US" sz="1350" dirty="0"/>
          </a:p>
        </p:txBody>
      </p:sp>
      <p:sp>
        <p:nvSpPr>
          <p:cNvPr id="3" name="slide-50-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The notification provider owns dismissal</a:t>
            </a:r>
            <a:endParaRPr lang="en-US" sz="3600" dirty="0"/>
          </a:p>
        </p:txBody>
      </p:sp>
      <p:sp>
        <p:nvSpPr>
          <p:cNvPr id="4" name="slide-50-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NotificationTester renders messages; NotificationProvider schedules their removal.</a:t>
            </a:r>
            <a:endParaRPr lang="en-US" sz="1875" dirty="0"/>
          </a:p>
        </p:txBody>
      </p:sp>
      <p:sp>
        <p:nvSpPr>
          <p:cNvPr id="5" name="slide-50-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50-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NOTIFICATIONPROVIDER / CURRENT EXCERPTS</a:t>
            </a:r>
            <a:endParaRPr lang="en-US" sz="1350" dirty="0"/>
          </a:p>
        </p:txBody>
      </p:sp>
      <p:sp>
        <p:nvSpPr>
          <p:cNvPr id="7" name="slide-50-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id = Date.now().toString();</a:t>
            </a:r>
            <a:endParaRPr lang="en-US" sz="1575" dirty="0"/>
          </a:p>
        </p:txBody>
      </p:sp>
      <p:sp>
        <p:nvSpPr>
          <p:cNvPr id="8" name="slide-50-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setNotifications(prev =&gt; [</a:t>
            </a:r>
            <a:endParaRPr lang="en-US" sz="1575" dirty="0"/>
          </a:p>
        </p:txBody>
      </p:sp>
      <p:sp>
        <p:nvSpPr>
          <p:cNvPr id="9" name="slide-50-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...prev, { id, message,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type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0" name="slide-50-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1" name="slide-50-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setTimeout(() =&gt; removeNotification(id),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3000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50-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3" name="slide-50-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removeNotification = useCallback((id: string) =&gt; {</a:t>
            </a:r>
            <a:endParaRPr lang="en-US" sz="1575" dirty="0"/>
          </a:p>
        </p:txBody>
      </p:sp>
      <p:sp>
        <p:nvSpPr>
          <p:cNvPr id="14" name="slide-50-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setNotifications(prev =&gt; prev.filter(n =&gt; n.id !== id));</a:t>
            </a:r>
            <a:endParaRPr lang="en-US" sz="1575" dirty="0"/>
          </a:p>
        </p:txBody>
      </p:sp>
      <p:sp>
        <p:nvSpPr>
          <p:cNvPr id="15" name="slide-50-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6" name="slide-50-text-14"/>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ADD</a:t>
            </a:r>
            <a:endParaRPr lang="en-US" sz="1350" dirty="0"/>
          </a:p>
        </p:txBody>
      </p:sp>
      <p:sp>
        <p:nvSpPr>
          <p:cNvPr id="17" name="slide-50-text-15"/>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Append a typed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message object.</a:t>
            </a:r>
            <a:endParaRPr lang="en-US" sz="1950" dirty="0"/>
          </a:p>
        </p:txBody>
      </p:sp>
      <p:sp>
        <p:nvSpPr>
          <p:cNvPr id="18" name="slide-50-text-16"/>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REMOVE</a:t>
            </a:r>
            <a:endParaRPr lang="en-US" sz="1350" dirty="0"/>
          </a:p>
        </p:txBody>
      </p:sp>
      <p:sp>
        <p:nvSpPr>
          <p:cNvPr id="19" name="slide-50-text-17"/>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Filter by ID after</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3 seconds or ×.</a:t>
            </a:r>
            <a:endParaRPr lang="en-US" sz="1950" dirty="0"/>
          </a:p>
        </p:txBody>
      </p:sp>
      <p:sp>
        <p:nvSpPr>
          <p:cNvPr id="20" name="slide-50-text-18"/>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RENDER</a:t>
            </a:r>
            <a:endParaRPr lang="en-US" sz="1350" dirty="0"/>
          </a:p>
        </p:txBody>
      </p:sp>
      <p:sp>
        <p:nvSpPr>
          <p:cNvPr id="21" name="slide-50-text-19"/>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Context card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consumes the list.</a:t>
            </a:r>
            <a:endParaRPr lang="en-US" sz="1950" dirty="0"/>
          </a:p>
        </p:txBody>
      </p:sp>
      <p:sp>
        <p:nvSpPr>
          <p:cNvPr id="22" name="slide-50-rect-20"/>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3" name="slide-50-text-21"/>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There is one current timer owner: the provider, not a separate NotificationItem component.</a:t>
            </a:r>
            <a:endParaRPr lang="en-US" sz="1875" dirty="0"/>
          </a:p>
        </p:txBody>
      </p:sp>
      <p:sp>
        <p:nvSpPr>
          <p:cNvPr id="24" name="slide-50-text-22">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NotificationProvider | NotificationContext.tsx:26</a:t>
            </a:r>
            <a:endParaRPr lang="en-US" sz="1275" dirty="0"/>
          </a:p>
        </p:txBody>
      </p:sp>
      <p:sp>
        <p:nvSpPr>
          <p:cNvPr id="25" name="slide-50-text-23">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Notifications</a:t>
            </a:r>
            <a:endParaRPr lang="en-US" sz="1275" dirty="0"/>
          </a:p>
        </p:txBody>
      </p:sp>
      <p:sp>
        <p:nvSpPr>
          <p:cNvPr id="26" name="slide-50-text-24"/>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50 / 65</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3EA"/>
        </a:solidFill>
      </p:bgPr>
    </p:bg>
    <p:spTree>
      <p:nvGrpSpPr>
        <p:cNvPr id="1" name=""/>
        <p:cNvGrpSpPr/>
        <p:nvPr/>
      </p:nvGrpSpPr>
      <p:grpSpPr>
        <a:xfrm>
          <a:off x="0" y="0"/>
          <a:ext cx="0" cy="0"/>
          <a:chOff x="0" y="0"/>
          <a:chExt cx="0" cy="0"/>
        </a:xfrm>
      </p:grpSpPr>
      <p:sp>
        <p:nvSpPr>
          <p:cNvPr id="2" name="slide-5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1-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Optimize measured work, not every line</a:t>
            </a:r>
            <a:endParaRPr lang="en-US" sz="3600" dirty="0"/>
          </a:p>
        </p:txBody>
      </p:sp>
      <p:sp>
        <p:nvSpPr>
          <p:cNvPr id="4" name="slide-51-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PerformanceDemo combines three related but different tools.</a:t>
            </a:r>
            <a:endParaRPr lang="en-US" sz="1875" dirty="0"/>
          </a:p>
        </p:txBody>
      </p:sp>
      <p:sp>
        <p:nvSpPr>
          <p:cNvPr id="5" name="slide-51-rect-3"/>
          <p:cNvSpPr/>
          <p:nvPr/>
        </p:nvSpPr>
        <p:spPr>
          <a:xfrm>
            <a:off x="609600" y="2228850"/>
            <a:ext cx="3479800" cy="3067050"/>
          </a:xfrm>
          <a:prstGeom prst="roundRect">
            <a:avLst>
              <a:gd name="adj" fmla="val 3106"/>
            </a:avLst>
          </a:prstGeom>
          <a:solidFill>
            <a:srgbClr val="FFFFFF"/>
          </a:solidFill>
          <a:ln w="9525">
            <a:solidFill>
              <a:srgbClr val="D4DBD0"/>
            </a:solidFill>
            <a:prstDash val="solid"/>
          </a:ln>
        </p:spPr>
      </p:sp>
      <p:sp>
        <p:nvSpPr>
          <p:cNvPr id="6" name="slide-51-text-4"/>
          <p:cNvSpPr/>
          <p:nvPr/>
        </p:nvSpPr>
        <p:spPr>
          <a:xfrm>
            <a:off x="838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COMPONENT</a:t>
            </a:r>
            <a:endParaRPr lang="en-US" sz="1350" dirty="0"/>
          </a:p>
        </p:txBody>
      </p:sp>
      <p:sp>
        <p:nvSpPr>
          <p:cNvPr id="7" name="slide-51-text-5"/>
          <p:cNvSpPr/>
          <p:nvPr/>
        </p:nvSpPr>
        <p:spPr>
          <a:xfrm>
            <a:off x="838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memo</a:t>
            </a:r>
            <a:endParaRPr lang="en-US" sz="2400" dirty="0"/>
          </a:p>
        </p:txBody>
      </p:sp>
      <p:sp>
        <p:nvSpPr>
          <p:cNvPr id="8" name="slide-51-text-6"/>
          <p:cNvSpPr/>
          <p:nvPr/>
        </p:nvSpPr>
        <p:spPr>
          <a:xfrm>
            <a:off x="838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ExpensiveChild can skip</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parent-driven renders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with equal props.</a:t>
            </a:r>
            <a:endParaRPr lang="en-US" sz="1950" dirty="0"/>
          </a:p>
        </p:txBody>
      </p:sp>
      <p:sp>
        <p:nvSpPr>
          <p:cNvPr id="9" name="slide-51-rect-7"/>
          <p:cNvSpPr/>
          <p:nvPr/>
        </p:nvSpPr>
        <p:spPr>
          <a:xfrm>
            <a:off x="4356100" y="2228850"/>
            <a:ext cx="3479800" cy="3067050"/>
          </a:xfrm>
          <a:prstGeom prst="roundRect">
            <a:avLst>
              <a:gd name="adj" fmla="val 3106"/>
            </a:avLst>
          </a:prstGeom>
          <a:solidFill>
            <a:srgbClr val="FFFFFF"/>
          </a:solidFill>
          <a:ln w="9525">
            <a:solidFill>
              <a:srgbClr val="D4DBD0"/>
            </a:solidFill>
            <a:prstDash val="solid"/>
          </a:ln>
        </p:spPr>
      </p:sp>
      <p:sp>
        <p:nvSpPr>
          <p:cNvPr id="10" name="slide-51-text-8"/>
          <p:cNvSpPr/>
          <p:nvPr/>
        </p:nvSpPr>
        <p:spPr>
          <a:xfrm>
            <a:off x="45847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VALUE</a:t>
            </a:r>
            <a:endParaRPr lang="en-US" sz="1350" dirty="0"/>
          </a:p>
        </p:txBody>
      </p:sp>
      <p:sp>
        <p:nvSpPr>
          <p:cNvPr id="11" name="slide-51-text-9"/>
          <p:cNvSpPr/>
          <p:nvPr/>
        </p:nvSpPr>
        <p:spPr>
          <a:xfrm>
            <a:off x="45847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useMemo</a:t>
            </a:r>
            <a:endParaRPr lang="en-US" sz="2400" dirty="0"/>
          </a:p>
        </p:txBody>
      </p:sp>
      <p:sp>
        <p:nvSpPr>
          <p:cNvPr id="12" name="slide-51-text-10"/>
          <p:cNvSpPr/>
          <p:nvPr/>
        </p:nvSpPr>
        <p:spPr>
          <a:xfrm>
            <a:off x="45847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items array keeps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its reference while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its inputs stay equal.</a:t>
            </a:r>
            <a:endParaRPr lang="en-US" sz="1950" dirty="0"/>
          </a:p>
        </p:txBody>
      </p:sp>
      <p:sp>
        <p:nvSpPr>
          <p:cNvPr id="13" name="slide-51-rect-11"/>
          <p:cNvSpPr/>
          <p:nvPr/>
        </p:nvSpPr>
        <p:spPr>
          <a:xfrm>
            <a:off x="8102600" y="2228850"/>
            <a:ext cx="3479800" cy="3067050"/>
          </a:xfrm>
          <a:prstGeom prst="roundRect">
            <a:avLst>
              <a:gd name="adj" fmla="val 3106"/>
            </a:avLst>
          </a:prstGeom>
          <a:solidFill>
            <a:srgbClr val="FFFFFF"/>
          </a:solidFill>
          <a:ln w="9525">
            <a:solidFill>
              <a:srgbClr val="D4DBD0"/>
            </a:solidFill>
            <a:prstDash val="solid"/>
          </a:ln>
        </p:spPr>
      </p:sp>
      <p:sp>
        <p:nvSpPr>
          <p:cNvPr id="14" name="slide-51-text-12"/>
          <p:cNvSpPr/>
          <p:nvPr/>
        </p:nvSpPr>
        <p:spPr>
          <a:xfrm>
            <a:off x="8331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FUNCTION</a:t>
            </a:r>
            <a:endParaRPr lang="en-US" sz="1350" dirty="0"/>
          </a:p>
        </p:txBody>
      </p:sp>
      <p:sp>
        <p:nvSpPr>
          <p:cNvPr id="15" name="slide-51-text-13"/>
          <p:cNvSpPr/>
          <p:nvPr/>
        </p:nvSpPr>
        <p:spPr>
          <a:xfrm>
            <a:off x="8331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useCallback</a:t>
            </a:r>
            <a:endParaRPr lang="en-US" sz="2400" dirty="0"/>
          </a:p>
        </p:txBody>
      </p:sp>
      <p:sp>
        <p:nvSpPr>
          <p:cNvPr id="16" name="slide-51-text-14"/>
          <p:cNvSpPr/>
          <p:nvPr/>
        </p:nvSpPr>
        <p:spPr>
          <a:xfrm>
            <a:off x="8331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handleItemClick keeps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its reference and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updates selectedItem.</a:t>
            </a:r>
            <a:endParaRPr lang="en-US" sz="1950" dirty="0"/>
          </a:p>
        </p:txBody>
      </p:sp>
      <p:sp>
        <p:nvSpPr>
          <p:cNvPr id="17" name="slide-51-rect-15"/>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8" name="slide-51-text-16"/>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Correctness comes first. Memoization is a performance choice, not a semantic guarantee.</a:t>
            </a:r>
            <a:endParaRPr lang="en-US" sz="1875" dirty="0"/>
          </a:p>
        </p:txBody>
      </p:sp>
      <p:sp>
        <p:nvSpPr>
          <p:cNvPr id="19" name="slide-51-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ExpensiveChild | PerformanceDemo.tsx:15</a:t>
            </a:r>
            <a:endParaRPr lang="en-US" sz="1275" dirty="0"/>
          </a:p>
        </p:txBody>
      </p:sp>
      <p:sp>
        <p:nvSpPr>
          <p:cNvPr id="20" name="slide-51-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8. Performance / Memoized child</a:t>
            </a:r>
            <a:endParaRPr lang="en-US" sz="1275" dirty="0"/>
          </a:p>
        </p:txBody>
      </p:sp>
      <p:sp>
        <p:nvSpPr>
          <p:cNvPr id="21" name="slide-51-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51 / 65</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3EA"/>
        </a:solidFill>
      </p:bgPr>
    </p:bg>
    <p:spTree>
      <p:nvGrpSpPr>
        <p:cNvPr id="1" name=""/>
        <p:cNvGrpSpPr/>
        <p:nvPr/>
      </p:nvGrpSpPr>
      <p:grpSpPr>
        <a:xfrm>
          <a:off x="0" y="0"/>
          <a:ext cx="0" cy="0"/>
          <a:chOff x="0" y="0"/>
          <a:chExt cx="0" cy="0"/>
        </a:xfrm>
      </p:grpSpPr>
      <p:sp>
        <p:nvSpPr>
          <p:cNvPr id="2" name="slide-5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A cached value depends on specific inputs</a:t>
            </a:r>
            <a:endParaRPr lang="en-US" sz="3600" dirty="0"/>
          </a:p>
        </p:txBody>
      </p:sp>
      <p:sp>
        <p:nvSpPr>
          <p:cNvPr id="4" name="slide-5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In PerformanceDemo, count changes Fibonacci; selectedItem does not.</a:t>
            </a:r>
            <a:endParaRPr lang="en-US" sz="1875" dirty="0"/>
          </a:p>
        </p:txBody>
      </p:sp>
      <p:sp>
        <p:nvSpPr>
          <p:cNvPr id="5" name="slide-52-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52-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PERFORMANCEDEMO / CURRENT CALCULATION</a:t>
            </a:r>
            <a:endParaRPr lang="en-US" sz="1350" dirty="0"/>
          </a:p>
        </p:txBody>
      </p:sp>
      <p:sp>
        <p:nvSpPr>
          <p:cNvPr id="7" name="slide-52-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fibonacci = useMemo(() =&gt; {</a:t>
            </a:r>
            <a:endParaRPr lang="en-US" sz="1575" dirty="0"/>
          </a:p>
        </p:txBody>
      </p:sp>
      <p:sp>
        <p:nvSpPr>
          <p:cNvPr id="8" name="slide-52-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fib = (n: number): number =&gt;</a:t>
            </a:r>
            <a:endParaRPr lang="en-US" sz="1575" dirty="0"/>
          </a:p>
        </p:txBody>
      </p:sp>
      <p:sp>
        <p:nvSpPr>
          <p:cNvPr id="9" name="slide-52-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n &lt;=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n : fib(n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fib(n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2</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0" name="slide-52-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fib(count &gt;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35</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35</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count);</a:t>
            </a:r>
            <a:endParaRPr lang="en-US" sz="1575" dirty="0"/>
          </a:p>
        </p:txBody>
      </p:sp>
      <p:sp>
        <p:nvSpPr>
          <p:cNvPr id="11" name="slide-52-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[count]);</a:t>
            </a:r>
            <a:endParaRPr lang="en-US" sz="1575" dirty="0"/>
          </a:p>
        </p:txBody>
      </p:sp>
      <p:sp>
        <p:nvSpPr>
          <p:cNvPr id="12" name="slide-52-text-10"/>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CALCULATE</a:t>
            </a:r>
            <a:endParaRPr lang="en-US" sz="1350" dirty="0"/>
          </a:p>
        </p:txBody>
      </p:sp>
      <p:sp>
        <p:nvSpPr>
          <p:cNvPr id="13" name="slide-52-text-11"/>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Call fib with</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capped count.</a:t>
            </a:r>
            <a:endParaRPr lang="en-US" sz="1950" dirty="0"/>
          </a:p>
        </p:txBody>
      </p:sp>
      <p:sp>
        <p:nvSpPr>
          <p:cNvPr id="14" name="slide-52-text-12"/>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DEPENDENCY</a:t>
            </a:r>
            <a:endParaRPr lang="en-US" sz="1350" dirty="0"/>
          </a:p>
        </p:txBody>
      </p:sp>
      <p:sp>
        <p:nvSpPr>
          <p:cNvPr id="15" name="slide-52-text-13"/>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Recompute when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count changes.</a:t>
            </a:r>
            <a:endParaRPr lang="en-US" sz="1950" dirty="0"/>
          </a:p>
        </p:txBody>
      </p:sp>
      <p:sp>
        <p:nvSpPr>
          <p:cNvPr id="16" name="slide-52-text-14"/>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SEPARATE STATE</a:t>
            </a:r>
            <a:endParaRPr lang="en-US" sz="1350" dirty="0"/>
          </a:p>
        </p:txBody>
      </p:sp>
      <p:sp>
        <p:nvSpPr>
          <p:cNvPr id="17" name="slide-52-text-15"/>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 child-item click</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changes selection.</a:t>
            </a:r>
            <a:endParaRPr lang="en-US" sz="1950" dirty="0"/>
          </a:p>
        </p:txBody>
      </p:sp>
      <p:sp>
        <p:nvSpPr>
          <p:cNvPr id="18" name="slide-52-rect-16"/>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9" name="slide-52-text-17"/>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 current computation caps at 35. Keep classroom inputs small.</a:t>
            </a:r>
            <a:endParaRPr lang="en-US" sz="1875" dirty="0"/>
          </a:p>
        </p:txBody>
      </p:sp>
      <p:sp>
        <p:nvSpPr>
          <p:cNvPr id="20" name="slide-52-text-18">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fibonacci | PerformanceDemo.tsx:49</a:t>
            </a:r>
            <a:endParaRPr lang="en-US" sz="1275" dirty="0"/>
          </a:p>
        </p:txBody>
      </p:sp>
      <p:sp>
        <p:nvSpPr>
          <p:cNvPr id="21" name="slide-52-text-19">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8. Performance / Cached calculation</a:t>
            </a:r>
            <a:endParaRPr lang="en-US" sz="1275" dirty="0"/>
          </a:p>
        </p:txBody>
      </p:sp>
      <p:sp>
        <p:nvSpPr>
          <p:cNvPr id="22" name="slide-52-text-20"/>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52 / 65</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3EA"/>
        </a:solidFill>
      </p:bgPr>
    </p:bg>
    <p:spTree>
      <p:nvGrpSpPr>
        <p:cNvPr id="1" name=""/>
        <p:cNvGrpSpPr/>
        <p:nvPr/>
      </p:nvGrpSpPr>
      <p:grpSpPr>
        <a:xfrm>
          <a:off x="0" y="0"/>
          <a:ext cx="0" cy="0"/>
          <a:chOff x="0" y="0"/>
          <a:chExt cx="0" cy="0"/>
        </a:xfrm>
      </p:grpSpPr>
      <p:sp>
        <p:nvSpPr>
          <p:cNvPr id="2" name="slide-5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Predict: what does the elapsed time mean?</a:t>
            </a:r>
            <a:endParaRPr lang="en-US" sz="3600" dirty="0"/>
          </a:p>
        </p:txBody>
      </p:sp>
      <p:sp>
        <p:nvSpPr>
          <p:cNvPr id="4" name="slide-5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useMemo tab stores the result and the time of that calculation together.</a:t>
            </a:r>
            <a:endParaRPr lang="en-US" sz="1875" dirty="0"/>
          </a:p>
        </p:txBody>
      </p:sp>
      <p:sp>
        <p:nvSpPr>
          <p:cNvPr id="5" name="slide-53-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53-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a:t>
            </a:r>
            <a:endParaRPr lang="en-US" sz="5700" dirty="0"/>
          </a:p>
        </p:txBody>
      </p:sp>
      <p:sp>
        <p:nvSpPr>
          <p:cNvPr id="7" name="slide-53-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DISCUSS</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EXPLAIN</a:t>
            </a:r>
            <a:endParaRPr lang="en-US" sz="1725" dirty="0"/>
          </a:p>
        </p:txBody>
      </p:sp>
      <p:sp>
        <p:nvSpPr>
          <p:cNvPr id="8" name="slide-53-rect-6"/>
          <p:cNvSpPr/>
          <p:nvPr/>
        </p:nvSpPr>
        <p:spPr>
          <a:xfrm>
            <a:off x="2457450" y="2190750"/>
            <a:ext cx="5410200" cy="3048000"/>
          </a:xfrm>
          <a:prstGeom prst="roundRect">
            <a:avLst>
              <a:gd name="adj" fmla="val 3125"/>
            </a:avLst>
          </a:prstGeom>
          <a:solidFill>
            <a:srgbClr val="152B2A"/>
          </a:solidFill>
          <a:ln w="12700">
            <a:solidFill>
              <a:srgbClr val="152B2A">
                <a:alpha val="0"/>
              </a:srgbClr>
            </a:solidFill>
            <a:prstDash val="solid"/>
          </a:ln>
        </p:spPr>
      </p:sp>
      <p:sp>
        <p:nvSpPr>
          <p:cNvPr id="9" name="slide-53-text-7"/>
          <p:cNvSpPr/>
          <p:nvPr/>
        </p:nvSpPr>
        <p:spPr>
          <a:xfrm>
            <a:off x="2686050" y="2381250"/>
            <a:ext cx="49530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CURRENT FIBRESULT / REFLOWED</a:t>
            </a:r>
            <a:endParaRPr lang="en-US" sz="1350" dirty="0"/>
          </a:p>
        </p:txBody>
      </p:sp>
      <p:sp>
        <p:nvSpPr>
          <p:cNvPr id="10" name="slide-53-text-8"/>
          <p:cNvSpPr/>
          <p:nvPr/>
        </p:nvSpPr>
        <p:spPr>
          <a:xfrm>
            <a:off x="2686050" y="276225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fibResult = useMemo(() =&gt; {</a:t>
            </a:r>
            <a:endParaRPr lang="en-US" sz="1575" dirty="0"/>
          </a:p>
        </p:txBody>
      </p:sp>
      <p:sp>
        <p:nvSpPr>
          <p:cNvPr id="11" name="slide-53-text-9"/>
          <p:cNvSpPr/>
          <p:nvPr/>
        </p:nvSpPr>
        <p:spPr>
          <a:xfrm>
            <a:off x="2686050" y="3022283"/>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start = performance.now();</a:t>
            </a:r>
            <a:endParaRPr lang="en-US" sz="1575" dirty="0"/>
          </a:p>
        </p:txBody>
      </p:sp>
      <p:sp>
        <p:nvSpPr>
          <p:cNvPr id="12" name="slide-53-text-10"/>
          <p:cNvSpPr/>
          <p:nvPr/>
        </p:nvSpPr>
        <p:spPr>
          <a:xfrm>
            <a:off x="2686050" y="328231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result = slowFibonacci(</a:t>
            </a:r>
            <a:endParaRPr lang="en-US" sz="1575" dirty="0"/>
          </a:p>
        </p:txBody>
      </p:sp>
      <p:sp>
        <p:nvSpPr>
          <p:cNvPr id="13" name="slide-53-text-11"/>
          <p:cNvSpPr/>
          <p:nvPr/>
        </p:nvSpPr>
        <p:spPr>
          <a:xfrm>
            <a:off x="2686050" y="3542347"/>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Math.min(fibInput,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40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53-text-12"/>
          <p:cNvSpPr/>
          <p:nvPr/>
        </p:nvSpPr>
        <p:spPr>
          <a:xfrm>
            <a:off x="2686050" y="3802380"/>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elapsed =</a:t>
            </a:r>
            <a:endParaRPr lang="en-US" sz="1575" dirty="0"/>
          </a:p>
        </p:txBody>
      </p:sp>
      <p:sp>
        <p:nvSpPr>
          <p:cNvPr id="15" name="slide-53-text-13"/>
          <p:cNvSpPr/>
          <p:nvPr/>
        </p:nvSpPr>
        <p:spPr>
          <a:xfrm>
            <a:off x="2686050" y="4062412"/>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performance.now() - start;</a:t>
            </a:r>
            <a:endParaRPr lang="en-US" sz="1575" dirty="0"/>
          </a:p>
        </p:txBody>
      </p:sp>
      <p:sp>
        <p:nvSpPr>
          <p:cNvPr id="16" name="slide-53-text-14"/>
          <p:cNvSpPr/>
          <p:nvPr/>
        </p:nvSpPr>
        <p:spPr>
          <a:xfrm>
            <a:off x="2686050" y="4322445"/>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result, elapsed };</a:t>
            </a:r>
            <a:endParaRPr lang="en-US" sz="1575" dirty="0"/>
          </a:p>
        </p:txBody>
      </p:sp>
      <p:sp>
        <p:nvSpPr>
          <p:cNvPr id="17" name="slide-53-text-15"/>
          <p:cNvSpPr/>
          <p:nvPr/>
        </p:nvSpPr>
        <p:spPr>
          <a:xfrm>
            <a:off x="2686050" y="4582478"/>
            <a:ext cx="49530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[fibInput]);</a:t>
            </a:r>
            <a:endParaRPr lang="en-US" sz="1575" dirty="0"/>
          </a:p>
        </p:txBody>
      </p:sp>
      <p:sp>
        <p:nvSpPr>
          <p:cNvPr id="18" name="slide-53-text-16"/>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9" name="slide-53-text-17"/>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Set the input to 20.</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Increment the unrelated</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counter.</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Predict the result</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and elapsed display.</a:t>
            </a:r>
            <a:endParaRPr lang="en-US" sz="2100" dirty="0"/>
          </a:p>
        </p:txBody>
      </p:sp>
      <p:sp>
        <p:nvSpPr>
          <p:cNvPr id="20" name="slide-53-rect-18"/>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1" name="slide-53-text-19"/>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Elapsed is the last measured calculation duration, not the cost of every render.</a:t>
            </a:r>
            <a:endParaRPr lang="en-US" sz="1875" dirty="0"/>
          </a:p>
        </p:txBody>
      </p:sp>
      <p:sp>
        <p:nvSpPr>
          <p:cNvPr id="22" name="slide-53-text-2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fibResult | UseMemoDemo.tsx:48</a:t>
            </a:r>
            <a:endParaRPr lang="en-US" sz="1275" dirty="0"/>
          </a:p>
        </p:txBody>
      </p:sp>
      <p:sp>
        <p:nvSpPr>
          <p:cNvPr id="23" name="slide-53-text-2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9. useMemo / Fibonacci</a:t>
            </a:r>
            <a:endParaRPr lang="en-US" sz="1275" dirty="0"/>
          </a:p>
        </p:txBody>
      </p:sp>
      <p:sp>
        <p:nvSpPr>
          <p:cNvPr id="24" name="slide-53-text-2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53 / 65</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3EA"/>
        </a:solidFill>
      </p:bgPr>
    </p:bg>
    <p:spTree>
      <p:nvGrpSpPr>
        <p:cNvPr id="1" name=""/>
        <p:cNvGrpSpPr/>
        <p:nvPr/>
      </p:nvGrpSpPr>
      <p:grpSpPr>
        <a:xfrm>
          <a:off x="0" y="0"/>
          <a:ext cx="0" cy="0"/>
          <a:chOff x="0" y="0"/>
          <a:chExt cx="0" cy="0"/>
        </a:xfrm>
      </p:grpSpPr>
      <p:sp>
        <p:nvSpPr>
          <p:cNvPr id="2" name="slide-5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Filter products from three state inputs</a:t>
            </a:r>
            <a:endParaRPr lang="en-US" sz="3600" dirty="0"/>
          </a:p>
        </p:txBody>
      </p:sp>
      <p:sp>
        <p:nvSpPr>
          <p:cNvPr id="4" name="slide-5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UseMemoDemo derives its visible rows from the fixed SAMPLE_PRODUCTS catalog.</a:t>
            </a:r>
            <a:endParaRPr lang="en-US" sz="1875" dirty="0"/>
          </a:p>
        </p:txBody>
      </p:sp>
      <p:sp>
        <p:nvSpPr>
          <p:cNvPr id="5" name="slide-54-text-3"/>
          <p:cNvSpPr/>
          <p:nvPr/>
        </p:nvSpPr>
        <p:spPr>
          <a:xfrm>
            <a:off x="609600"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1</a:t>
            </a:r>
            <a:endParaRPr lang="en-US" sz="1350" dirty="0"/>
          </a:p>
        </p:txBody>
      </p:sp>
      <p:sp>
        <p:nvSpPr>
          <p:cNvPr id="6" name="slide-54-rect-4"/>
          <p:cNvSpPr/>
          <p:nvPr/>
        </p:nvSpPr>
        <p:spPr>
          <a:xfrm>
            <a:off x="609600" y="2800350"/>
            <a:ext cx="2371725" cy="2095500"/>
          </a:xfrm>
          <a:prstGeom prst="roundRect">
            <a:avLst>
              <a:gd name="adj" fmla="val 4091"/>
            </a:avLst>
          </a:prstGeom>
          <a:solidFill>
            <a:srgbClr val="FFFFFF"/>
          </a:solidFill>
          <a:ln w="9525">
            <a:solidFill>
              <a:srgbClr val="D4DBD0"/>
            </a:solidFill>
            <a:prstDash val="solid"/>
          </a:ln>
        </p:spPr>
      </p:sp>
      <p:sp>
        <p:nvSpPr>
          <p:cNvPr id="7" name="slide-54-text-5"/>
          <p:cNvSpPr/>
          <p:nvPr/>
        </p:nvSpPr>
        <p:spPr>
          <a:xfrm>
            <a:off x="800100"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Search</a:t>
            </a:r>
            <a:endParaRPr lang="en-US" sz="2175" dirty="0"/>
          </a:p>
        </p:txBody>
      </p:sp>
      <p:sp>
        <p:nvSpPr>
          <p:cNvPr id="8" name="slide-54-text-6"/>
          <p:cNvSpPr/>
          <p:nvPr/>
        </p:nvSpPr>
        <p:spPr>
          <a:xfrm>
            <a:off x="800100"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Match name</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or category,</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case-insensitively.</a:t>
            </a:r>
            <a:endParaRPr lang="en-US" sz="1875" dirty="0"/>
          </a:p>
        </p:txBody>
      </p:sp>
      <p:sp>
        <p:nvSpPr>
          <p:cNvPr id="9" name="slide-54-arrow-7"/>
          <p:cNvSpPr/>
          <p:nvPr/>
        </p:nvSpPr>
        <p:spPr>
          <a:xfrm>
            <a:off x="3019425" y="3848100"/>
            <a:ext cx="419100" cy="0"/>
          </a:xfrm>
          <a:prstGeom prst="line">
            <a:avLst/>
          </a:prstGeom>
          <a:noFill/>
          <a:ln w="23813">
            <a:solidFill>
              <a:srgbClr val="B34F25"/>
            </a:solidFill>
            <a:prstDash val="solid"/>
            <a:headEnd type="none"/>
            <a:tailEnd type="triangle"/>
          </a:ln>
        </p:spPr>
      </p:sp>
      <p:sp>
        <p:nvSpPr>
          <p:cNvPr id="10" name="slide-54-text-8"/>
          <p:cNvSpPr/>
          <p:nvPr/>
        </p:nvSpPr>
        <p:spPr>
          <a:xfrm>
            <a:off x="3476625"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2</a:t>
            </a:r>
            <a:endParaRPr lang="en-US" sz="1350" dirty="0"/>
          </a:p>
        </p:txBody>
      </p:sp>
      <p:sp>
        <p:nvSpPr>
          <p:cNvPr id="11" name="slide-54-rect-9"/>
          <p:cNvSpPr/>
          <p:nvPr/>
        </p:nvSpPr>
        <p:spPr>
          <a:xfrm>
            <a:off x="3476625" y="2800350"/>
            <a:ext cx="2371725" cy="2095500"/>
          </a:xfrm>
          <a:prstGeom prst="roundRect">
            <a:avLst>
              <a:gd name="adj" fmla="val 4091"/>
            </a:avLst>
          </a:prstGeom>
          <a:solidFill>
            <a:srgbClr val="FFFFFF"/>
          </a:solidFill>
          <a:ln w="9525">
            <a:solidFill>
              <a:srgbClr val="D4DBD0"/>
            </a:solidFill>
            <a:prstDash val="solid"/>
          </a:ln>
        </p:spPr>
      </p:sp>
      <p:sp>
        <p:nvSpPr>
          <p:cNvPr id="12" name="slide-54-text-10"/>
          <p:cNvSpPr/>
          <p:nvPr/>
        </p:nvSpPr>
        <p:spPr>
          <a:xfrm>
            <a:off x="3667125"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Stock</a:t>
            </a:r>
            <a:endParaRPr lang="en-US" sz="2175" dirty="0"/>
          </a:p>
        </p:txBody>
      </p:sp>
      <p:sp>
        <p:nvSpPr>
          <p:cNvPr id="13" name="slide-54-text-11"/>
          <p:cNvSpPr/>
          <p:nvPr/>
        </p:nvSpPr>
        <p:spPr>
          <a:xfrm>
            <a:off x="3667125"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Optionally keep</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only in-stock</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products.</a:t>
            </a:r>
            <a:endParaRPr lang="en-US" sz="1875" dirty="0"/>
          </a:p>
        </p:txBody>
      </p:sp>
      <p:sp>
        <p:nvSpPr>
          <p:cNvPr id="14" name="slide-54-arrow-12"/>
          <p:cNvSpPr/>
          <p:nvPr/>
        </p:nvSpPr>
        <p:spPr>
          <a:xfrm>
            <a:off x="5886450" y="3848100"/>
            <a:ext cx="419100" cy="0"/>
          </a:xfrm>
          <a:prstGeom prst="line">
            <a:avLst/>
          </a:prstGeom>
          <a:noFill/>
          <a:ln w="23813">
            <a:solidFill>
              <a:srgbClr val="B34F25"/>
            </a:solidFill>
            <a:prstDash val="solid"/>
            <a:headEnd type="none"/>
            <a:tailEnd type="triangle"/>
          </a:ln>
        </p:spPr>
      </p:sp>
      <p:sp>
        <p:nvSpPr>
          <p:cNvPr id="15" name="slide-54-text-13"/>
          <p:cNvSpPr/>
          <p:nvPr/>
        </p:nvSpPr>
        <p:spPr>
          <a:xfrm>
            <a:off x="6343650"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3</a:t>
            </a:r>
            <a:endParaRPr lang="en-US" sz="1350" dirty="0"/>
          </a:p>
        </p:txBody>
      </p:sp>
      <p:sp>
        <p:nvSpPr>
          <p:cNvPr id="16" name="slide-54-rect-14"/>
          <p:cNvSpPr/>
          <p:nvPr/>
        </p:nvSpPr>
        <p:spPr>
          <a:xfrm>
            <a:off x="6343650" y="2800350"/>
            <a:ext cx="2371725" cy="2095500"/>
          </a:xfrm>
          <a:prstGeom prst="roundRect">
            <a:avLst>
              <a:gd name="adj" fmla="val 4091"/>
            </a:avLst>
          </a:prstGeom>
          <a:solidFill>
            <a:srgbClr val="FFFFFF"/>
          </a:solidFill>
          <a:ln w="9525">
            <a:solidFill>
              <a:srgbClr val="D4DBD0"/>
            </a:solidFill>
            <a:prstDash val="solid"/>
          </a:ln>
        </p:spPr>
      </p:sp>
      <p:sp>
        <p:nvSpPr>
          <p:cNvPr id="17" name="slide-54-text-15"/>
          <p:cNvSpPr/>
          <p:nvPr/>
        </p:nvSpPr>
        <p:spPr>
          <a:xfrm>
            <a:off x="6534150"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Sort</a:t>
            </a:r>
            <a:endParaRPr lang="en-US" sz="2175" dirty="0"/>
          </a:p>
        </p:txBody>
      </p:sp>
      <p:sp>
        <p:nvSpPr>
          <p:cNvPr id="18" name="slide-54-text-16"/>
          <p:cNvSpPr/>
          <p:nvPr/>
        </p:nvSpPr>
        <p:spPr>
          <a:xfrm>
            <a:off x="6534150"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Copy, then order</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by name</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or price.</a:t>
            </a:r>
            <a:endParaRPr lang="en-US" sz="1875" dirty="0"/>
          </a:p>
        </p:txBody>
      </p:sp>
      <p:sp>
        <p:nvSpPr>
          <p:cNvPr id="19" name="slide-54-arrow-17"/>
          <p:cNvSpPr/>
          <p:nvPr/>
        </p:nvSpPr>
        <p:spPr>
          <a:xfrm>
            <a:off x="8753475" y="3848100"/>
            <a:ext cx="419100" cy="0"/>
          </a:xfrm>
          <a:prstGeom prst="line">
            <a:avLst/>
          </a:prstGeom>
          <a:noFill/>
          <a:ln w="23813">
            <a:solidFill>
              <a:srgbClr val="B34F25"/>
            </a:solidFill>
            <a:prstDash val="solid"/>
            <a:headEnd type="none"/>
            <a:tailEnd type="triangle"/>
          </a:ln>
        </p:spPr>
      </p:sp>
      <p:sp>
        <p:nvSpPr>
          <p:cNvPr id="20" name="slide-54-text-18"/>
          <p:cNvSpPr/>
          <p:nvPr/>
        </p:nvSpPr>
        <p:spPr>
          <a:xfrm>
            <a:off x="9210675" y="2362200"/>
            <a:ext cx="2371725"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STEP 4</a:t>
            </a:r>
            <a:endParaRPr lang="en-US" sz="1350" dirty="0"/>
          </a:p>
        </p:txBody>
      </p:sp>
      <p:sp>
        <p:nvSpPr>
          <p:cNvPr id="21" name="slide-54-rect-19"/>
          <p:cNvSpPr/>
          <p:nvPr/>
        </p:nvSpPr>
        <p:spPr>
          <a:xfrm>
            <a:off x="9210675" y="2800350"/>
            <a:ext cx="2371725" cy="2095500"/>
          </a:xfrm>
          <a:prstGeom prst="roundRect">
            <a:avLst>
              <a:gd name="adj" fmla="val 4091"/>
            </a:avLst>
          </a:prstGeom>
          <a:solidFill>
            <a:srgbClr val="E5EDE2"/>
          </a:solidFill>
          <a:ln w="9525">
            <a:solidFill>
              <a:srgbClr val="D4DBD0"/>
            </a:solidFill>
            <a:prstDash val="solid"/>
          </a:ln>
        </p:spPr>
      </p:sp>
      <p:sp>
        <p:nvSpPr>
          <p:cNvPr id="22" name="slide-54-text-20"/>
          <p:cNvSpPr/>
          <p:nvPr/>
        </p:nvSpPr>
        <p:spPr>
          <a:xfrm>
            <a:off x="9401175" y="2990850"/>
            <a:ext cx="1990725" cy="523875"/>
          </a:xfrm>
          <a:prstGeom prst="rect">
            <a:avLst/>
          </a:prstGeom>
          <a:noFill/>
          <a:ln/>
        </p:spPr>
        <p:txBody>
          <a:bodyPr wrap="square" lIns="0" tIns="0" rIns="0" bIns="0" rtlCol="0" anchor="t"/>
          <a:lstStyle/>
          <a:p>
            <a:pPr algn="l" indent="0" marL="0">
              <a:lnSpc>
                <a:spcPts val="2545"/>
              </a:lnSpc>
              <a:buNone/>
            </a:pPr>
            <a:r>
              <a:rPr lang="en-US" sz="2175" b="1" dirty="0">
                <a:solidFill>
                  <a:srgbClr val="183B34"/>
                </a:solidFill>
                <a:latin typeface="Trebuchet MS" pitchFamily="34" charset="0"/>
                <a:ea typeface="Trebuchet MS" pitchFamily="34" charset="-122"/>
                <a:cs typeface="Trebuchet MS" pitchFamily="34" charset="-120"/>
              </a:rPr>
              <a:t>Render</a:t>
            </a:r>
            <a:endParaRPr lang="en-US" sz="2175" dirty="0"/>
          </a:p>
        </p:txBody>
      </p:sp>
      <p:sp>
        <p:nvSpPr>
          <p:cNvPr id="23" name="slide-54-text-21"/>
          <p:cNvSpPr/>
          <p:nvPr/>
        </p:nvSpPr>
        <p:spPr>
          <a:xfrm>
            <a:off x="9401175" y="3619500"/>
            <a:ext cx="1990725" cy="1190625"/>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Display rows</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and derived</a:t>
            </a:r>
            <a:endParaRPr lang="en-US" sz="1875" dirty="0"/>
          </a:p>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statistics.</a:t>
            </a:r>
            <a:endParaRPr lang="en-US" sz="1875" dirty="0"/>
          </a:p>
        </p:txBody>
      </p:sp>
      <p:sp>
        <p:nvSpPr>
          <p:cNvPr id="24" name="slide-54-rect-22"/>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5" name="slide-54-text-23"/>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The filter dependencies are searchTerm, sortBy and showInStockOnly.</a:t>
            </a:r>
            <a:endParaRPr lang="en-US" sz="1875" dirty="0"/>
          </a:p>
        </p:txBody>
      </p:sp>
      <p:sp>
        <p:nvSpPr>
          <p:cNvPr id="26" name="slide-54-text-24">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filteredProducts | UseMemoDemo.tsx:56</a:t>
            </a:r>
            <a:endParaRPr lang="en-US" sz="1275" dirty="0"/>
          </a:p>
        </p:txBody>
      </p:sp>
      <p:sp>
        <p:nvSpPr>
          <p:cNvPr id="27" name="slide-54-text-25">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9. useMemo / Product filters</a:t>
            </a:r>
            <a:endParaRPr lang="en-US" sz="1275" dirty="0"/>
          </a:p>
        </p:txBody>
      </p:sp>
      <p:sp>
        <p:nvSpPr>
          <p:cNvPr id="28" name="slide-54-text-26"/>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54 / 65</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3EA"/>
        </a:solidFill>
      </p:bgPr>
    </p:bg>
    <p:spTree>
      <p:nvGrpSpPr>
        <p:cNvPr id="1" name=""/>
        <p:cNvGrpSpPr/>
        <p:nvPr/>
      </p:nvGrpSpPr>
      <p:grpSpPr>
        <a:xfrm>
          <a:off x="0" y="0"/>
          <a:ext cx="0" cy="0"/>
          <a:chOff x="0" y="0"/>
          <a:chExt cx="0" cy="0"/>
        </a:xfrm>
      </p:grpSpPr>
      <p:sp>
        <p:nvSpPr>
          <p:cNvPr id="2" name="slide-5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5-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Sorting must not mutate the source array</a:t>
            </a:r>
            <a:endParaRPr lang="en-US" sz="3600" dirty="0"/>
          </a:p>
        </p:txBody>
      </p:sp>
      <p:sp>
        <p:nvSpPr>
          <p:cNvPr id="4" name="slide-55-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running product pipeline already copies before calling sort.</a:t>
            </a:r>
            <a:endParaRPr lang="en-US" sz="1875" dirty="0"/>
          </a:p>
        </p:txBody>
      </p:sp>
      <p:sp>
        <p:nvSpPr>
          <p:cNvPr id="5" name="slide-55-text-3"/>
          <p:cNvSpPr/>
          <p:nvPr/>
        </p:nvSpPr>
        <p:spPr>
          <a:xfrm>
            <a:off x="609600" y="2162175"/>
            <a:ext cx="53721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AVOID / HYPOTHETICAL ALIAS</a:t>
            </a:r>
            <a:endParaRPr lang="en-US" sz="1350" dirty="0"/>
          </a:p>
        </p:txBody>
      </p:sp>
      <p:sp>
        <p:nvSpPr>
          <p:cNvPr id="6" name="slide-55-rect-4"/>
          <p:cNvSpPr/>
          <p:nvPr/>
        </p:nvSpPr>
        <p:spPr>
          <a:xfrm>
            <a:off x="609600" y="2543175"/>
            <a:ext cx="5372100" cy="2095500"/>
          </a:xfrm>
          <a:prstGeom prst="roundRect">
            <a:avLst>
              <a:gd name="adj" fmla="val 4545"/>
            </a:avLst>
          </a:prstGeom>
          <a:solidFill>
            <a:srgbClr val="152B2A"/>
          </a:solidFill>
          <a:ln w="12700">
            <a:solidFill>
              <a:srgbClr val="152B2A">
                <a:alpha val="0"/>
              </a:srgbClr>
            </a:solidFill>
            <a:prstDash val="solid"/>
          </a:ln>
        </p:spPr>
      </p:sp>
      <p:sp>
        <p:nvSpPr>
          <p:cNvPr id="7" name="slide-55-text-5"/>
          <p:cNvSpPr/>
          <p:nvPr/>
        </p:nvSpPr>
        <p:spPr>
          <a:xfrm>
            <a:off x="838200" y="27336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TSX</a:t>
            </a:r>
            <a:endParaRPr lang="en-US" sz="1350" dirty="0"/>
          </a:p>
        </p:txBody>
      </p:sp>
      <p:sp>
        <p:nvSpPr>
          <p:cNvPr id="8" name="slide-55-text-6"/>
          <p:cNvSpPr/>
          <p:nvPr/>
        </p:nvSpPr>
        <p:spPr>
          <a:xfrm>
            <a:off x="838200" y="311467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let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result = SAMPLE_PRODUCTS;</a:t>
            </a:r>
            <a:endParaRPr lang="en-US" sz="1575" dirty="0"/>
          </a:p>
        </p:txBody>
      </p:sp>
      <p:sp>
        <p:nvSpPr>
          <p:cNvPr id="9" name="slide-55-text-7"/>
          <p:cNvSpPr/>
          <p:nvPr/>
        </p:nvSpPr>
        <p:spPr>
          <a:xfrm>
            <a:off x="838200" y="3374708"/>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result.sort((a, b) =&gt;</a:t>
            </a:r>
            <a:endParaRPr lang="en-US" sz="1575" dirty="0"/>
          </a:p>
        </p:txBody>
      </p:sp>
      <p:sp>
        <p:nvSpPr>
          <p:cNvPr id="10" name="slide-55-text-8"/>
          <p:cNvSpPr/>
          <p:nvPr/>
        </p:nvSpPr>
        <p:spPr>
          <a:xfrm>
            <a:off x="838200" y="3634740"/>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a.price - b.price);</a:t>
            </a:r>
            <a:endParaRPr lang="en-US" sz="1575" dirty="0"/>
          </a:p>
        </p:txBody>
      </p:sp>
      <p:sp>
        <p:nvSpPr>
          <p:cNvPr id="11" name="slide-55-text-9"/>
          <p:cNvSpPr/>
          <p:nvPr/>
        </p:nvSpPr>
        <p:spPr>
          <a:xfrm>
            <a:off x="628650" y="4895850"/>
            <a:ext cx="5334000" cy="1104900"/>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With no filtering first, this rewrites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 source catalog's array order.</a:t>
            </a:r>
            <a:endParaRPr lang="en-US" sz="1950" dirty="0"/>
          </a:p>
        </p:txBody>
      </p:sp>
      <p:sp>
        <p:nvSpPr>
          <p:cNvPr id="12" name="slide-55-text-10"/>
          <p:cNvSpPr/>
          <p:nvPr/>
        </p:nvSpPr>
        <p:spPr>
          <a:xfrm>
            <a:off x="6210300" y="2162175"/>
            <a:ext cx="5372100" cy="247650"/>
          </a:xfrm>
          <a:prstGeom prst="rect">
            <a:avLst/>
          </a:prstGeom>
          <a:noFill/>
          <a:ln/>
        </p:spPr>
        <p:txBody>
          <a:bodyPr wrap="square" lIns="0" tIns="0" rIns="0" bIns="0" rtlCol="0" anchor="t"/>
          <a:lstStyle/>
          <a:p>
            <a:pPr algn="l" indent="0" marL="0">
              <a:lnSpc>
                <a:spcPts val="1485"/>
              </a:lnSpc>
              <a:buNone/>
            </a:pPr>
            <a:r>
              <a:rPr lang="en-US" sz="1350" b="1" dirty="0">
                <a:solidFill>
                  <a:srgbClr val="123B35"/>
                </a:solidFill>
                <a:latin typeface="Calibri" pitchFamily="34" charset="0"/>
                <a:ea typeface="Calibri" pitchFamily="34" charset="-122"/>
                <a:cs typeface="Calibri" pitchFamily="34" charset="-120"/>
              </a:rPr>
              <a:t>CURRENT / COPY THEN SORT</a:t>
            </a:r>
            <a:endParaRPr lang="en-US" sz="1350" dirty="0"/>
          </a:p>
        </p:txBody>
      </p:sp>
      <p:sp>
        <p:nvSpPr>
          <p:cNvPr id="13" name="slide-55-rect-11"/>
          <p:cNvSpPr/>
          <p:nvPr/>
        </p:nvSpPr>
        <p:spPr>
          <a:xfrm>
            <a:off x="6210300" y="2543175"/>
            <a:ext cx="5372100" cy="2095500"/>
          </a:xfrm>
          <a:prstGeom prst="roundRect">
            <a:avLst>
              <a:gd name="adj" fmla="val 4545"/>
            </a:avLst>
          </a:prstGeom>
          <a:solidFill>
            <a:srgbClr val="152B2A"/>
          </a:solidFill>
          <a:ln w="12700">
            <a:solidFill>
              <a:srgbClr val="152B2A">
                <a:alpha val="0"/>
              </a:srgbClr>
            </a:solidFill>
            <a:prstDash val="solid"/>
          </a:ln>
        </p:spPr>
      </p:sp>
      <p:sp>
        <p:nvSpPr>
          <p:cNvPr id="14" name="slide-55-text-12"/>
          <p:cNvSpPr/>
          <p:nvPr/>
        </p:nvSpPr>
        <p:spPr>
          <a:xfrm>
            <a:off x="6438900" y="2733675"/>
            <a:ext cx="49149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TSX</a:t>
            </a:r>
            <a:endParaRPr lang="en-US" sz="1350" dirty="0"/>
          </a:p>
        </p:txBody>
      </p:sp>
      <p:sp>
        <p:nvSpPr>
          <p:cNvPr id="15" name="slide-55-text-13"/>
          <p:cNvSpPr/>
          <p:nvPr/>
        </p:nvSpPr>
        <p:spPr>
          <a:xfrm>
            <a:off x="6438900" y="311467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result = [...result].sort((a, b) =&gt; {</a:t>
            </a:r>
            <a:endParaRPr lang="en-US" sz="1575" dirty="0"/>
          </a:p>
        </p:txBody>
      </p:sp>
      <p:sp>
        <p:nvSpPr>
          <p:cNvPr id="16" name="slide-55-text-14"/>
          <p:cNvSpPr/>
          <p:nvPr/>
        </p:nvSpPr>
        <p:spPr>
          <a:xfrm>
            <a:off x="6438900" y="3374708"/>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(sortBy === </a:t>
            </a:r>
            <a:pPr algn="l" indent="0" marL="0">
              <a:lnSpc>
                <a:spcPts val="2048"/>
              </a:lnSpc>
              <a:buNone/>
            </a:pPr>
            <a:r>
              <a:rPr lang="en-US" sz="1575" dirty="0">
                <a:solidFill>
                  <a:srgbClr val="F4C780"/>
                </a:solidFill>
                <a:latin typeface="Consolas" pitchFamily="34" charset="0"/>
                <a:ea typeface="Consolas" pitchFamily="34" charset="-122"/>
                <a:cs typeface="Consolas" pitchFamily="34" charset="-120"/>
              </a:rPr>
              <a:t>'name'</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7" name="slide-55-text-15"/>
          <p:cNvSpPr/>
          <p:nvPr/>
        </p:nvSpPr>
        <p:spPr>
          <a:xfrm>
            <a:off x="6438900" y="3634740"/>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a.name.localeCompare(b.name);</a:t>
            </a:r>
            <a:endParaRPr lang="en-US" sz="1575" dirty="0"/>
          </a:p>
        </p:txBody>
      </p:sp>
      <p:sp>
        <p:nvSpPr>
          <p:cNvPr id="18" name="slide-55-text-16"/>
          <p:cNvSpPr/>
          <p:nvPr/>
        </p:nvSpPr>
        <p:spPr>
          <a:xfrm>
            <a:off x="6438900" y="3894772"/>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a.price - b.price;</a:t>
            </a:r>
            <a:endParaRPr lang="en-US" sz="1575" dirty="0"/>
          </a:p>
        </p:txBody>
      </p:sp>
      <p:sp>
        <p:nvSpPr>
          <p:cNvPr id="19" name="slide-55-text-17"/>
          <p:cNvSpPr/>
          <p:nvPr/>
        </p:nvSpPr>
        <p:spPr>
          <a:xfrm>
            <a:off x="6438900" y="4154805"/>
            <a:ext cx="49149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20" name="slide-55-text-18"/>
          <p:cNvSpPr/>
          <p:nvPr/>
        </p:nvSpPr>
        <p:spPr>
          <a:xfrm>
            <a:off x="6229350" y="4895850"/>
            <a:ext cx="5334000" cy="1104900"/>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Sorting changes the display copy,</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not the original SAMPLE_PRODUCTS.</a:t>
            </a:r>
            <a:endParaRPr lang="en-US" sz="1950" dirty="0"/>
          </a:p>
        </p:txBody>
      </p:sp>
      <p:sp>
        <p:nvSpPr>
          <p:cNvPr id="21" name="slide-55-text-19">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immutable sort | UseMemoDemo.tsx:74</a:t>
            </a:r>
            <a:endParaRPr lang="en-US" sz="1275" dirty="0"/>
          </a:p>
        </p:txBody>
      </p:sp>
      <p:sp>
        <p:nvSpPr>
          <p:cNvPr id="22" name="slide-55-text-20">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9. useMemo / Product filters</a:t>
            </a:r>
            <a:endParaRPr lang="en-US" sz="1275" dirty="0"/>
          </a:p>
        </p:txBody>
      </p:sp>
      <p:sp>
        <p:nvSpPr>
          <p:cNvPr id="23" name="slide-55-text-21"/>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55 / 65</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3EA"/>
        </a:solidFill>
      </p:bgPr>
    </p:bg>
    <p:spTree>
      <p:nvGrpSpPr>
        <p:cNvPr id="1" name=""/>
        <p:cNvGrpSpPr/>
        <p:nvPr/>
      </p:nvGrpSpPr>
      <p:grpSpPr>
        <a:xfrm>
          <a:off x="0" y="0"/>
          <a:ext cx="0" cy="0"/>
          <a:chOff x="0" y="0"/>
          <a:chExt cx="0" cy="0"/>
        </a:xfrm>
      </p:grpSpPr>
      <p:sp>
        <p:nvSpPr>
          <p:cNvPr id="2" name="slide-56-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6-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Statistics are derived from the visible rows</a:t>
            </a:r>
            <a:endParaRPr lang="en-US" sz="3600" dirty="0"/>
          </a:p>
        </p:txBody>
      </p:sp>
      <p:sp>
        <p:nvSpPr>
          <p:cNvPr id="4" name="slide-56-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The second memo depends on filteredProducts, not another copy of filter state.</a:t>
            </a:r>
            <a:endParaRPr lang="en-US" sz="1875" dirty="0"/>
          </a:p>
        </p:txBody>
      </p:sp>
      <p:sp>
        <p:nvSpPr>
          <p:cNvPr id="5" name="slide-56-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56-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USEMEMODEMO / CURRENT STATS, REFLOWED</a:t>
            </a:r>
            <a:endParaRPr lang="en-US" sz="1350" dirty="0"/>
          </a:p>
        </p:txBody>
      </p:sp>
      <p:sp>
        <p:nvSpPr>
          <p:cNvPr id="7" name="slide-56-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stats = useMemo(() =&gt; ({</a:t>
            </a:r>
            <a:endParaRPr lang="en-US" sz="1575" dirty="0"/>
          </a:p>
        </p:txBody>
      </p:sp>
      <p:sp>
        <p:nvSpPr>
          <p:cNvPr id="8" name="slide-56-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total: filteredProducts.length,</a:t>
            </a:r>
            <a:endParaRPr lang="en-US" sz="1575" dirty="0"/>
          </a:p>
        </p:txBody>
      </p:sp>
      <p:sp>
        <p:nvSpPr>
          <p:cNvPr id="9" name="slide-56-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avgPrice: filteredProducts.length &gt;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endParaRPr lang="en-US" sz="1575" dirty="0"/>
          </a:p>
        </p:txBody>
      </p:sp>
      <p:sp>
        <p:nvSpPr>
          <p:cNvPr id="10" name="slide-56-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filteredProducts.reduce(</a:t>
            </a:r>
            <a:endParaRPr lang="en-US" sz="1575" dirty="0"/>
          </a:p>
        </p:txBody>
      </p:sp>
      <p:sp>
        <p:nvSpPr>
          <p:cNvPr id="11" name="slide-56-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(sum, p) =&gt; sum + p.price,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endParaRPr lang="en-US" sz="1575" dirty="0"/>
          </a:p>
        </p:txBody>
      </p:sp>
      <p:sp>
        <p:nvSpPr>
          <p:cNvPr id="12" name="slide-56-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 filteredProducts.length</a:t>
            </a:r>
            <a:endParaRPr lang="en-US" sz="1575" dirty="0"/>
          </a:p>
        </p:txBody>
      </p:sp>
      <p:sp>
        <p:nvSpPr>
          <p:cNvPr id="13" name="slide-56-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56-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inStockCount:</a:t>
            </a:r>
            <a:endParaRPr lang="en-US" sz="1575" dirty="0"/>
          </a:p>
        </p:txBody>
      </p:sp>
      <p:sp>
        <p:nvSpPr>
          <p:cNvPr id="15" name="slide-56-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filteredProducts.filter(p =&gt; p.inStock).length,</a:t>
            </a:r>
            <a:endParaRPr lang="en-US" sz="1575" dirty="0"/>
          </a:p>
        </p:txBody>
      </p:sp>
      <p:sp>
        <p:nvSpPr>
          <p:cNvPr id="16" name="slide-56-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[filteredProducts]);</a:t>
            </a:r>
            <a:endParaRPr lang="en-US" sz="1575" dirty="0"/>
          </a:p>
        </p:txBody>
      </p:sp>
      <p:sp>
        <p:nvSpPr>
          <p:cNvPr id="17" name="slide-56-text-15"/>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COUNT</a:t>
            </a:r>
            <a:endParaRPr lang="en-US" sz="1350" dirty="0"/>
          </a:p>
        </p:txBody>
      </p:sp>
      <p:sp>
        <p:nvSpPr>
          <p:cNvPr id="18" name="slide-56-text-16"/>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Visible rows,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not catalog size.</a:t>
            </a:r>
            <a:endParaRPr lang="en-US" sz="1950" dirty="0"/>
          </a:p>
        </p:txBody>
      </p:sp>
      <p:sp>
        <p:nvSpPr>
          <p:cNvPr id="19" name="slide-56-text-17"/>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AVERAGE</a:t>
            </a:r>
            <a:endParaRPr lang="en-US" sz="1350" dirty="0"/>
          </a:p>
        </p:txBody>
      </p:sp>
      <p:sp>
        <p:nvSpPr>
          <p:cNvPr id="20" name="slide-56-text-18"/>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Guard division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when none match.</a:t>
            </a:r>
            <a:endParaRPr lang="en-US" sz="1950" dirty="0"/>
          </a:p>
        </p:txBody>
      </p:sp>
      <p:sp>
        <p:nvSpPr>
          <p:cNvPr id="21" name="slide-56-text-19"/>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DEPENDENCY</a:t>
            </a:r>
            <a:endParaRPr lang="en-US" sz="1350" dirty="0"/>
          </a:p>
        </p:txBody>
      </p:sp>
      <p:sp>
        <p:nvSpPr>
          <p:cNvPr id="22" name="slide-56-text-20"/>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Follow the same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filtered array.</a:t>
            </a:r>
            <a:endParaRPr lang="en-US" sz="1950" dirty="0"/>
          </a:p>
        </p:txBody>
      </p:sp>
      <p:sp>
        <p:nvSpPr>
          <p:cNvPr id="23" name="slide-56-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stats | UseMemoDemo.tsx:82</a:t>
            </a:r>
            <a:endParaRPr lang="en-US" sz="1275" dirty="0"/>
          </a:p>
        </p:txBody>
      </p:sp>
      <p:sp>
        <p:nvSpPr>
          <p:cNvPr id="24" name="slide-56-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9. useMemo / Product filters</a:t>
            </a:r>
            <a:endParaRPr lang="en-US" sz="1275" dirty="0"/>
          </a:p>
        </p:txBody>
      </p:sp>
      <p:sp>
        <p:nvSpPr>
          <p:cNvPr id="25" name="slide-56-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56 / 65</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3EA"/>
        </a:solidFill>
      </p:bgPr>
    </p:bg>
    <p:spTree>
      <p:nvGrpSpPr>
        <p:cNvPr id="1" name=""/>
        <p:cNvGrpSpPr/>
        <p:nvPr/>
      </p:nvGrpSpPr>
      <p:grpSpPr>
        <a:xfrm>
          <a:off x="0" y="0"/>
          <a:ext cx="0" cy="0"/>
          <a:chOff x="0" y="0"/>
          <a:chExt cx="0" cy="0"/>
        </a:xfrm>
      </p:grpSpPr>
      <p:sp>
        <p:nvSpPr>
          <p:cNvPr id="2" name="slide-57-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7-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Name transitions with reducer actions</a:t>
            </a:r>
            <a:endParaRPr lang="en-US" sz="3600" dirty="0"/>
          </a:p>
        </p:txBody>
      </p:sp>
      <p:sp>
        <p:nvSpPr>
          <p:cNvPr id="4" name="slide-57-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UseReducerDemo has one local cart and five explicit action shapes.</a:t>
            </a:r>
            <a:endParaRPr lang="en-US" sz="1875" dirty="0"/>
          </a:p>
        </p:txBody>
      </p:sp>
      <p:sp>
        <p:nvSpPr>
          <p:cNvPr id="5" name="slide-57-rect-3"/>
          <p:cNvSpPr/>
          <p:nvPr/>
        </p:nvSpPr>
        <p:spPr>
          <a:xfrm>
            <a:off x="609600" y="2209800"/>
            <a:ext cx="10972800" cy="514350"/>
          </a:xfrm>
          <a:prstGeom prst="roundRect">
            <a:avLst>
              <a:gd name="adj" fmla="val 7407"/>
            </a:avLst>
          </a:prstGeom>
          <a:solidFill>
            <a:srgbClr val="123B35"/>
          </a:solidFill>
          <a:ln w="12700">
            <a:solidFill>
              <a:srgbClr val="123B35">
                <a:alpha val="0"/>
              </a:srgbClr>
            </a:solidFill>
            <a:prstDash val="solid"/>
          </a:ln>
        </p:spPr>
      </p:sp>
      <p:sp>
        <p:nvSpPr>
          <p:cNvPr id="6" name="slide-57-text-4"/>
          <p:cNvSpPr/>
          <p:nvPr/>
        </p:nvSpPr>
        <p:spPr>
          <a:xfrm>
            <a:off x="781050" y="2333625"/>
            <a:ext cx="275272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Action</a:t>
            </a:r>
            <a:endParaRPr lang="en-US" sz="1800" dirty="0"/>
          </a:p>
        </p:txBody>
      </p:sp>
      <p:sp>
        <p:nvSpPr>
          <p:cNvPr id="7" name="slide-57-text-5"/>
          <p:cNvSpPr/>
          <p:nvPr/>
        </p:nvSpPr>
        <p:spPr>
          <a:xfrm>
            <a:off x="3876675" y="2333625"/>
            <a:ext cx="3086100"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Payload</a:t>
            </a:r>
            <a:endParaRPr lang="en-US" sz="1800" dirty="0"/>
          </a:p>
        </p:txBody>
      </p:sp>
      <p:sp>
        <p:nvSpPr>
          <p:cNvPr id="8" name="slide-57-text-6"/>
          <p:cNvSpPr/>
          <p:nvPr/>
        </p:nvSpPr>
        <p:spPr>
          <a:xfrm>
            <a:off x="7305675" y="2333625"/>
            <a:ext cx="4105275" cy="342900"/>
          </a:xfrm>
          <a:prstGeom prst="rect">
            <a:avLst/>
          </a:prstGeom>
          <a:noFill/>
          <a:ln/>
        </p:spPr>
        <p:txBody>
          <a:bodyPr wrap="square" lIns="0" tIns="0" rIns="0" bIns="0" rtlCol="0" anchor="t"/>
          <a:lstStyle/>
          <a:p>
            <a:pPr algn="l" indent="0" marL="0">
              <a:lnSpc>
                <a:spcPts val="2106"/>
              </a:lnSpc>
              <a:buNone/>
            </a:pPr>
            <a:r>
              <a:rPr lang="en-US" sz="1800" b="1" dirty="0">
                <a:solidFill>
                  <a:srgbClr val="F6F3EA"/>
                </a:solidFill>
                <a:latin typeface="Calibri" pitchFamily="34" charset="0"/>
                <a:ea typeface="Calibri" pitchFamily="34" charset="-122"/>
                <a:cs typeface="Calibri" pitchFamily="34" charset="-120"/>
              </a:rPr>
              <a:t>Visible transition</a:t>
            </a:r>
            <a:endParaRPr lang="en-US" sz="1800" dirty="0"/>
          </a:p>
        </p:txBody>
      </p:sp>
      <p:sp>
        <p:nvSpPr>
          <p:cNvPr id="9" name="slide-57-rect-7"/>
          <p:cNvSpPr/>
          <p:nvPr/>
        </p:nvSpPr>
        <p:spPr>
          <a:xfrm>
            <a:off x="609600" y="2724150"/>
            <a:ext cx="10972800" cy="647700"/>
          </a:xfrm>
          <a:prstGeom prst="rect">
            <a:avLst/>
          </a:prstGeom>
          <a:solidFill>
            <a:srgbClr val="FFFFFF"/>
          </a:solidFill>
          <a:ln w="12700">
            <a:solidFill>
              <a:srgbClr val="FFFFFF">
                <a:alpha val="0"/>
              </a:srgbClr>
            </a:solidFill>
            <a:prstDash val="solid"/>
          </a:ln>
        </p:spPr>
      </p:sp>
      <p:sp>
        <p:nvSpPr>
          <p:cNvPr id="10" name="slide-57-text-8"/>
          <p:cNvSpPr/>
          <p:nvPr/>
        </p:nvSpPr>
        <p:spPr>
          <a:xfrm>
            <a:off x="781050" y="2819400"/>
            <a:ext cx="2752725" cy="47625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onsolas" pitchFamily="34" charset="0"/>
                <a:ea typeface="Consolas" pitchFamily="34" charset="-122"/>
                <a:cs typeface="Consolas" pitchFamily="34" charset="-120"/>
              </a:rPr>
              <a:t>ADD_ITEM</a:t>
            </a:r>
            <a:endParaRPr lang="en-US" sz="1725" dirty="0"/>
          </a:p>
        </p:txBody>
      </p:sp>
      <p:sp>
        <p:nvSpPr>
          <p:cNvPr id="11" name="slide-57-text-9"/>
          <p:cNvSpPr/>
          <p:nvPr/>
        </p:nvSpPr>
        <p:spPr>
          <a:xfrm>
            <a:off x="3876675" y="2819400"/>
            <a:ext cx="3086100"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id, name, price</a:t>
            </a:r>
            <a:endParaRPr lang="en-US" sz="1725" dirty="0"/>
          </a:p>
        </p:txBody>
      </p:sp>
      <p:sp>
        <p:nvSpPr>
          <p:cNvPr id="12" name="slide-57-text-10"/>
          <p:cNvSpPr/>
          <p:nvPr/>
        </p:nvSpPr>
        <p:spPr>
          <a:xfrm>
            <a:off x="7305675" y="2819400"/>
            <a:ext cx="4105275"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Add a row or increase its quantity</a:t>
            </a:r>
            <a:endParaRPr lang="en-US" sz="1725" dirty="0"/>
          </a:p>
        </p:txBody>
      </p:sp>
      <p:sp>
        <p:nvSpPr>
          <p:cNvPr id="13" name="slide-57-rect-11"/>
          <p:cNvSpPr/>
          <p:nvPr/>
        </p:nvSpPr>
        <p:spPr>
          <a:xfrm>
            <a:off x="609600" y="3390900"/>
            <a:ext cx="10972800" cy="647700"/>
          </a:xfrm>
          <a:prstGeom prst="rect">
            <a:avLst/>
          </a:prstGeom>
          <a:solidFill>
            <a:srgbClr val="F6F3EA"/>
          </a:solidFill>
          <a:ln w="12700">
            <a:solidFill>
              <a:srgbClr val="F6F3EA">
                <a:alpha val="0"/>
              </a:srgbClr>
            </a:solidFill>
            <a:prstDash val="solid"/>
          </a:ln>
        </p:spPr>
      </p:sp>
      <p:sp>
        <p:nvSpPr>
          <p:cNvPr id="14" name="slide-57-text-12"/>
          <p:cNvSpPr/>
          <p:nvPr/>
        </p:nvSpPr>
        <p:spPr>
          <a:xfrm>
            <a:off x="781050" y="3486150"/>
            <a:ext cx="2752725" cy="47625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onsolas" pitchFamily="34" charset="0"/>
                <a:ea typeface="Consolas" pitchFamily="34" charset="-122"/>
                <a:cs typeface="Consolas" pitchFamily="34" charset="-120"/>
              </a:rPr>
              <a:t>REMOVE_ITEM</a:t>
            </a:r>
            <a:endParaRPr lang="en-US" sz="1725" dirty="0"/>
          </a:p>
        </p:txBody>
      </p:sp>
      <p:sp>
        <p:nvSpPr>
          <p:cNvPr id="15" name="slide-57-text-13"/>
          <p:cNvSpPr/>
          <p:nvPr/>
        </p:nvSpPr>
        <p:spPr>
          <a:xfrm>
            <a:off x="3876675" y="3486150"/>
            <a:ext cx="3086100"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id</a:t>
            </a:r>
            <a:endParaRPr lang="en-US" sz="1725" dirty="0"/>
          </a:p>
        </p:txBody>
      </p:sp>
      <p:sp>
        <p:nvSpPr>
          <p:cNvPr id="16" name="slide-57-text-14"/>
          <p:cNvSpPr/>
          <p:nvPr/>
        </p:nvSpPr>
        <p:spPr>
          <a:xfrm>
            <a:off x="7305675" y="3486150"/>
            <a:ext cx="4105275"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Remove that row</a:t>
            </a:r>
            <a:endParaRPr lang="en-US" sz="1725" dirty="0"/>
          </a:p>
        </p:txBody>
      </p:sp>
      <p:sp>
        <p:nvSpPr>
          <p:cNvPr id="17" name="slide-57-rect-15"/>
          <p:cNvSpPr/>
          <p:nvPr/>
        </p:nvSpPr>
        <p:spPr>
          <a:xfrm>
            <a:off x="609600" y="4057650"/>
            <a:ext cx="10972800" cy="647700"/>
          </a:xfrm>
          <a:prstGeom prst="rect">
            <a:avLst/>
          </a:prstGeom>
          <a:solidFill>
            <a:srgbClr val="FFFFFF"/>
          </a:solidFill>
          <a:ln w="12700">
            <a:solidFill>
              <a:srgbClr val="FFFFFF">
                <a:alpha val="0"/>
              </a:srgbClr>
            </a:solidFill>
            <a:prstDash val="solid"/>
          </a:ln>
        </p:spPr>
      </p:sp>
      <p:sp>
        <p:nvSpPr>
          <p:cNvPr id="18" name="slide-57-text-16"/>
          <p:cNvSpPr/>
          <p:nvPr/>
        </p:nvSpPr>
        <p:spPr>
          <a:xfrm>
            <a:off x="781050" y="4152900"/>
            <a:ext cx="2752725" cy="47625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onsolas" pitchFamily="34" charset="0"/>
                <a:ea typeface="Consolas" pitchFamily="34" charset="-122"/>
                <a:cs typeface="Consolas" pitchFamily="34" charset="-120"/>
              </a:rPr>
              <a:t>UPDATE_QUANTITY</a:t>
            </a:r>
            <a:endParaRPr lang="en-US" sz="1725" dirty="0"/>
          </a:p>
        </p:txBody>
      </p:sp>
      <p:sp>
        <p:nvSpPr>
          <p:cNvPr id="19" name="slide-57-text-17"/>
          <p:cNvSpPr/>
          <p:nvPr/>
        </p:nvSpPr>
        <p:spPr>
          <a:xfrm>
            <a:off x="3876675" y="4152900"/>
            <a:ext cx="3086100"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id, delta</a:t>
            </a:r>
            <a:endParaRPr lang="en-US" sz="1725" dirty="0"/>
          </a:p>
        </p:txBody>
      </p:sp>
      <p:sp>
        <p:nvSpPr>
          <p:cNvPr id="20" name="slide-57-text-18"/>
          <p:cNvSpPr/>
          <p:nvPr/>
        </p:nvSpPr>
        <p:spPr>
          <a:xfrm>
            <a:off x="7305675" y="4152900"/>
            <a:ext cx="4105275"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Adjust quantity; drop zero</a:t>
            </a:r>
            <a:endParaRPr lang="en-US" sz="1725" dirty="0"/>
          </a:p>
        </p:txBody>
      </p:sp>
      <p:sp>
        <p:nvSpPr>
          <p:cNvPr id="21" name="slide-57-rect-19"/>
          <p:cNvSpPr/>
          <p:nvPr/>
        </p:nvSpPr>
        <p:spPr>
          <a:xfrm>
            <a:off x="609600" y="4724400"/>
            <a:ext cx="10972800" cy="647700"/>
          </a:xfrm>
          <a:prstGeom prst="rect">
            <a:avLst/>
          </a:prstGeom>
          <a:solidFill>
            <a:srgbClr val="F6F3EA"/>
          </a:solidFill>
          <a:ln w="12700">
            <a:solidFill>
              <a:srgbClr val="F6F3EA">
                <a:alpha val="0"/>
              </a:srgbClr>
            </a:solidFill>
            <a:prstDash val="solid"/>
          </a:ln>
        </p:spPr>
      </p:sp>
      <p:sp>
        <p:nvSpPr>
          <p:cNvPr id="22" name="slide-57-text-20"/>
          <p:cNvSpPr/>
          <p:nvPr/>
        </p:nvSpPr>
        <p:spPr>
          <a:xfrm>
            <a:off x="781050" y="4819650"/>
            <a:ext cx="2752725" cy="47625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onsolas" pitchFamily="34" charset="0"/>
                <a:ea typeface="Consolas" pitchFamily="34" charset="-122"/>
                <a:cs typeface="Consolas" pitchFamily="34" charset="-120"/>
              </a:rPr>
              <a:t>CLEAR_CART</a:t>
            </a:r>
            <a:endParaRPr lang="en-US" sz="1725" dirty="0"/>
          </a:p>
        </p:txBody>
      </p:sp>
      <p:sp>
        <p:nvSpPr>
          <p:cNvPr id="23" name="slide-57-text-21"/>
          <p:cNvSpPr/>
          <p:nvPr/>
        </p:nvSpPr>
        <p:spPr>
          <a:xfrm>
            <a:off x="3876675" y="4819650"/>
            <a:ext cx="3086100"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None</a:t>
            </a:r>
            <a:endParaRPr lang="en-US" sz="1725" dirty="0"/>
          </a:p>
        </p:txBody>
      </p:sp>
      <p:sp>
        <p:nvSpPr>
          <p:cNvPr id="24" name="slide-57-text-22"/>
          <p:cNvSpPr/>
          <p:nvPr/>
        </p:nvSpPr>
        <p:spPr>
          <a:xfrm>
            <a:off x="7305675" y="4819650"/>
            <a:ext cx="4105275"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Remove all items</a:t>
            </a:r>
            <a:endParaRPr lang="en-US" sz="1725" dirty="0"/>
          </a:p>
        </p:txBody>
      </p:sp>
      <p:sp>
        <p:nvSpPr>
          <p:cNvPr id="25" name="slide-57-rect-23"/>
          <p:cNvSpPr/>
          <p:nvPr/>
        </p:nvSpPr>
        <p:spPr>
          <a:xfrm>
            <a:off x="609600" y="5391150"/>
            <a:ext cx="10972800" cy="647700"/>
          </a:xfrm>
          <a:prstGeom prst="rect">
            <a:avLst/>
          </a:prstGeom>
          <a:solidFill>
            <a:srgbClr val="FFFFFF"/>
          </a:solidFill>
          <a:ln w="12700">
            <a:solidFill>
              <a:srgbClr val="FFFFFF">
                <a:alpha val="0"/>
              </a:srgbClr>
            </a:solidFill>
            <a:prstDash val="solid"/>
          </a:ln>
        </p:spPr>
      </p:sp>
      <p:sp>
        <p:nvSpPr>
          <p:cNvPr id="26" name="slide-57-text-24"/>
          <p:cNvSpPr/>
          <p:nvPr/>
        </p:nvSpPr>
        <p:spPr>
          <a:xfrm>
            <a:off x="781050" y="5486400"/>
            <a:ext cx="2752725" cy="476250"/>
          </a:xfrm>
          <a:prstGeom prst="rect">
            <a:avLst/>
          </a:prstGeom>
          <a:noFill/>
          <a:ln/>
        </p:spPr>
        <p:txBody>
          <a:bodyPr wrap="square" lIns="0" tIns="0" rIns="0" bIns="0" rtlCol="0" anchor="ctr"/>
          <a:lstStyle/>
          <a:p>
            <a:pPr algn="l" indent="0" marL="0">
              <a:lnSpc>
                <a:spcPts val="2018"/>
              </a:lnSpc>
              <a:buNone/>
            </a:pPr>
            <a:r>
              <a:rPr lang="en-US" sz="1725" b="1" dirty="0">
                <a:solidFill>
                  <a:srgbClr val="183B34"/>
                </a:solidFill>
                <a:latin typeface="Consolas" pitchFamily="34" charset="0"/>
                <a:ea typeface="Consolas" pitchFamily="34" charset="-122"/>
                <a:cs typeface="Consolas" pitchFamily="34" charset="-120"/>
              </a:rPr>
              <a:t>TOGGLE_CART</a:t>
            </a:r>
            <a:endParaRPr lang="en-US" sz="1725" dirty="0"/>
          </a:p>
        </p:txBody>
      </p:sp>
      <p:sp>
        <p:nvSpPr>
          <p:cNvPr id="27" name="slide-57-text-25"/>
          <p:cNvSpPr/>
          <p:nvPr/>
        </p:nvSpPr>
        <p:spPr>
          <a:xfrm>
            <a:off x="3876675" y="5486400"/>
            <a:ext cx="3086100"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None</a:t>
            </a:r>
            <a:endParaRPr lang="en-US" sz="1725" dirty="0"/>
          </a:p>
        </p:txBody>
      </p:sp>
      <p:sp>
        <p:nvSpPr>
          <p:cNvPr id="28" name="slide-57-text-26"/>
          <p:cNvSpPr/>
          <p:nvPr/>
        </p:nvSpPr>
        <p:spPr>
          <a:xfrm>
            <a:off x="7305675" y="5486400"/>
            <a:ext cx="4105275" cy="476250"/>
          </a:xfrm>
          <a:prstGeom prst="rect">
            <a:avLst/>
          </a:prstGeom>
          <a:noFill/>
          <a:ln/>
        </p:spPr>
        <p:txBody>
          <a:bodyPr wrap="square" lIns="0" tIns="0" rIns="0" bIns="0" rtlCol="0" anchor="ctr"/>
          <a:lstStyle/>
          <a:p>
            <a:pPr algn="l" indent="0" marL="0">
              <a:lnSpc>
                <a:spcPts val="2018"/>
              </a:lnSpc>
              <a:buNone/>
            </a:pPr>
            <a:r>
              <a:rPr lang="en-US" sz="1725" dirty="0">
                <a:solidFill>
                  <a:srgbClr val="536B61"/>
                </a:solidFill>
                <a:latin typeface="Calibri" pitchFamily="34" charset="0"/>
                <a:ea typeface="Calibri" pitchFamily="34" charset="-122"/>
                <a:cs typeface="Calibri" pitchFamily="34" charset="-120"/>
              </a:rPr>
              <a:t>Hide or show cart contents</a:t>
            </a:r>
            <a:endParaRPr lang="en-US" sz="1725" dirty="0"/>
          </a:p>
        </p:txBody>
      </p:sp>
      <p:sp>
        <p:nvSpPr>
          <p:cNvPr id="29" name="slide-57-text-2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CartAction | UseReducerDemo.tsx:15</a:t>
            </a:r>
            <a:endParaRPr lang="en-US" sz="1275" dirty="0"/>
          </a:p>
        </p:txBody>
      </p:sp>
      <p:sp>
        <p:nvSpPr>
          <p:cNvPr id="30" name="slide-57-text-2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Reducer actions</a:t>
            </a:r>
            <a:endParaRPr lang="en-US" sz="1275" dirty="0"/>
          </a:p>
        </p:txBody>
      </p:sp>
      <p:sp>
        <p:nvSpPr>
          <p:cNvPr id="31" name="slide-57-text-2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57 / 65</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3EA"/>
        </a:solidFill>
      </p:bgPr>
    </p:bg>
    <p:spTree>
      <p:nvGrpSpPr>
        <p:cNvPr id="1" name=""/>
        <p:cNvGrpSpPr/>
        <p:nvPr/>
      </p:nvGrpSpPr>
      <p:grpSpPr>
        <a:xfrm>
          <a:off x="0" y="0"/>
          <a:ext cx="0" cy="0"/>
          <a:chOff x="0" y="0"/>
          <a:chExt cx="0" cy="0"/>
        </a:xfrm>
      </p:grpSpPr>
      <p:sp>
        <p:nvSpPr>
          <p:cNvPr id="2" name="slide-58-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8-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The reducer decides what adding means</a:t>
            </a:r>
            <a:endParaRPr lang="en-US" sz="3600" dirty="0"/>
          </a:p>
        </p:txBody>
      </p:sp>
      <p:sp>
        <p:nvSpPr>
          <p:cNvPr id="4" name="slide-58-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Adding the same catalog product twice increases quantity, not row count.</a:t>
            </a:r>
            <a:endParaRPr lang="en-US" sz="1875" dirty="0"/>
          </a:p>
        </p:txBody>
      </p:sp>
      <p:sp>
        <p:nvSpPr>
          <p:cNvPr id="5" name="slide-58-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58-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CARTREDUCER / CURRENT ADD_ITEM BRANCH, REFLOWED</a:t>
            </a:r>
            <a:endParaRPr lang="en-US" sz="1350" dirty="0"/>
          </a:p>
        </p:txBody>
      </p:sp>
      <p:sp>
        <p:nvSpPr>
          <p:cNvPr id="7" name="slide-58-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existing = state.items.find(</a:t>
            </a:r>
            <a:endParaRPr lang="en-US" sz="1575" dirty="0"/>
          </a:p>
        </p:txBody>
      </p:sp>
      <p:sp>
        <p:nvSpPr>
          <p:cNvPr id="8" name="slide-58-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 =&gt; i.id === action.payload.id</a:t>
            </a:r>
            <a:endParaRPr lang="en-US" sz="1575" dirty="0"/>
          </a:p>
        </p:txBody>
      </p:sp>
      <p:sp>
        <p:nvSpPr>
          <p:cNvPr id="9" name="slide-58-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0" name="slide-58-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if</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(existing) {</a:t>
            </a:r>
            <a:endParaRPr lang="en-US" sz="1575" dirty="0"/>
          </a:p>
        </p:txBody>
      </p:sp>
      <p:sp>
        <p:nvSpPr>
          <p:cNvPr id="11" name="slide-58-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...state, items: state.items.map(i =&gt;</a:t>
            </a:r>
            <a:endParaRPr lang="en-US" sz="1575" dirty="0"/>
          </a:p>
        </p:txBody>
      </p:sp>
      <p:sp>
        <p:nvSpPr>
          <p:cNvPr id="12" name="slide-58-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i.id === action.payload.id</a:t>
            </a:r>
            <a:endParaRPr lang="en-US" sz="1575" dirty="0"/>
          </a:p>
        </p:txBody>
      </p:sp>
      <p:sp>
        <p:nvSpPr>
          <p:cNvPr id="13" name="slide-58-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 ...i, quantity: i.quantity +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 i</a:t>
            </a:r>
            <a:endParaRPr lang="en-US" sz="1575" dirty="0"/>
          </a:p>
        </p:txBody>
      </p:sp>
      <p:sp>
        <p:nvSpPr>
          <p:cNvPr id="14" name="slide-58-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endParaRPr lang="en-US" sz="1575" dirty="0"/>
          </a:p>
        </p:txBody>
      </p:sp>
      <p:sp>
        <p:nvSpPr>
          <p:cNvPr id="15" name="slide-58-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6" name="slide-58-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return</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...state, items: [</a:t>
            </a:r>
            <a:endParaRPr lang="en-US" sz="1575" dirty="0"/>
          </a:p>
        </p:txBody>
      </p:sp>
      <p:sp>
        <p:nvSpPr>
          <p:cNvPr id="17" name="slide-58-text-15"/>
          <p:cNvSpPr/>
          <p:nvPr/>
        </p:nvSpPr>
        <p:spPr>
          <a:xfrm>
            <a:off x="838200" y="528637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...state.items, { ...action.payload, quantity: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1</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8" name="slide-58-text-16"/>
          <p:cNvSpPr/>
          <p:nvPr/>
        </p:nvSpPr>
        <p:spPr>
          <a:xfrm>
            <a:off x="838200" y="554640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9" name="slide-58-text-17"/>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FIND</a:t>
            </a:r>
            <a:endParaRPr lang="en-US" sz="1350" dirty="0"/>
          </a:p>
        </p:txBody>
      </p:sp>
      <p:sp>
        <p:nvSpPr>
          <p:cNvPr id="20" name="slide-58-text-18"/>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Match the stable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product ID.</a:t>
            </a:r>
            <a:endParaRPr lang="en-US" sz="1950" dirty="0"/>
          </a:p>
        </p:txBody>
      </p:sp>
      <p:sp>
        <p:nvSpPr>
          <p:cNvPr id="21" name="slide-58-text-19"/>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EXISTING</a:t>
            </a:r>
            <a:endParaRPr lang="en-US" sz="1350" dirty="0"/>
          </a:p>
        </p:txBody>
      </p:sp>
      <p:sp>
        <p:nvSpPr>
          <p:cNvPr id="22" name="slide-58-text-20"/>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Replace one item</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with quantity + 1.</a:t>
            </a:r>
            <a:endParaRPr lang="en-US" sz="1950" dirty="0"/>
          </a:p>
        </p:txBody>
      </p:sp>
      <p:sp>
        <p:nvSpPr>
          <p:cNvPr id="23" name="slide-58-text-21"/>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NEW</a:t>
            </a:r>
            <a:endParaRPr lang="en-US" sz="1350" dirty="0"/>
          </a:p>
        </p:txBody>
      </p:sp>
      <p:sp>
        <p:nvSpPr>
          <p:cNvPr id="24" name="slide-58-text-22"/>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Append a new item</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with quantity 1.</a:t>
            </a:r>
            <a:endParaRPr lang="en-US" sz="1950" dirty="0"/>
          </a:p>
        </p:txBody>
      </p:sp>
      <p:sp>
        <p:nvSpPr>
          <p:cNvPr id="25" name="slide-58-text-23">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cartReducer | UseReducerDemo.tsx:40</a:t>
            </a:r>
            <a:endParaRPr lang="en-US" sz="1275" dirty="0"/>
          </a:p>
        </p:txBody>
      </p:sp>
      <p:sp>
        <p:nvSpPr>
          <p:cNvPr id="26" name="slide-58-text-24">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Product catalog</a:t>
            </a:r>
            <a:endParaRPr lang="en-US" sz="1275" dirty="0"/>
          </a:p>
        </p:txBody>
      </p:sp>
      <p:sp>
        <p:nvSpPr>
          <p:cNvPr id="27" name="slide-58-text-25"/>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58 / 65</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3EA"/>
        </a:solidFill>
      </p:bgPr>
    </p:bg>
    <p:spTree>
      <p:nvGrpSpPr>
        <p:cNvPr id="1" name=""/>
        <p:cNvGrpSpPr/>
        <p:nvPr/>
      </p:nvGrpSpPr>
      <p:grpSpPr>
        <a:xfrm>
          <a:off x="0" y="0"/>
          <a:ext cx="0" cy="0"/>
          <a:chOff x="0" y="0"/>
          <a:chExt cx="0" cy="0"/>
        </a:xfrm>
      </p:grpSpPr>
      <p:sp>
        <p:nvSpPr>
          <p:cNvPr id="2" name="slide-59-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59-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One transition can update several facts</a:t>
            </a:r>
            <a:endParaRPr lang="en-US" sz="3600" dirty="0"/>
          </a:p>
        </p:txBody>
      </p:sp>
      <p:sp>
        <p:nvSpPr>
          <p:cNvPr id="4" name="slide-59-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UPDATE_QUANTITY adjusts a row and removes it when quantity reaches zero.</a:t>
            </a:r>
            <a:endParaRPr lang="en-US" sz="1875" dirty="0"/>
          </a:p>
        </p:txBody>
      </p:sp>
      <p:sp>
        <p:nvSpPr>
          <p:cNvPr id="5" name="slide-59-rect-3"/>
          <p:cNvSpPr/>
          <p:nvPr/>
        </p:nvSpPr>
        <p:spPr>
          <a:xfrm>
            <a:off x="609600" y="2114550"/>
            <a:ext cx="7620000" cy="4095750"/>
          </a:xfrm>
          <a:prstGeom prst="roundRect">
            <a:avLst>
              <a:gd name="adj" fmla="val 2326"/>
            </a:avLst>
          </a:prstGeom>
          <a:solidFill>
            <a:srgbClr val="152B2A"/>
          </a:solidFill>
          <a:ln w="12700">
            <a:solidFill>
              <a:srgbClr val="152B2A">
                <a:alpha val="0"/>
              </a:srgbClr>
            </a:solidFill>
            <a:prstDash val="solid"/>
          </a:ln>
        </p:spPr>
      </p:sp>
      <p:sp>
        <p:nvSpPr>
          <p:cNvPr id="6" name="slide-59-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CARTREDUCER / CURRENT ITEMS EXPRESSION</a:t>
            </a:r>
            <a:endParaRPr lang="en-US" sz="1350" dirty="0"/>
          </a:p>
        </p:txBody>
      </p:sp>
      <p:sp>
        <p:nvSpPr>
          <p:cNvPr id="7" name="slide-59-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items: state.items</a:t>
            </a:r>
            <a:endParaRPr lang="en-US" sz="1575" dirty="0"/>
          </a:p>
        </p:txBody>
      </p:sp>
      <p:sp>
        <p:nvSpPr>
          <p:cNvPr id="8" name="slide-59-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.map(i =&gt;</a:t>
            </a:r>
            <a:endParaRPr lang="en-US" sz="1575" dirty="0"/>
          </a:p>
        </p:txBody>
      </p:sp>
      <p:sp>
        <p:nvSpPr>
          <p:cNvPr id="9" name="slide-59-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i.id === action.payload.id</a:t>
            </a:r>
            <a:endParaRPr lang="en-US" sz="1575" dirty="0"/>
          </a:p>
        </p:txBody>
      </p:sp>
      <p:sp>
        <p:nvSpPr>
          <p:cNvPr id="10" name="slide-59-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a:t>
            </a:r>
            <a:endParaRPr lang="en-US" sz="1575" dirty="0"/>
          </a:p>
        </p:txBody>
      </p:sp>
      <p:sp>
        <p:nvSpPr>
          <p:cNvPr id="11" name="slide-59-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...i,</a:t>
            </a:r>
            <a:endParaRPr lang="en-US" sz="1575" dirty="0"/>
          </a:p>
        </p:txBody>
      </p:sp>
      <p:sp>
        <p:nvSpPr>
          <p:cNvPr id="12" name="slide-59-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quantity: i.quantity + action.payload.delta</a:t>
            </a:r>
            <a:endParaRPr lang="en-US" sz="1575" dirty="0"/>
          </a:p>
        </p:txBody>
      </p:sp>
      <p:sp>
        <p:nvSpPr>
          <p:cNvPr id="13" name="slide-59-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4" name="slide-59-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 i</a:t>
            </a:r>
            <a:endParaRPr lang="en-US" sz="1575" dirty="0"/>
          </a:p>
        </p:txBody>
      </p:sp>
      <p:sp>
        <p:nvSpPr>
          <p:cNvPr id="15" name="slide-59-text-13"/>
          <p:cNvSpPr/>
          <p:nvPr/>
        </p:nvSpPr>
        <p:spPr>
          <a:xfrm>
            <a:off x="838200" y="476631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a:t>
            </a:r>
            <a:endParaRPr lang="en-US" sz="1575" dirty="0"/>
          </a:p>
        </p:txBody>
      </p:sp>
      <p:sp>
        <p:nvSpPr>
          <p:cNvPr id="16" name="slide-59-text-14"/>
          <p:cNvSpPr/>
          <p:nvPr/>
        </p:nvSpPr>
        <p:spPr>
          <a:xfrm>
            <a:off x="838200" y="502634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.filter(i =&gt; i.quantity &gt;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7" name="slide-59-text-15"/>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MAP</a:t>
            </a:r>
            <a:endParaRPr lang="en-US" sz="1350" dirty="0"/>
          </a:p>
        </p:txBody>
      </p:sp>
      <p:sp>
        <p:nvSpPr>
          <p:cNvPr id="18" name="slide-59-text-16"/>
          <p:cNvSpPr/>
          <p:nvPr/>
        </p:nvSpPr>
        <p:spPr>
          <a:xfrm>
            <a:off x="8534400" y="25336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Change only the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matching item.</a:t>
            </a:r>
            <a:endParaRPr lang="en-US" sz="1950" dirty="0"/>
          </a:p>
        </p:txBody>
      </p:sp>
      <p:sp>
        <p:nvSpPr>
          <p:cNvPr id="19" name="slide-59-text-17"/>
          <p:cNvSpPr/>
          <p:nvPr/>
        </p:nvSpPr>
        <p:spPr>
          <a:xfrm>
            <a:off x="8534400" y="35560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FILTER</a:t>
            </a:r>
            <a:endParaRPr lang="en-US" sz="1350" dirty="0"/>
          </a:p>
        </p:txBody>
      </p:sp>
      <p:sp>
        <p:nvSpPr>
          <p:cNvPr id="20" name="slide-59-text-18"/>
          <p:cNvSpPr/>
          <p:nvPr/>
        </p:nvSpPr>
        <p:spPr>
          <a:xfrm>
            <a:off x="8534400" y="389890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Remove quantities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at or below zero.</a:t>
            </a:r>
            <a:endParaRPr lang="en-US" sz="1950" dirty="0"/>
          </a:p>
        </p:txBody>
      </p:sp>
      <p:sp>
        <p:nvSpPr>
          <p:cNvPr id="21" name="slide-59-text-19"/>
          <p:cNvSpPr/>
          <p:nvPr/>
        </p:nvSpPr>
        <p:spPr>
          <a:xfrm>
            <a:off x="8534400" y="4921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PRESERVE</a:t>
            </a:r>
            <a:endParaRPr lang="en-US" sz="1350" dirty="0"/>
          </a:p>
        </p:txBody>
      </p:sp>
      <p:sp>
        <p:nvSpPr>
          <p:cNvPr id="22" name="slide-59-text-20"/>
          <p:cNvSpPr/>
          <p:nvPr/>
        </p:nvSpPr>
        <p:spPr>
          <a:xfrm>
            <a:off x="8534400" y="5264150"/>
            <a:ext cx="3048000" cy="9747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Other items keep</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their values.</a:t>
            </a:r>
            <a:endParaRPr lang="en-US" sz="1950" dirty="0"/>
          </a:p>
        </p:txBody>
      </p:sp>
      <p:sp>
        <p:nvSpPr>
          <p:cNvPr id="23" name="slide-59-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UPDATE_QUANTITY | UseReducerDemo.tsx:59</a:t>
            </a:r>
            <a:endParaRPr lang="en-US" sz="1275" dirty="0"/>
          </a:p>
        </p:txBody>
      </p:sp>
      <p:sp>
        <p:nvSpPr>
          <p:cNvPr id="24" name="slide-59-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Shopping cart</a:t>
            </a:r>
            <a:endParaRPr lang="en-US" sz="1275" dirty="0"/>
          </a:p>
        </p:txBody>
      </p:sp>
      <p:sp>
        <p:nvSpPr>
          <p:cNvPr id="25" name="slide-59-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59 / 65</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3EA"/>
        </a:solidFill>
      </p:bgPr>
    </p:bg>
    <p:spTree>
      <p:nvGrpSpPr>
        <p:cNvPr id="1" name=""/>
        <p:cNvGrpSpPr/>
        <p:nvPr/>
      </p:nvGrpSpPr>
      <p:grpSpPr>
        <a:xfrm>
          <a:off x="0" y="0"/>
          <a:ext cx="0" cy="0"/>
          <a:chOff x="0" y="0"/>
          <a:chExt cx="0" cy="0"/>
        </a:xfrm>
      </p:grpSpPr>
      <p:sp>
        <p:nvSpPr>
          <p:cNvPr id="2" name="slide-60-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60-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Cart totals are calculations, not more state</a:t>
            </a:r>
            <a:endParaRPr lang="en-US" sz="3600" dirty="0"/>
          </a:p>
        </p:txBody>
      </p:sp>
      <p:sp>
        <p:nvSpPr>
          <p:cNvPr id="4" name="slide-60-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useReducer owns the facts; useMemo derives the summary.</a:t>
            </a:r>
            <a:endParaRPr lang="en-US" sz="1875" dirty="0"/>
          </a:p>
        </p:txBody>
      </p:sp>
      <p:sp>
        <p:nvSpPr>
          <p:cNvPr id="5" name="slide-60-rect-3"/>
          <p:cNvSpPr/>
          <p:nvPr/>
        </p:nvSpPr>
        <p:spPr>
          <a:xfrm>
            <a:off x="609600" y="2114550"/>
            <a:ext cx="7620000" cy="3143250"/>
          </a:xfrm>
          <a:prstGeom prst="roundRect">
            <a:avLst>
              <a:gd name="adj" fmla="val 3030"/>
            </a:avLst>
          </a:prstGeom>
          <a:solidFill>
            <a:srgbClr val="152B2A"/>
          </a:solidFill>
          <a:ln w="12700">
            <a:solidFill>
              <a:srgbClr val="152B2A">
                <a:alpha val="0"/>
              </a:srgbClr>
            </a:solidFill>
            <a:prstDash val="solid"/>
          </a:ln>
        </p:spPr>
      </p:sp>
      <p:sp>
        <p:nvSpPr>
          <p:cNvPr id="6" name="slide-60-text-4"/>
          <p:cNvSpPr/>
          <p:nvPr/>
        </p:nvSpPr>
        <p:spPr>
          <a:xfrm>
            <a:off x="838200" y="2305050"/>
            <a:ext cx="716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USEREDUCERDEMO / CURRENT HOOKS, REFLOWED</a:t>
            </a:r>
            <a:endParaRPr lang="en-US" sz="1350" dirty="0"/>
          </a:p>
        </p:txBody>
      </p:sp>
      <p:sp>
        <p:nvSpPr>
          <p:cNvPr id="7" name="slide-60-text-5"/>
          <p:cNvSpPr/>
          <p:nvPr/>
        </p:nvSpPr>
        <p:spPr>
          <a:xfrm>
            <a:off x="838200" y="268605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[cart, dispatch] =</a:t>
            </a:r>
            <a:endParaRPr lang="en-US" sz="1575" dirty="0"/>
          </a:p>
        </p:txBody>
      </p:sp>
      <p:sp>
        <p:nvSpPr>
          <p:cNvPr id="8" name="slide-60-text-6"/>
          <p:cNvSpPr/>
          <p:nvPr/>
        </p:nvSpPr>
        <p:spPr>
          <a:xfrm>
            <a:off x="838200" y="294608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useReducer(cartReducer, initialState);</a:t>
            </a:r>
            <a:endParaRPr lang="en-US" sz="1575" dirty="0"/>
          </a:p>
        </p:txBody>
      </p:sp>
      <p:sp>
        <p:nvSpPr>
          <p:cNvPr id="9" name="slide-60-text-7"/>
          <p:cNvSpPr/>
          <p:nvPr/>
        </p:nvSpPr>
        <p:spPr>
          <a:xfrm>
            <a:off x="838200" y="320611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CABAF3"/>
                </a:solidFill>
                <a:latin typeface="Consolas" pitchFamily="34" charset="0"/>
                <a:ea typeface="Consolas" pitchFamily="34" charset="-122"/>
                <a:cs typeface="Consolas" pitchFamily="34" charset="-120"/>
              </a:rPr>
              <a:t>const</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summary = useMemo(() =&gt; ({</a:t>
            </a:r>
            <a:endParaRPr lang="en-US" sz="1575" dirty="0"/>
          </a:p>
        </p:txBody>
      </p:sp>
      <p:sp>
        <p:nvSpPr>
          <p:cNvPr id="10" name="slide-60-text-8"/>
          <p:cNvSpPr/>
          <p:nvPr/>
        </p:nvSpPr>
        <p:spPr>
          <a:xfrm>
            <a:off x="838200" y="346614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totalItems: cart.items.reduce(</a:t>
            </a:r>
            <a:endParaRPr lang="en-US" sz="1575" dirty="0"/>
          </a:p>
        </p:txBody>
      </p:sp>
      <p:sp>
        <p:nvSpPr>
          <p:cNvPr id="11" name="slide-60-text-9"/>
          <p:cNvSpPr/>
          <p:nvPr/>
        </p:nvSpPr>
        <p:spPr>
          <a:xfrm>
            <a:off x="838200" y="3726180"/>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(sum, i) =&gt; sum + i.quantity,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2" name="slide-60-text-10"/>
          <p:cNvSpPr/>
          <p:nvPr/>
        </p:nvSpPr>
        <p:spPr>
          <a:xfrm>
            <a:off x="838200" y="3986213"/>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totalPrice: cart.items.reduce(</a:t>
            </a:r>
            <a:endParaRPr lang="en-US" sz="1575" dirty="0"/>
          </a:p>
        </p:txBody>
      </p:sp>
      <p:sp>
        <p:nvSpPr>
          <p:cNvPr id="13" name="slide-60-text-11"/>
          <p:cNvSpPr/>
          <p:nvPr/>
        </p:nvSpPr>
        <p:spPr>
          <a:xfrm>
            <a:off x="838200" y="4246245"/>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(sum, i) =&gt; sum + i.price * i.quantity, </a:t>
            </a:r>
            <a:pPr algn="l" indent="0" marL="0">
              <a:lnSpc>
                <a:spcPts val="2048"/>
              </a:lnSpc>
              <a:buNone/>
            </a:pPr>
            <a:r>
              <a:rPr lang="en-US" sz="1575" dirty="0">
                <a:solidFill>
                  <a:srgbClr val="BCE8D2"/>
                </a:solidFill>
                <a:latin typeface="Consolas" pitchFamily="34" charset="0"/>
                <a:ea typeface="Consolas" pitchFamily="34" charset="-122"/>
                <a:cs typeface="Consolas" pitchFamily="34" charset="-120"/>
              </a:rPr>
              <a:t>0</a:t>
            </a:r>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a:t>
            </a:r>
            <a:endParaRPr lang="en-US" sz="1575" dirty="0"/>
          </a:p>
        </p:txBody>
      </p:sp>
      <p:sp>
        <p:nvSpPr>
          <p:cNvPr id="14" name="slide-60-text-12"/>
          <p:cNvSpPr/>
          <p:nvPr/>
        </p:nvSpPr>
        <p:spPr>
          <a:xfrm>
            <a:off x="838200" y="4506278"/>
            <a:ext cx="7162800" cy="279083"/>
          </a:xfrm>
          <a:prstGeom prst="rect">
            <a:avLst/>
          </a:prstGeom>
          <a:noFill/>
          <a:ln/>
        </p:spPr>
        <p:txBody>
          <a:bodyPr wrap="none" lIns="0" tIns="0" rIns="0" bIns="0" rtlCol="0" anchor="t"/>
          <a:lstStyle/>
          <a:p>
            <a:pPr algn="l" indent="0" marL="0">
              <a:lnSpc>
                <a:spcPts val="2048"/>
              </a:lnSpc>
              <a:buNone/>
            </a:pPr>
            <a:r>
              <a:rPr lang="en-US" sz="1575" dirty="0">
                <a:solidFill>
                  <a:srgbClr val="F2F6EE"/>
                </a:solidFill>
                <a:latin typeface="Consolas" pitchFamily="34" charset="0"/>
                <a:ea typeface="Consolas" pitchFamily="34" charset="-122"/>
                <a:cs typeface="Consolas" pitchFamily="34" charset="-120"/>
              </a:rPr>
              <a:t>}), [cart.items]);</a:t>
            </a:r>
            <a:endParaRPr lang="en-US" sz="1575" dirty="0"/>
          </a:p>
        </p:txBody>
      </p:sp>
      <p:sp>
        <p:nvSpPr>
          <p:cNvPr id="15" name="slide-60-text-13"/>
          <p:cNvSpPr/>
          <p:nvPr/>
        </p:nvSpPr>
        <p:spPr>
          <a:xfrm>
            <a:off x="8534400" y="21907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FACTS</a:t>
            </a:r>
            <a:endParaRPr lang="en-US" sz="1350" dirty="0"/>
          </a:p>
        </p:txBody>
      </p:sp>
      <p:sp>
        <p:nvSpPr>
          <p:cNvPr id="16" name="slide-60-text-14"/>
          <p:cNvSpPr/>
          <p:nvPr/>
        </p:nvSpPr>
        <p:spPr>
          <a:xfrm>
            <a:off x="8534400" y="25336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items and isOpen</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live in cart state.</a:t>
            </a:r>
            <a:endParaRPr lang="en-US" sz="1950" dirty="0"/>
          </a:p>
        </p:txBody>
      </p:sp>
      <p:sp>
        <p:nvSpPr>
          <p:cNvPr id="17" name="slide-60-text-15"/>
          <p:cNvSpPr/>
          <p:nvPr/>
        </p:nvSpPr>
        <p:spPr>
          <a:xfrm>
            <a:off x="8534400" y="323850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SUMMARY</a:t>
            </a:r>
            <a:endParaRPr lang="en-US" sz="1350" dirty="0"/>
          </a:p>
        </p:txBody>
      </p:sp>
      <p:sp>
        <p:nvSpPr>
          <p:cNvPr id="18" name="slide-60-text-16"/>
          <p:cNvSpPr/>
          <p:nvPr/>
        </p:nvSpPr>
        <p:spPr>
          <a:xfrm>
            <a:off x="8534400" y="358140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Quantities and</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prices determine it.</a:t>
            </a:r>
            <a:endParaRPr lang="en-US" sz="1950" dirty="0"/>
          </a:p>
        </p:txBody>
      </p:sp>
      <p:sp>
        <p:nvSpPr>
          <p:cNvPr id="19" name="slide-60-text-17"/>
          <p:cNvSpPr/>
          <p:nvPr/>
        </p:nvSpPr>
        <p:spPr>
          <a:xfrm>
            <a:off x="8534400" y="4286250"/>
            <a:ext cx="30480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TOGGLE</a:t>
            </a:r>
            <a:endParaRPr lang="en-US" sz="1350" dirty="0"/>
          </a:p>
        </p:txBody>
      </p:sp>
      <p:sp>
        <p:nvSpPr>
          <p:cNvPr id="20" name="slide-60-text-18"/>
          <p:cNvSpPr/>
          <p:nvPr/>
        </p:nvSpPr>
        <p:spPr>
          <a:xfrm>
            <a:off x="8534400" y="4629150"/>
            <a:ext cx="3048000" cy="65722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Hiding the cart</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does not clear items.</a:t>
            </a:r>
            <a:endParaRPr lang="en-US" sz="1950" dirty="0"/>
          </a:p>
        </p:txBody>
      </p:sp>
      <p:sp>
        <p:nvSpPr>
          <p:cNvPr id="21" name="slide-60-rect-1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22" name="slide-60-text-2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totalItems counts units, not distinct rows. One source of truth keeps the numbers consistent.</a:t>
            </a:r>
            <a:endParaRPr lang="en-US" sz="1875" dirty="0"/>
          </a:p>
        </p:txBody>
      </p:sp>
      <p:sp>
        <p:nvSpPr>
          <p:cNvPr id="23" name="slide-60-text-2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summary | UseReducerDemo.tsx:93</a:t>
            </a:r>
            <a:endParaRPr lang="en-US" sz="1275" dirty="0"/>
          </a:p>
        </p:txBody>
      </p:sp>
      <p:sp>
        <p:nvSpPr>
          <p:cNvPr id="24" name="slide-60-text-2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Shopping cart</a:t>
            </a:r>
            <a:endParaRPr lang="en-US" sz="1275" dirty="0"/>
          </a:p>
        </p:txBody>
      </p:sp>
      <p:sp>
        <p:nvSpPr>
          <p:cNvPr id="25" name="slide-60-text-2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60 / 65</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3EA"/>
        </a:solidFill>
      </p:bgPr>
    </p:bg>
    <p:spTree>
      <p:nvGrpSpPr>
        <p:cNvPr id="1" name=""/>
        <p:cNvGrpSpPr/>
        <p:nvPr/>
      </p:nvGrpSpPr>
      <p:grpSpPr>
        <a:xfrm>
          <a:off x="0" y="0"/>
          <a:ext cx="0" cy="0"/>
          <a:chOff x="0" y="0"/>
          <a:chExt cx="0" cy="0"/>
        </a:xfrm>
      </p:grpSpPr>
      <p:sp>
        <p:nvSpPr>
          <p:cNvPr id="2" name="slide-61-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61-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State lifetime follows the component tree</a:t>
            </a:r>
            <a:endParaRPr lang="en-US" sz="3600" dirty="0"/>
          </a:p>
        </p:txBody>
      </p:sp>
      <p:sp>
        <p:nvSpPr>
          <p:cNvPr id="4" name="slide-61-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Providers remain mounted; changing tabs replaces the active demo component.</a:t>
            </a:r>
            <a:endParaRPr lang="en-US" sz="1875" dirty="0"/>
          </a:p>
        </p:txBody>
      </p:sp>
      <p:sp>
        <p:nvSpPr>
          <p:cNvPr id="5" name="slide-61-rect-3"/>
          <p:cNvSpPr/>
          <p:nvPr/>
        </p:nvSpPr>
        <p:spPr>
          <a:xfrm>
            <a:off x="609600" y="2152650"/>
            <a:ext cx="10972800" cy="4000500"/>
          </a:xfrm>
          <a:prstGeom prst="roundRect">
            <a:avLst>
              <a:gd name="adj" fmla="val 2381"/>
            </a:avLst>
          </a:prstGeom>
          <a:solidFill>
            <a:srgbClr val="FFFFFF"/>
          </a:solidFill>
          <a:ln w="9525">
            <a:solidFill>
              <a:srgbClr val="B34F25"/>
            </a:solidFill>
            <a:prstDash val="solid"/>
          </a:ln>
        </p:spPr>
      </p:sp>
      <p:sp>
        <p:nvSpPr>
          <p:cNvPr id="6" name="slide-61-text-4"/>
          <p:cNvSpPr/>
          <p:nvPr/>
        </p:nvSpPr>
        <p:spPr>
          <a:xfrm>
            <a:off x="800100" y="2266950"/>
            <a:ext cx="10553700" cy="323850"/>
          </a:xfrm>
          <a:prstGeom prst="rect">
            <a:avLst/>
          </a:prstGeom>
          <a:noFill/>
          <a:ln/>
        </p:spPr>
        <p:txBody>
          <a:bodyPr wrap="square" lIns="0" tIns="0" rIns="0" bIns="0" rtlCol="0" anchor="t"/>
          <a:lstStyle/>
          <a:p>
            <a:pPr algn="l" indent="0" marL="0">
              <a:lnSpc>
                <a:spcPts val="2106"/>
              </a:lnSpc>
              <a:buNone/>
            </a:pPr>
            <a:r>
              <a:rPr lang="en-US" sz="1800" b="1" dirty="0">
                <a:solidFill>
                  <a:srgbClr val="183B34"/>
                </a:solidFill>
                <a:latin typeface="Trebuchet MS" pitchFamily="34" charset="0"/>
                <a:ea typeface="Trebuchet MS" pitchFamily="34" charset="-122"/>
                <a:cs typeface="Trebuchet MS" pitchFamily="34" charset="-120"/>
              </a:rPr>
              <a:t>ThemeProvider</a:t>
            </a:r>
            <a:endParaRPr lang="en-US" sz="1800" dirty="0"/>
          </a:p>
        </p:txBody>
      </p:sp>
      <p:sp>
        <p:nvSpPr>
          <p:cNvPr id="7" name="slide-61-rect-5"/>
          <p:cNvSpPr/>
          <p:nvPr/>
        </p:nvSpPr>
        <p:spPr>
          <a:xfrm>
            <a:off x="819150" y="2647950"/>
            <a:ext cx="10553700" cy="3286125"/>
          </a:xfrm>
          <a:prstGeom prst="roundRect">
            <a:avLst>
              <a:gd name="adj" fmla="val 2319"/>
            </a:avLst>
          </a:prstGeom>
          <a:solidFill>
            <a:srgbClr val="E5EDE2"/>
          </a:solidFill>
          <a:ln w="12700">
            <a:solidFill>
              <a:srgbClr val="E5EDE2">
                <a:alpha val="0"/>
              </a:srgbClr>
            </a:solidFill>
            <a:prstDash val="solid"/>
          </a:ln>
        </p:spPr>
      </p:sp>
      <p:sp>
        <p:nvSpPr>
          <p:cNvPr id="8" name="slide-61-text-6"/>
          <p:cNvSpPr/>
          <p:nvPr/>
        </p:nvSpPr>
        <p:spPr>
          <a:xfrm>
            <a:off x="1028700" y="2771775"/>
            <a:ext cx="10134600" cy="342900"/>
          </a:xfrm>
          <a:prstGeom prst="rect">
            <a:avLst/>
          </a:prstGeom>
          <a:noFill/>
          <a:ln/>
        </p:spPr>
        <p:txBody>
          <a:bodyPr wrap="square" lIns="0" tIns="0" rIns="0" bIns="0" rtlCol="0" anchor="t"/>
          <a:lstStyle/>
          <a:p>
            <a:pPr algn="l" indent="0" marL="0">
              <a:lnSpc>
                <a:spcPts val="2194"/>
              </a:lnSpc>
              <a:buNone/>
            </a:pPr>
            <a:r>
              <a:rPr lang="en-US" sz="1875" b="1" dirty="0">
                <a:solidFill>
                  <a:srgbClr val="183B34"/>
                </a:solidFill>
                <a:latin typeface="Trebuchet MS" pitchFamily="34" charset="0"/>
                <a:ea typeface="Trebuchet MS" pitchFamily="34" charset="-122"/>
                <a:cs typeface="Trebuchet MS" pitchFamily="34" charset="-120"/>
              </a:rPr>
              <a:t>AuthProvider</a:t>
            </a:r>
            <a:endParaRPr lang="en-US" sz="1875" dirty="0"/>
          </a:p>
        </p:txBody>
      </p:sp>
      <p:sp>
        <p:nvSpPr>
          <p:cNvPr id="9" name="slide-61-rect-7"/>
          <p:cNvSpPr/>
          <p:nvPr/>
        </p:nvSpPr>
        <p:spPr>
          <a:xfrm>
            <a:off x="1028700" y="3209925"/>
            <a:ext cx="10134600" cy="2505075"/>
          </a:xfrm>
          <a:prstGeom prst="roundRect">
            <a:avLst>
              <a:gd name="adj" fmla="val 3042"/>
            </a:avLst>
          </a:prstGeom>
          <a:solidFill>
            <a:srgbClr val="FFFFFF"/>
          </a:solidFill>
          <a:ln w="9525">
            <a:solidFill>
              <a:srgbClr val="D4DBD0"/>
            </a:solidFill>
            <a:prstDash val="solid"/>
          </a:ln>
        </p:spPr>
      </p:sp>
      <p:sp>
        <p:nvSpPr>
          <p:cNvPr id="10" name="slide-61-text-8"/>
          <p:cNvSpPr/>
          <p:nvPr/>
        </p:nvSpPr>
        <p:spPr>
          <a:xfrm>
            <a:off x="1219200" y="3343275"/>
            <a:ext cx="9696450" cy="371475"/>
          </a:xfrm>
          <a:prstGeom prst="rect">
            <a:avLst/>
          </a:prstGeom>
          <a:noFill/>
          <a:ln/>
        </p:spPr>
        <p:txBody>
          <a:bodyPr wrap="square" lIns="0" tIns="0" rIns="0" bIns="0" rtlCol="0" anchor="t"/>
          <a:lstStyle/>
          <a:p>
            <a:pPr algn="l" indent="0" marL="0">
              <a:lnSpc>
                <a:spcPts val="2282"/>
              </a:lnSpc>
              <a:buNone/>
            </a:pPr>
            <a:r>
              <a:rPr lang="en-US" sz="1950" b="1" dirty="0">
                <a:solidFill>
                  <a:srgbClr val="183B34"/>
                </a:solidFill>
                <a:latin typeface="Trebuchet MS" pitchFamily="34" charset="0"/>
                <a:ea typeface="Trebuchet MS" pitchFamily="34" charset="-122"/>
                <a:cs typeface="Trebuchet MS" pitchFamily="34" charset="-120"/>
              </a:rPr>
              <a:t>NotificationProvider</a:t>
            </a:r>
            <a:endParaRPr lang="en-US" sz="1950" dirty="0"/>
          </a:p>
        </p:txBody>
      </p:sp>
      <p:sp>
        <p:nvSpPr>
          <p:cNvPr id="11" name="slide-61-rect-9"/>
          <p:cNvSpPr/>
          <p:nvPr/>
        </p:nvSpPr>
        <p:spPr>
          <a:xfrm>
            <a:off x="1257300" y="3810000"/>
            <a:ext cx="9677400" cy="1685925"/>
          </a:xfrm>
          <a:prstGeom prst="roundRect">
            <a:avLst>
              <a:gd name="adj" fmla="val 3390"/>
            </a:avLst>
          </a:prstGeom>
          <a:solidFill>
            <a:srgbClr val="F6F3EA"/>
          </a:solidFill>
          <a:ln w="9525">
            <a:solidFill>
              <a:srgbClr val="D4DBD0"/>
            </a:solidFill>
            <a:prstDash val="solid"/>
          </a:ln>
        </p:spPr>
      </p:sp>
      <p:sp>
        <p:nvSpPr>
          <p:cNvPr id="12" name="slide-61-text-10"/>
          <p:cNvSpPr/>
          <p:nvPr/>
        </p:nvSpPr>
        <p:spPr>
          <a:xfrm>
            <a:off x="1447800" y="3933825"/>
            <a:ext cx="9201150" cy="361950"/>
          </a:xfrm>
          <a:prstGeom prst="rect">
            <a:avLst/>
          </a:prstGeom>
          <a:noFill/>
          <a:ln/>
        </p:spPr>
        <p:txBody>
          <a:bodyPr wrap="square" lIns="0" tIns="0" rIns="0" bIns="0" rtlCol="0" anchor="t"/>
          <a:lstStyle/>
          <a:p>
            <a:pPr algn="l" indent="0" marL="0">
              <a:lnSpc>
                <a:spcPts val="2369"/>
              </a:lnSpc>
              <a:buNone/>
            </a:pPr>
            <a:r>
              <a:rPr lang="en-US" sz="2025" b="1" dirty="0">
                <a:solidFill>
                  <a:srgbClr val="183B34"/>
                </a:solidFill>
                <a:latin typeface="Trebuchet MS" pitchFamily="34" charset="0"/>
                <a:ea typeface="Trebuchet MS" pitchFamily="34" charset="-122"/>
                <a:cs typeface="Trebuchet MS" pitchFamily="34" charset="-120"/>
              </a:rPr>
              <a:t>AppContent / selected topic and browser URL</a:t>
            </a:r>
            <a:endParaRPr lang="en-US" sz="2025" dirty="0"/>
          </a:p>
        </p:txBody>
      </p:sp>
      <p:sp>
        <p:nvSpPr>
          <p:cNvPr id="13" name="slide-61-rect-11"/>
          <p:cNvSpPr/>
          <p:nvPr/>
        </p:nvSpPr>
        <p:spPr>
          <a:xfrm>
            <a:off x="1447800" y="4448175"/>
            <a:ext cx="2552700" cy="819150"/>
          </a:xfrm>
          <a:prstGeom prst="roundRect">
            <a:avLst>
              <a:gd name="adj" fmla="val 5814"/>
            </a:avLst>
          </a:prstGeom>
          <a:solidFill>
            <a:srgbClr val="E5EDE2"/>
          </a:solidFill>
          <a:ln w="12700">
            <a:solidFill>
              <a:srgbClr val="E5EDE2">
                <a:alpha val="0"/>
              </a:srgbClr>
            </a:solidFill>
            <a:prstDash val="solid"/>
          </a:ln>
        </p:spPr>
      </p:sp>
      <p:sp>
        <p:nvSpPr>
          <p:cNvPr id="14" name="slide-61-text-12"/>
          <p:cNvSpPr/>
          <p:nvPr/>
        </p:nvSpPr>
        <p:spPr>
          <a:xfrm>
            <a:off x="1619250" y="4610100"/>
            <a:ext cx="2209800" cy="514350"/>
          </a:xfrm>
          <a:prstGeom prst="rect">
            <a:avLst/>
          </a:prstGeom>
          <a:noFill/>
          <a:ln/>
        </p:spPr>
        <p:txBody>
          <a:bodyPr wrap="square" lIns="0" tIns="0" rIns="0" bIns="0" rtlCol="0" anchor="t"/>
          <a:lstStyle/>
          <a:p>
            <a:pPr algn="ctr" indent="0" marL="0">
              <a:lnSpc>
                <a:spcPts val="2194"/>
              </a:lnSpc>
              <a:buNone/>
            </a:pPr>
            <a:r>
              <a:rPr lang="en-US" sz="1875" b="1" dirty="0">
                <a:solidFill>
                  <a:srgbClr val="183B34"/>
                </a:solidFill>
                <a:latin typeface="Calibri" pitchFamily="34" charset="0"/>
                <a:ea typeface="Calibri" pitchFamily="34" charset="-122"/>
                <a:cs typeface="Calibri" pitchFamily="34" charset="-120"/>
              </a:rPr>
              <a:t>Topic navigation</a:t>
            </a:r>
            <a:endParaRPr lang="en-US" sz="1875" dirty="0"/>
          </a:p>
        </p:txBody>
      </p:sp>
      <p:sp>
        <p:nvSpPr>
          <p:cNvPr id="15" name="slide-61-rect-13"/>
          <p:cNvSpPr/>
          <p:nvPr/>
        </p:nvSpPr>
        <p:spPr>
          <a:xfrm>
            <a:off x="4229100" y="4448175"/>
            <a:ext cx="6496050" cy="819150"/>
          </a:xfrm>
          <a:prstGeom prst="roundRect">
            <a:avLst>
              <a:gd name="adj" fmla="val 5814"/>
            </a:avLst>
          </a:prstGeom>
          <a:solidFill>
            <a:srgbClr val="E5EDE2"/>
          </a:solidFill>
          <a:ln w="12700">
            <a:solidFill>
              <a:srgbClr val="E5EDE2">
                <a:alpha val="0"/>
              </a:srgbClr>
            </a:solidFill>
            <a:prstDash val="solid"/>
          </a:ln>
        </p:spPr>
      </p:sp>
      <p:sp>
        <p:nvSpPr>
          <p:cNvPr id="16" name="slide-61-text-14"/>
          <p:cNvSpPr/>
          <p:nvPr/>
        </p:nvSpPr>
        <p:spPr>
          <a:xfrm>
            <a:off x="4400550" y="4562475"/>
            <a:ext cx="6153150" cy="619125"/>
          </a:xfrm>
          <a:prstGeom prst="rect">
            <a:avLst/>
          </a:prstGeom>
          <a:noFill/>
          <a:ln/>
        </p:spPr>
        <p:txBody>
          <a:bodyPr wrap="square" lIns="0" tIns="0" rIns="0" bIns="0" rtlCol="0" anchor="t"/>
          <a:lstStyle/>
          <a:p>
            <a:pPr algn="ctr" indent="0" marL="0">
              <a:lnSpc>
                <a:spcPts val="2106"/>
              </a:lnSpc>
              <a:buNone/>
            </a:pPr>
            <a:r>
              <a:rPr lang="en-US" sz="1800" dirty="0">
                <a:solidFill>
                  <a:srgbClr val="183B34"/>
                </a:solidFill>
                <a:latin typeface="Calibri" pitchFamily="34" charset="0"/>
                <a:ea typeface="Calibri" pitchFamily="34" charset="-122"/>
                <a:cs typeface="Calibri" pitchFamily="34" charset="-120"/>
              </a:rPr>
              <a:t>One selected demo:</a:t>
            </a:r>
            <a:endParaRPr lang="en-US" sz="1800" dirty="0"/>
          </a:p>
          <a:p>
            <a:pPr algn="ctr" indent="0" marL="0">
              <a:lnSpc>
                <a:spcPts val="2106"/>
              </a:lnSpc>
              <a:buNone/>
            </a:pPr>
            <a:r>
              <a:rPr lang="en-US" sz="1800" dirty="0">
                <a:solidFill>
                  <a:srgbClr val="183B34"/>
                </a:solidFill>
                <a:latin typeface="Calibri" pitchFamily="34" charset="0"/>
                <a:ea typeface="Calibri" pitchFamily="34" charset="-122"/>
                <a:cs typeface="Calibri" pitchFamily="34" charset="-120"/>
              </a:rPr>
              <a:t>StateDemo, ContextDemo, UseMemoDemo, ...</a:t>
            </a:r>
            <a:endParaRPr lang="en-US" sz="1800" dirty="0"/>
          </a:p>
        </p:txBody>
      </p:sp>
      <p:sp>
        <p:nvSpPr>
          <p:cNvPr id="17" name="slide-61-text-15">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App / AppContent | App.tsx:26</a:t>
            </a:r>
            <a:endParaRPr lang="en-US" sz="1275" dirty="0"/>
          </a:p>
        </p:txBody>
      </p:sp>
      <p:sp>
        <p:nvSpPr>
          <p:cNvPr id="18" name="slide-61-text-16">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Shopping cart</a:t>
            </a:r>
            <a:endParaRPr lang="en-US" sz="1275" dirty="0"/>
          </a:p>
        </p:txBody>
      </p:sp>
      <p:sp>
        <p:nvSpPr>
          <p:cNvPr id="19" name="slide-61-text-17"/>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61 / 65</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3EA"/>
        </a:solidFill>
      </p:bgPr>
    </p:bg>
    <p:spTree>
      <p:nvGrpSpPr>
        <p:cNvPr id="1" name=""/>
        <p:cNvGrpSpPr/>
        <p:nvPr/>
      </p:nvGrpSpPr>
      <p:grpSpPr>
        <a:xfrm>
          <a:off x="0" y="0"/>
          <a:ext cx="0" cy="0"/>
          <a:chOff x="0" y="0"/>
          <a:chExt cx="0" cy="0"/>
        </a:xfrm>
      </p:grpSpPr>
      <p:sp>
        <p:nvSpPr>
          <p:cNvPr id="2" name="slide-62-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05 / PERFORMANCE AND REDUCERS</a:t>
            </a:r>
            <a:endParaRPr lang="en-US" sz="1350" dirty="0"/>
          </a:p>
        </p:txBody>
      </p:sp>
      <p:sp>
        <p:nvSpPr>
          <p:cNvPr id="3" name="slide-62-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Teaching code is not a production contract</a:t>
            </a:r>
            <a:endParaRPr lang="en-US" sz="3600" dirty="0"/>
          </a:p>
        </p:txBody>
      </p:sp>
      <p:sp>
        <p:nvSpPr>
          <p:cNvPr id="4" name="slide-62-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Keep the working behavior separate from the improvements you recommend.</a:t>
            </a:r>
            <a:endParaRPr lang="en-US" sz="1875" dirty="0"/>
          </a:p>
        </p:txBody>
      </p:sp>
      <p:sp>
        <p:nvSpPr>
          <p:cNvPr id="5" name="slide-62-rect-3"/>
          <p:cNvSpPr/>
          <p:nvPr/>
        </p:nvSpPr>
        <p:spPr>
          <a:xfrm>
            <a:off x="609600" y="2228850"/>
            <a:ext cx="3479800" cy="3067050"/>
          </a:xfrm>
          <a:prstGeom prst="roundRect">
            <a:avLst>
              <a:gd name="adj" fmla="val 3106"/>
            </a:avLst>
          </a:prstGeom>
          <a:solidFill>
            <a:srgbClr val="FFFFFF"/>
          </a:solidFill>
          <a:ln w="9525">
            <a:solidFill>
              <a:srgbClr val="D4DBD0"/>
            </a:solidFill>
            <a:prstDash val="solid"/>
          </a:ln>
        </p:spPr>
      </p:sp>
      <p:sp>
        <p:nvSpPr>
          <p:cNvPr id="6" name="slide-62-text-4"/>
          <p:cNvSpPr/>
          <p:nvPr/>
        </p:nvSpPr>
        <p:spPr>
          <a:xfrm>
            <a:off x="838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DATA</a:t>
            </a:r>
            <a:endParaRPr lang="en-US" sz="1350" dirty="0"/>
          </a:p>
        </p:txBody>
      </p:sp>
      <p:sp>
        <p:nvSpPr>
          <p:cNvPr id="7" name="slide-62-text-5"/>
          <p:cNvSpPr/>
          <p:nvPr/>
        </p:nvSpPr>
        <p:spPr>
          <a:xfrm>
            <a:off x="838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Validate boundaries</a:t>
            </a:r>
            <a:endParaRPr lang="en-US" sz="2400" dirty="0"/>
          </a:p>
        </p:txBody>
      </p:sp>
      <p:sp>
        <p:nvSpPr>
          <p:cNvPr id="8" name="slide-62-text-6"/>
          <p:cNvSpPr/>
          <p:nvPr/>
        </p:nvSpPr>
        <p:spPr>
          <a:xfrm>
            <a:off x="838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Mock login is not auth.</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Generics do not decode</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JSON or stored values.</a:t>
            </a:r>
            <a:endParaRPr lang="en-US" sz="1950" dirty="0"/>
          </a:p>
        </p:txBody>
      </p:sp>
      <p:sp>
        <p:nvSpPr>
          <p:cNvPr id="9" name="slide-62-rect-7"/>
          <p:cNvSpPr/>
          <p:nvPr/>
        </p:nvSpPr>
        <p:spPr>
          <a:xfrm>
            <a:off x="4356100" y="2228850"/>
            <a:ext cx="3479800" cy="3067050"/>
          </a:xfrm>
          <a:prstGeom prst="roundRect">
            <a:avLst>
              <a:gd name="adj" fmla="val 3106"/>
            </a:avLst>
          </a:prstGeom>
          <a:solidFill>
            <a:srgbClr val="FFFFFF"/>
          </a:solidFill>
          <a:ln w="9525">
            <a:solidFill>
              <a:srgbClr val="D4DBD0"/>
            </a:solidFill>
            <a:prstDash val="solid"/>
          </a:ln>
        </p:spPr>
      </p:sp>
      <p:sp>
        <p:nvSpPr>
          <p:cNvPr id="10" name="slide-62-text-8"/>
          <p:cNvSpPr/>
          <p:nvPr/>
        </p:nvSpPr>
        <p:spPr>
          <a:xfrm>
            <a:off x="45847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LIFETIMES</a:t>
            </a:r>
            <a:endParaRPr lang="en-US" sz="1350" dirty="0"/>
          </a:p>
        </p:txBody>
      </p:sp>
      <p:sp>
        <p:nvSpPr>
          <p:cNvPr id="11" name="slide-62-text-9"/>
          <p:cNvSpPr/>
          <p:nvPr/>
        </p:nvSpPr>
        <p:spPr>
          <a:xfrm>
            <a:off x="45847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Own external work</a:t>
            </a:r>
            <a:endParaRPr lang="en-US" sz="2400" dirty="0"/>
          </a:p>
        </p:txBody>
      </p:sp>
      <p:sp>
        <p:nvSpPr>
          <p:cNvPr id="12" name="slide-62-text-10"/>
          <p:cNvSpPr/>
          <p:nvPr/>
        </p:nvSpPr>
        <p:spPr>
          <a:xfrm>
            <a:off x="45847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Audit subscriptions,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requests, storage errors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and notification timers.</a:t>
            </a:r>
            <a:endParaRPr lang="en-US" sz="1950" dirty="0"/>
          </a:p>
        </p:txBody>
      </p:sp>
      <p:sp>
        <p:nvSpPr>
          <p:cNvPr id="13" name="slide-62-rect-11"/>
          <p:cNvSpPr/>
          <p:nvPr/>
        </p:nvSpPr>
        <p:spPr>
          <a:xfrm>
            <a:off x="8102600" y="2228850"/>
            <a:ext cx="3479800" cy="3067050"/>
          </a:xfrm>
          <a:prstGeom prst="roundRect">
            <a:avLst>
              <a:gd name="adj" fmla="val 3106"/>
            </a:avLst>
          </a:prstGeom>
          <a:solidFill>
            <a:srgbClr val="FFFFFF"/>
          </a:solidFill>
          <a:ln w="9525">
            <a:solidFill>
              <a:srgbClr val="D4DBD0"/>
            </a:solidFill>
            <a:prstDash val="solid"/>
          </a:ln>
        </p:spPr>
      </p:sp>
      <p:sp>
        <p:nvSpPr>
          <p:cNvPr id="14" name="slide-62-text-12"/>
          <p:cNvSpPr/>
          <p:nvPr/>
        </p:nvSpPr>
        <p:spPr>
          <a:xfrm>
            <a:off x="8331200" y="2419350"/>
            <a:ext cx="30226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ACCESS</a:t>
            </a:r>
            <a:endParaRPr lang="en-US" sz="1350" dirty="0"/>
          </a:p>
        </p:txBody>
      </p:sp>
      <p:sp>
        <p:nvSpPr>
          <p:cNvPr id="15" name="slide-62-text-13"/>
          <p:cNvSpPr/>
          <p:nvPr/>
        </p:nvSpPr>
        <p:spPr>
          <a:xfrm>
            <a:off x="8331200" y="2771775"/>
            <a:ext cx="3022600" cy="714375"/>
          </a:xfrm>
          <a:prstGeom prst="rect">
            <a:avLst/>
          </a:prstGeom>
          <a:noFill/>
          <a:ln/>
        </p:spPr>
        <p:txBody>
          <a:bodyPr wrap="square" lIns="0" tIns="0" rIns="0" bIns="0" rtlCol="0" anchor="t"/>
          <a:lstStyle/>
          <a:p>
            <a:pPr algn="l" indent="0" marL="0">
              <a:lnSpc>
                <a:spcPts val="2808"/>
              </a:lnSpc>
              <a:buNone/>
            </a:pPr>
            <a:r>
              <a:rPr lang="en-US" sz="2400" b="1" dirty="0">
                <a:solidFill>
                  <a:srgbClr val="183B34"/>
                </a:solidFill>
                <a:latin typeface="Trebuchet MS" pitchFamily="34" charset="0"/>
                <a:ea typeface="Trebuchet MS" pitchFamily="34" charset="-122"/>
                <a:cs typeface="Trebuchet MS" pitchFamily="34" charset="-120"/>
              </a:rPr>
              <a:t>Make feedback usable</a:t>
            </a:r>
            <a:endParaRPr lang="en-US" sz="2400" dirty="0"/>
          </a:p>
        </p:txBody>
      </p:sp>
      <p:sp>
        <p:nvSpPr>
          <p:cNvPr id="16" name="slide-62-text-14"/>
          <p:cNvSpPr/>
          <p:nvPr/>
        </p:nvSpPr>
        <p:spPr>
          <a:xfrm>
            <a:off x="8331200" y="3609975"/>
            <a:ext cx="3022600" cy="1514475"/>
          </a:xfrm>
          <a:prstGeom prst="rect">
            <a:avLst/>
          </a:prstGeom>
          <a:noFill/>
          <a:ln/>
        </p:spPr>
        <p:txBody>
          <a:bodyPr wrap="square" lIns="0" tIns="0" rIns="0" bIns="0" rtlCol="0" anchor="t"/>
          <a:lstStyle/>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Associate labels.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Announce errors.</a:t>
            </a:r>
            <a:endParaRPr lang="en-US" sz="1950" dirty="0"/>
          </a:p>
          <a:p>
            <a:pPr algn="l" indent="0" marL="0">
              <a:lnSpc>
                <a:spcPts val="2282"/>
              </a:lnSpc>
              <a:buNone/>
            </a:pPr>
            <a:r>
              <a:rPr lang="en-US" sz="1950" dirty="0">
                <a:solidFill>
                  <a:srgbClr val="183B34"/>
                </a:solidFill>
                <a:latin typeface="Calibri" pitchFamily="34" charset="0"/>
                <a:ea typeface="Calibri" pitchFamily="34" charset="-122"/>
                <a:cs typeface="Calibri" pitchFamily="34" charset="-120"/>
              </a:rPr>
              <a:t>Keep keyboard access.</a:t>
            </a:r>
            <a:endParaRPr lang="en-US" sz="1950" dirty="0"/>
          </a:p>
        </p:txBody>
      </p:sp>
      <p:sp>
        <p:nvSpPr>
          <p:cNvPr id="17" name="slide-62-rect-15"/>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8" name="slide-62-text-16"/>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Use build, lint and browser checks; passing type checks cannot prove the interaction is correct.</a:t>
            </a:r>
            <a:endParaRPr lang="en-US" sz="1875" dirty="0"/>
          </a:p>
        </p:txBody>
      </p:sp>
      <p:sp>
        <p:nvSpPr>
          <p:cNvPr id="19" name="slide-62-text-17">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AuthProvider | AuthContext.tsx:30</a:t>
            </a:r>
            <a:endParaRPr lang="en-US" sz="1275" dirty="0"/>
          </a:p>
        </p:txBody>
      </p:sp>
      <p:sp>
        <p:nvSpPr>
          <p:cNvPr id="20" name="slide-62-text-18">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7. Context API / Demo authentication</a:t>
            </a:r>
            <a:endParaRPr lang="en-US" sz="1275" dirty="0"/>
          </a:p>
        </p:txBody>
      </p:sp>
      <p:sp>
        <p:nvSpPr>
          <p:cNvPr id="21" name="slide-62-text-19"/>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62 / 65</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3EA"/>
        </a:solidFill>
      </p:bgPr>
    </p:bg>
    <p:spTree>
      <p:nvGrpSpPr>
        <p:cNvPr id="1" name=""/>
        <p:cNvGrpSpPr/>
        <p:nvPr/>
      </p:nvGrpSpPr>
      <p:grpSpPr>
        <a:xfrm>
          <a:off x="0" y="0"/>
          <a:ext cx="0" cy="0"/>
          <a:chOff x="0" y="0"/>
          <a:chExt cx="0" cy="0"/>
        </a:xfrm>
      </p:grpSpPr>
      <p:sp>
        <p:nvSpPr>
          <p:cNvPr id="2" name="slide-63-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06 / PRACTICE AND SYNTHESIS</a:t>
            </a:r>
            <a:endParaRPr lang="en-US" sz="1350" dirty="0"/>
          </a:p>
        </p:txBody>
      </p:sp>
      <p:sp>
        <p:nvSpPr>
          <p:cNvPr id="3" name="slide-63-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Practice: explain the product pipeline</a:t>
            </a:r>
            <a:endParaRPr lang="en-US" sz="3600" dirty="0"/>
          </a:p>
        </p:txBody>
      </p:sp>
      <p:sp>
        <p:nvSpPr>
          <p:cNvPr id="4" name="slide-63-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Start from the Filtered Product List in the useMemo tab.</a:t>
            </a:r>
            <a:endParaRPr lang="en-US" sz="1875" dirty="0"/>
          </a:p>
        </p:txBody>
      </p:sp>
      <p:sp>
        <p:nvSpPr>
          <p:cNvPr id="5" name="slide-63-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63-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02</a:t>
            </a:r>
            <a:endParaRPr lang="en-US" sz="5700" dirty="0"/>
          </a:p>
        </p:txBody>
      </p:sp>
      <p:sp>
        <p:nvSpPr>
          <p:cNvPr id="7" name="slide-63-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TRACE</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EXTEND</a:t>
            </a:r>
            <a:endParaRPr lang="en-US" sz="1725" dirty="0"/>
          </a:p>
        </p:txBody>
      </p:sp>
      <p:sp>
        <p:nvSpPr>
          <p:cNvPr id="8" name="slide-63-text-6"/>
          <p:cNvSpPr/>
          <p:nvPr/>
        </p:nvSpPr>
        <p:spPr>
          <a:xfrm>
            <a:off x="2533650" y="2333625"/>
            <a:ext cx="5238750" cy="2667000"/>
          </a:xfrm>
          <a:prstGeom prst="rect">
            <a:avLst/>
          </a:prstGeom>
          <a:noFill/>
          <a:ln/>
        </p:spPr>
        <p:txBody>
          <a:bodyPr wrap="square" lIns="0" tIns="0" rIns="0" bIns="0" rtlCol="0" anchor="t"/>
          <a:lstStyle/>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Search Electronics.</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Sort by Price.</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Show in-stock only.</a:t>
            </a:r>
            <a:endParaRPr lang="en-US" sz="2775" dirty="0"/>
          </a:p>
          <a:p>
            <a:pPr algn="l" indent="0" marL="0">
              <a:lnSpc>
                <a:spcPts val="3247"/>
              </a:lnSpc>
              <a:buNone/>
            </a:pP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Predict rows and stats.</a:t>
            </a:r>
            <a:endParaRPr lang="en-US" sz="2775" dirty="0"/>
          </a:p>
        </p:txBody>
      </p:sp>
      <p:sp>
        <p:nvSpPr>
          <p:cNvPr id="9" name="slide-63-text-7"/>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0" name="slide-63-text-8"/>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Locate the state inputs.</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Name each memo's</a:t>
            </a: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dependencies.</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Explain the copied sort.</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Propose a max-price filter.</a:t>
            </a:r>
            <a:endParaRPr lang="en-US" sz="2100" dirty="0"/>
          </a:p>
        </p:txBody>
      </p:sp>
      <p:sp>
        <p:nvSpPr>
          <p:cNvPr id="11" name="slide-63-rect-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2" name="slide-63-text-1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An added filter must affect the calculation and its dependencies; do not duplicate the results.</a:t>
            </a:r>
            <a:endParaRPr lang="en-US" sz="1875" dirty="0"/>
          </a:p>
        </p:txBody>
      </p:sp>
      <p:sp>
        <p:nvSpPr>
          <p:cNvPr id="13" name="slide-63-text-1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filteredProducts | UseMemoDemo.tsx:56</a:t>
            </a:r>
            <a:endParaRPr lang="en-US" sz="1275" dirty="0"/>
          </a:p>
        </p:txBody>
      </p:sp>
      <p:sp>
        <p:nvSpPr>
          <p:cNvPr id="14" name="slide-63-text-1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9. useMemo / Product filters</a:t>
            </a:r>
            <a:endParaRPr lang="en-US" sz="1275" dirty="0"/>
          </a:p>
        </p:txBody>
      </p:sp>
      <p:sp>
        <p:nvSpPr>
          <p:cNvPr id="15" name="slide-63-text-1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63 / 65</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3EA"/>
        </a:solidFill>
      </p:bgPr>
    </p:bg>
    <p:spTree>
      <p:nvGrpSpPr>
        <p:cNvPr id="1" name=""/>
        <p:cNvGrpSpPr/>
        <p:nvPr/>
      </p:nvGrpSpPr>
      <p:grpSpPr>
        <a:xfrm>
          <a:off x="0" y="0"/>
          <a:ext cx="0" cy="0"/>
          <a:chOff x="0" y="0"/>
          <a:chExt cx="0" cy="0"/>
        </a:xfrm>
      </p:grpSpPr>
      <p:sp>
        <p:nvSpPr>
          <p:cNvPr id="2" name="slide-64-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536B61"/>
                </a:solidFill>
                <a:latin typeface="Calibri" pitchFamily="34" charset="0"/>
                <a:ea typeface="Calibri" pitchFamily="34" charset="-122"/>
                <a:cs typeface="Calibri" pitchFamily="34" charset="-120"/>
              </a:rPr>
              <a:t>WEB DEVELOPMENT / WEEK 2 / 06 / PRACTICE AND SYNTHESIS</a:t>
            </a:r>
            <a:endParaRPr lang="en-US" sz="1350" dirty="0"/>
          </a:p>
        </p:txBody>
      </p:sp>
      <p:sp>
        <p:nvSpPr>
          <p:cNvPr id="3" name="slide-64-text-1"/>
          <p:cNvSpPr/>
          <p:nvPr/>
        </p:nvSpPr>
        <p:spPr>
          <a:xfrm>
            <a:off x="609600" y="838200"/>
            <a:ext cx="10972800" cy="685800"/>
          </a:xfrm>
          <a:prstGeom prst="rect">
            <a:avLst/>
          </a:prstGeom>
          <a:noFill/>
          <a:ln/>
        </p:spPr>
        <p:txBody>
          <a:bodyPr wrap="square" lIns="0" tIns="0" rIns="0" bIns="0" rtlCol="0" anchor="t"/>
          <a:lstStyle/>
          <a:p>
            <a:pPr algn="l" indent="0" marL="0">
              <a:lnSpc>
                <a:spcPts val="4212"/>
              </a:lnSpc>
              <a:buNone/>
            </a:pPr>
            <a:r>
              <a:rPr lang="en-US" sz="3600" b="1" dirty="0">
                <a:solidFill>
                  <a:srgbClr val="183B34"/>
                </a:solidFill>
                <a:latin typeface="Trebuchet MS" pitchFamily="34" charset="0"/>
                <a:ea typeface="Trebuchet MS" pitchFamily="34" charset="-122"/>
                <a:cs typeface="Trebuchet MS" pitchFamily="34" charset="-120"/>
              </a:rPr>
              <a:t>Practice: predict the cart transitions</a:t>
            </a:r>
            <a:endParaRPr lang="en-US" sz="3600" dirty="0"/>
          </a:p>
        </p:txBody>
      </p:sp>
      <p:sp>
        <p:nvSpPr>
          <p:cNvPr id="4" name="slide-64-text-2"/>
          <p:cNvSpPr/>
          <p:nvPr/>
        </p:nvSpPr>
        <p:spPr>
          <a:xfrm>
            <a:off x="609600" y="1571625"/>
            <a:ext cx="10972800" cy="400050"/>
          </a:xfrm>
          <a:prstGeom prst="rect">
            <a:avLst/>
          </a:prstGeom>
          <a:noFill/>
          <a:ln/>
        </p:spPr>
        <p:txBody>
          <a:bodyPr wrap="square" lIns="0" tIns="0" rIns="0" bIns="0" rtlCol="0" anchor="t"/>
          <a:lstStyle/>
          <a:p>
            <a:pPr algn="l" indent="0" marL="0">
              <a:lnSpc>
                <a:spcPts val="2194"/>
              </a:lnSpc>
              <a:buNone/>
            </a:pPr>
            <a:r>
              <a:rPr lang="en-US" sz="1875" dirty="0">
                <a:solidFill>
                  <a:srgbClr val="536B61"/>
                </a:solidFill>
                <a:latin typeface="Calibri" pitchFamily="34" charset="0"/>
                <a:ea typeface="Calibri" pitchFamily="34" charset="-122"/>
                <a:cs typeface="Calibri" pitchFamily="34" charset="-120"/>
              </a:rPr>
              <a:t>Use the existing useReducer tab; begin with an empty, visible cart.</a:t>
            </a:r>
            <a:endParaRPr lang="en-US" sz="1875" dirty="0"/>
          </a:p>
        </p:txBody>
      </p:sp>
      <p:sp>
        <p:nvSpPr>
          <p:cNvPr id="5" name="slide-64-rect-3"/>
          <p:cNvSpPr/>
          <p:nvPr/>
        </p:nvSpPr>
        <p:spPr>
          <a:xfrm>
            <a:off x="609600" y="2190750"/>
            <a:ext cx="1562100" cy="3048000"/>
          </a:xfrm>
          <a:prstGeom prst="roundRect">
            <a:avLst>
              <a:gd name="adj" fmla="val 6098"/>
            </a:avLst>
          </a:prstGeom>
          <a:solidFill>
            <a:srgbClr val="123B35"/>
          </a:solidFill>
          <a:ln w="12700">
            <a:solidFill>
              <a:srgbClr val="123B35">
                <a:alpha val="0"/>
              </a:srgbClr>
            </a:solidFill>
            <a:prstDash val="solid"/>
          </a:ln>
        </p:spPr>
      </p:sp>
      <p:sp>
        <p:nvSpPr>
          <p:cNvPr id="6" name="slide-64-text-4"/>
          <p:cNvSpPr/>
          <p:nvPr/>
        </p:nvSpPr>
        <p:spPr>
          <a:xfrm>
            <a:off x="781050" y="2505075"/>
            <a:ext cx="1219200" cy="1047750"/>
          </a:xfrm>
          <a:prstGeom prst="rect">
            <a:avLst/>
          </a:prstGeom>
          <a:noFill/>
          <a:ln/>
        </p:spPr>
        <p:txBody>
          <a:bodyPr wrap="square" lIns="0" tIns="0" rIns="0" bIns="0" rtlCol="0" anchor="t"/>
          <a:lstStyle/>
          <a:p>
            <a:pPr algn="ctr" indent="0" marL="0">
              <a:lnSpc>
                <a:spcPts val="6669"/>
              </a:lnSpc>
              <a:buNone/>
            </a:pPr>
            <a:r>
              <a:rPr lang="en-US" sz="5700" b="1" dirty="0">
                <a:solidFill>
                  <a:srgbClr val="BCE8D2"/>
                </a:solidFill>
                <a:latin typeface="Trebuchet MS" pitchFamily="34" charset="0"/>
                <a:ea typeface="Trebuchet MS" pitchFamily="34" charset="-122"/>
                <a:cs typeface="Trebuchet MS" pitchFamily="34" charset="-120"/>
              </a:rPr>
              <a:t>03</a:t>
            </a:r>
            <a:endParaRPr lang="en-US" sz="5700" dirty="0"/>
          </a:p>
        </p:txBody>
      </p:sp>
      <p:sp>
        <p:nvSpPr>
          <p:cNvPr id="7" name="slide-64-text-5"/>
          <p:cNvSpPr/>
          <p:nvPr/>
        </p:nvSpPr>
        <p:spPr>
          <a:xfrm>
            <a:off x="800100" y="3686175"/>
            <a:ext cx="1181100" cy="1190625"/>
          </a:xfrm>
          <a:prstGeom prst="rect">
            <a:avLst/>
          </a:prstGeom>
          <a:noFill/>
          <a:ln/>
        </p:spPr>
        <p:txBody>
          <a:bodyPr wrap="square" lIns="0" tIns="0" rIns="0" bIns="0" rtlCol="0" anchor="t"/>
          <a:lstStyle/>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DISPATCH</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PREDICT</a:t>
            </a:r>
            <a:endParaRPr lang="en-US" sz="1725" dirty="0"/>
          </a:p>
          <a:p>
            <a:pPr algn="ctr" indent="0" marL="0">
              <a:lnSpc>
                <a:spcPts val="2018"/>
              </a:lnSpc>
              <a:buNone/>
            </a:pPr>
            <a:r>
              <a:rPr lang="en-US" sz="1725" b="1" dirty="0">
                <a:solidFill>
                  <a:srgbClr val="F6F3EA"/>
                </a:solidFill>
                <a:latin typeface="Calibri" pitchFamily="34" charset="0"/>
                <a:ea typeface="Calibri" pitchFamily="34" charset="-122"/>
                <a:cs typeface="Calibri" pitchFamily="34" charset="-120"/>
              </a:rPr>
              <a:t>VERIFY</a:t>
            </a:r>
            <a:endParaRPr lang="en-US" sz="1725" dirty="0"/>
          </a:p>
        </p:txBody>
      </p:sp>
      <p:sp>
        <p:nvSpPr>
          <p:cNvPr id="8" name="slide-64-text-6"/>
          <p:cNvSpPr/>
          <p:nvPr/>
        </p:nvSpPr>
        <p:spPr>
          <a:xfrm>
            <a:off x="2533650" y="2333625"/>
            <a:ext cx="5238750" cy="2667000"/>
          </a:xfrm>
          <a:prstGeom prst="rect">
            <a:avLst/>
          </a:prstGeom>
          <a:noFill/>
          <a:ln/>
        </p:spPr>
        <p:txBody>
          <a:bodyPr wrap="square" lIns="0" tIns="0" rIns="0" bIns="0" rtlCol="0" anchor="t"/>
          <a:lstStyle/>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Add the book twice.</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Reduce quantity once.</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Hide, then show the cart.</a:t>
            </a:r>
            <a:endParaRPr lang="en-US" sz="2775" dirty="0"/>
          </a:p>
          <a:p>
            <a:pPr algn="l" indent="0" marL="0">
              <a:lnSpc>
                <a:spcPts val="3247"/>
              </a:lnSpc>
              <a:buNone/>
            </a:pPr>
            <a:r>
              <a:rPr lang="en-US" sz="2775" b="1" dirty="0">
                <a:solidFill>
                  <a:srgbClr val="183B34"/>
                </a:solidFill>
                <a:latin typeface="Trebuchet MS" pitchFamily="34" charset="0"/>
                <a:ea typeface="Trebuchet MS" pitchFamily="34" charset="-122"/>
                <a:cs typeface="Trebuchet MS" pitchFamily="34" charset="-120"/>
              </a:rPr>
              <a:t>Remove the book.</a:t>
            </a:r>
            <a:endParaRPr lang="en-US" sz="2775" dirty="0"/>
          </a:p>
        </p:txBody>
      </p:sp>
      <p:sp>
        <p:nvSpPr>
          <p:cNvPr id="9" name="slide-64-text-7"/>
          <p:cNvSpPr/>
          <p:nvPr/>
        </p:nvSpPr>
        <p:spPr>
          <a:xfrm>
            <a:off x="8229600" y="2266950"/>
            <a:ext cx="3352800" cy="247650"/>
          </a:xfrm>
          <a:prstGeom prst="rect">
            <a:avLst/>
          </a:prstGeom>
          <a:noFill/>
          <a:ln/>
        </p:spPr>
        <p:txBody>
          <a:bodyPr wrap="square" lIns="0" tIns="0" rIns="0" bIns="0" rtlCol="0" anchor="t"/>
          <a:lstStyle/>
          <a:p>
            <a:pPr algn="l" indent="0" marL="0">
              <a:lnSpc>
                <a:spcPts val="1485"/>
              </a:lnSpc>
              <a:buNone/>
            </a:pPr>
            <a:r>
              <a:rPr lang="en-US" sz="1350" b="1" dirty="0">
                <a:solidFill>
                  <a:srgbClr val="B34F25"/>
                </a:solidFill>
                <a:latin typeface="Calibri" pitchFamily="34" charset="0"/>
                <a:ea typeface="Calibri" pitchFamily="34" charset="-122"/>
                <a:cs typeface="Calibri" pitchFamily="34" charset="-120"/>
              </a:rPr>
              <a:t>YOUR TASK</a:t>
            </a:r>
            <a:endParaRPr lang="en-US" sz="1350" dirty="0"/>
          </a:p>
        </p:txBody>
      </p:sp>
      <p:sp>
        <p:nvSpPr>
          <p:cNvPr id="10" name="slide-64-text-8"/>
          <p:cNvSpPr/>
          <p:nvPr/>
        </p:nvSpPr>
        <p:spPr>
          <a:xfrm>
            <a:off x="8229600" y="2695575"/>
            <a:ext cx="3352800" cy="2533650"/>
          </a:xfrm>
          <a:prstGeom prst="rect">
            <a:avLst/>
          </a:prstGeom>
          <a:noFill/>
          <a:ln/>
        </p:spPr>
        <p:txBody>
          <a:bodyPr wrap="square" lIns="0" tIns="0" rIns="0" bIns="0" rtlCol="0" anchor="t"/>
          <a:lstStyle/>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Name every action.</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Predict rows and total.</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Identify unchanged state.</a:t>
            </a:r>
            <a:endParaRPr lang="en-US" sz="2100" dirty="0"/>
          </a:p>
          <a:p>
            <a:pPr algn="l" indent="0" marL="0">
              <a:lnSpc>
                <a:spcPts val="2457"/>
              </a:lnSpc>
              <a:buNone/>
            </a:pPr>
            <a:endParaRPr lang="en-US" sz="2100" dirty="0"/>
          </a:p>
          <a:p>
            <a:pPr algn="l" indent="0" marL="0">
              <a:lnSpc>
                <a:spcPts val="2457"/>
              </a:lnSpc>
              <a:buNone/>
            </a:pPr>
            <a:r>
              <a:rPr lang="en-US" sz="2100" dirty="0">
                <a:solidFill>
                  <a:srgbClr val="183B34"/>
                </a:solidFill>
                <a:latin typeface="Calibri" pitchFamily="34" charset="0"/>
                <a:ea typeface="Calibri" pitchFamily="34" charset="-122"/>
                <a:cs typeface="Calibri" pitchFamily="34" charset="-120"/>
              </a:rPr>
              <a:t>Suggest a reducer test.</a:t>
            </a:r>
            <a:endParaRPr lang="en-US" sz="2100" dirty="0"/>
          </a:p>
        </p:txBody>
      </p:sp>
      <p:sp>
        <p:nvSpPr>
          <p:cNvPr id="11" name="slide-64-rect-9"/>
          <p:cNvSpPr/>
          <p:nvPr/>
        </p:nvSpPr>
        <p:spPr>
          <a:xfrm>
            <a:off x="609600" y="5562600"/>
            <a:ext cx="10972800" cy="628650"/>
          </a:xfrm>
          <a:prstGeom prst="roundRect">
            <a:avLst>
              <a:gd name="adj" fmla="val 12121"/>
            </a:avLst>
          </a:prstGeom>
          <a:solidFill>
            <a:srgbClr val="E5EDE2"/>
          </a:solidFill>
          <a:ln w="12700">
            <a:solidFill>
              <a:srgbClr val="E5EDE2">
                <a:alpha val="0"/>
              </a:srgbClr>
            </a:solidFill>
            <a:prstDash val="solid"/>
          </a:ln>
        </p:spPr>
      </p:sp>
      <p:sp>
        <p:nvSpPr>
          <p:cNvPr id="12" name="slide-64-text-10"/>
          <p:cNvSpPr/>
          <p:nvPr/>
        </p:nvSpPr>
        <p:spPr>
          <a:xfrm>
            <a:off x="800100" y="5705475"/>
            <a:ext cx="10591800" cy="381000"/>
          </a:xfrm>
          <a:prstGeom prst="rect">
            <a:avLst/>
          </a:prstGeom>
          <a:noFill/>
          <a:ln/>
        </p:spPr>
        <p:txBody>
          <a:bodyPr wrap="square" lIns="0" tIns="0" rIns="0" bIns="0" rtlCol="0" anchor="t"/>
          <a:lstStyle/>
          <a:p>
            <a:pPr algn="l" indent="0" marL="0">
              <a:lnSpc>
                <a:spcPts val="2194"/>
              </a:lnSpc>
              <a:buNone/>
            </a:pPr>
            <a:r>
              <a:rPr lang="en-US" sz="1875" dirty="0">
                <a:solidFill>
                  <a:srgbClr val="183B34"/>
                </a:solidFill>
                <a:latin typeface="Calibri" pitchFamily="34" charset="0"/>
                <a:ea typeface="Calibri" pitchFamily="34" charset="-122"/>
                <a:cs typeface="Calibri" pitchFamily="34" charset="-120"/>
              </a:rPr>
              <a:t>Explain each transition as previous state + action → next state, with no mutation.</a:t>
            </a:r>
            <a:endParaRPr lang="en-US" sz="1875" dirty="0"/>
          </a:p>
        </p:txBody>
      </p:sp>
      <p:sp>
        <p:nvSpPr>
          <p:cNvPr id="13" name="slide-64-text-11">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cartReducer | UseReducerDemo.tsx:38</a:t>
            </a:r>
            <a:endParaRPr lang="en-US" sz="1275" dirty="0"/>
          </a:p>
        </p:txBody>
      </p:sp>
      <p:sp>
        <p:nvSpPr>
          <p:cNvPr id="14" name="slide-64-text-12">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183B3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Shopping cart</a:t>
            </a:r>
            <a:endParaRPr lang="en-US" sz="1275" dirty="0"/>
          </a:p>
        </p:txBody>
      </p:sp>
      <p:sp>
        <p:nvSpPr>
          <p:cNvPr id="15" name="slide-64-text-13"/>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536B61"/>
                </a:solidFill>
                <a:latin typeface="Calibri" pitchFamily="34" charset="0"/>
                <a:ea typeface="Calibri" pitchFamily="34" charset="-122"/>
                <a:cs typeface="Calibri" pitchFamily="34" charset="-120"/>
              </a:rPr>
              <a:t>64 / 65</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23B35"/>
        </a:solidFill>
      </p:bgPr>
    </p:bg>
    <p:spTree>
      <p:nvGrpSpPr>
        <p:cNvPr id="1" name=""/>
        <p:cNvGrpSpPr/>
        <p:nvPr/>
      </p:nvGrpSpPr>
      <p:grpSpPr>
        <a:xfrm>
          <a:off x="0" y="0"/>
          <a:ext cx="0" cy="0"/>
          <a:chOff x="0" y="0"/>
          <a:chExt cx="0" cy="0"/>
        </a:xfrm>
      </p:grpSpPr>
      <p:sp>
        <p:nvSpPr>
          <p:cNvPr id="2" name="slide-65-text-0"/>
          <p:cNvSpPr/>
          <p:nvPr/>
        </p:nvSpPr>
        <p:spPr>
          <a:xfrm>
            <a:off x="609600" y="361950"/>
            <a:ext cx="9906000" cy="247650"/>
          </a:xfrm>
          <a:prstGeom prst="rect">
            <a:avLst/>
          </a:prstGeom>
          <a:noFill/>
          <a:ln/>
        </p:spPr>
        <p:txBody>
          <a:bodyPr wrap="square" lIns="0" tIns="0" rIns="0" bIns="0" rtlCol="0" anchor="t"/>
          <a:lstStyle/>
          <a:p>
            <a:pPr algn="l" indent="0" marL="0">
              <a:lnSpc>
                <a:spcPts val="1485"/>
              </a:lnSpc>
              <a:buNone/>
            </a:pPr>
            <a:r>
              <a:rPr lang="en-US" sz="1350" b="1" dirty="0">
                <a:solidFill>
                  <a:srgbClr val="BCE8D2"/>
                </a:solidFill>
                <a:latin typeface="Calibri" pitchFamily="34" charset="0"/>
                <a:ea typeface="Calibri" pitchFamily="34" charset="-122"/>
                <a:cs typeface="Calibri" pitchFamily="34" charset="-120"/>
              </a:rPr>
              <a:t>WEB DEVELOPMENT / WEEK 2 / 06 / PRACTICE AND SYNTHESIS</a:t>
            </a:r>
            <a:endParaRPr lang="en-US" sz="1350" dirty="0"/>
          </a:p>
        </p:txBody>
      </p:sp>
      <p:sp>
        <p:nvSpPr>
          <p:cNvPr id="3" name="slide-65-text-1"/>
          <p:cNvSpPr/>
          <p:nvPr/>
        </p:nvSpPr>
        <p:spPr>
          <a:xfrm>
            <a:off x="609600" y="1000125"/>
            <a:ext cx="10096500" cy="1657350"/>
          </a:xfrm>
          <a:prstGeom prst="rect">
            <a:avLst/>
          </a:prstGeom>
          <a:noFill/>
          <a:ln/>
        </p:spPr>
        <p:txBody>
          <a:bodyPr wrap="square" lIns="0" tIns="0" rIns="0" bIns="0" rtlCol="0" anchor="t"/>
          <a:lstStyle/>
          <a:p>
            <a:pPr algn="l" indent="0" marL="0">
              <a:lnSpc>
                <a:spcPts val="5440"/>
              </a:lnSpc>
              <a:buNone/>
            </a:pPr>
            <a:r>
              <a:rPr lang="en-US" sz="4650" b="1" dirty="0">
                <a:solidFill>
                  <a:srgbClr val="F6F3EA"/>
                </a:solidFill>
                <a:latin typeface="Trebuchet MS" pitchFamily="34" charset="0"/>
                <a:ea typeface="Trebuchet MS" pitchFamily="34" charset="-122"/>
                <a:cs typeface="Trebuchet MS" pitchFamily="34" charset="-120"/>
              </a:rPr>
              <a:t>Explain the change,</a:t>
            </a:r>
            <a:endParaRPr lang="en-US" sz="4650" dirty="0"/>
          </a:p>
          <a:p>
            <a:pPr algn="l" indent="0" marL="0">
              <a:lnSpc>
                <a:spcPts val="5440"/>
              </a:lnSpc>
              <a:buNone/>
            </a:pPr>
            <a:r>
              <a:rPr lang="en-US" sz="4650" b="1" dirty="0">
                <a:solidFill>
                  <a:srgbClr val="F6F3EA"/>
                </a:solidFill>
                <a:latin typeface="Trebuchet MS" pitchFamily="34" charset="0"/>
                <a:ea typeface="Trebuchet MS" pitchFamily="34" charset="-122"/>
                <a:cs typeface="Trebuchet MS" pitchFamily="34" charset="-120"/>
              </a:rPr>
              <a:t>not just the code.</a:t>
            </a:r>
            <a:endParaRPr lang="en-US" sz="4650" dirty="0"/>
          </a:p>
        </p:txBody>
      </p:sp>
      <p:sp>
        <p:nvSpPr>
          <p:cNvPr id="4" name="slide-65-text-2"/>
          <p:cNvSpPr/>
          <p:nvPr/>
        </p:nvSpPr>
        <p:spPr>
          <a:xfrm>
            <a:off x="647700" y="2752725"/>
            <a:ext cx="8763000" cy="1333500"/>
          </a:xfrm>
          <a:prstGeom prst="rect">
            <a:avLst/>
          </a:prstGeom>
          <a:noFill/>
          <a:ln/>
        </p:spPr>
        <p:txBody>
          <a:bodyPr wrap="square" lIns="0" tIns="0" rIns="0" bIns="0" rtlCol="0" anchor="t"/>
          <a:lstStyle/>
          <a:p>
            <a:pPr algn="l" indent="0" marL="0">
              <a:lnSpc>
                <a:spcPts val="3071"/>
              </a:lnSpc>
              <a:buNone/>
            </a:pPr>
            <a:r>
              <a:rPr lang="en-US" sz="2625" dirty="0">
                <a:solidFill>
                  <a:srgbClr val="BCE8D2"/>
                </a:solidFill>
                <a:latin typeface="Calibri" pitchFamily="34" charset="0"/>
                <a:ea typeface="Calibri" pitchFamily="34" charset="-122"/>
                <a:cs typeface="Calibri" pitchFamily="34" charset="-120"/>
              </a:rPr>
              <a:t>One tabbed app. Real components. Observable results.</a:t>
            </a:r>
            <a:endParaRPr lang="en-US" sz="2625" dirty="0"/>
          </a:p>
          <a:p>
            <a:pPr algn="l" indent="0" marL="0">
              <a:lnSpc>
                <a:spcPts val="3071"/>
              </a:lnSpc>
              <a:buNone/>
            </a:pPr>
            <a:r>
              <a:rPr lang="en-US" sz="2625" dirty="0">
                <a:solidFill>
                  <a:srgbClr val="BCE8D2"/>
                </a:solidFill>
                <a:latin typeface="Calibri" pitchFamily="34" charset="0"/>
                <a:ea typeface="Calibri" pitchFamily="34" charset="-122"/>
                <a:cs typeface="Calibri" pitchFamily="34" charset="-120"/>
              </a:rPr>
              <a:t>Clear contracts, owners and external effects.</a:t>
            </a:r>
            <a:endParaRPr lang="en-US" sz="2625" dirty="0"/>
          </a:p>
        </p:txBody>
      </p:sp>
      <p:sp>
        <p:nvSpPr>
          <p:cNvPr id="5" name="slide-65-rect-3"/>
          <p:cNvSpPr/>
          <p:nvPr/>
        </p:nvSpPr>
        <p:spPr>
          <a:xfrm>
            <a:off x="666750" y="4448175"/>
            <a:ext cx="285750" cy="285750"/>
          </a:xfrm>
          <a:prstGeom prst="roundRect">
            <a:avLst>
              <a:gd name="adj" fmla="val 13333"/>
            </a:avLst>
          </a:prstGeom>
          <a:solidFill>
            <a:srgbClr val="BCE8D2"/>
          </a:solidFill>
          <a:ln w="12700">
            <a:solidFill>
              <a:srgbClr val="BCE8D2">
                <a:alpha val="0"/>
              </a:srgbClr>
            </a:solidFill>
            <a:prstDash val="solid"/>
          </a:ln>
        </p:spPr>
      </p:sp>
      <p:sp>
        <p:nvSpPr>
          <p:cNvPr id="6" name="slide-65-text-4"/>
          <p:cNvSpPr/>
          <p:nvPr/>
        </p:nvSpPr>
        <p:spPr>
          <a:xfrm>
            <a:off x="1123950" y="4419600"/>
            <a:ext cx="9867900" cy="457200"/>
          </a:xfrm>
          <a:prstGeom prst="rect">
            <a:avLst/>
          </a:prstGeom>
          <a:noFill/>
          <a:ln/>
        </p:spPr>
        <p:txBody>
          <a:bodyPr wrap="square" lIns="0" tIns="0" rIns="0" bIns="0" rtlCol="0" anchor="t"/>
          <a:lstStyle/>
          <a:p>
            <a:pPr algn="l" indent="0" marL="0">
              <a:lnSpc>
                <a:spcPts val="2457"/>
              </a:lnSpc>
              <a:buNone/>
            </a:pPr>
            <a:r>
              <a:rPr lang="en-US" sz="2100" dirty="0">
                <a:solidFill>
                  <a:srgbClr val="F6F3EA"/>
                </a:solidFill>
                <a:latin typeface="Calibri" pitchFamily="34" charset="0"/>
                <a:ea typeface="Calibri" pitchFamily="34" charset="-122"/>
                <a:cs typeface="Calibri" pitchFamily="34" charset="-120"/>
              </a:rPr>
              <a:t>Which event and state transition caused this render?</a:t>
            </a:r>
            <a:endParaRPr lang="en-US" sz="2100" dirty="0"/>
          </a:p>
        </p:txBody>
      </p:sp>
      <p:sp>
        <p:nvSpPr>
          <p:cNvPr id="7" name="slide-65-rect-5"/>
          <p:cNvSpPr/>
          <p:nvPr/>
        </p:nvSpPr>
        <p:spPr>
          <a:xfrm>
            <a:off x="666750" y="4962525"/>
            <a:ext cx="285750" cy="285750"/>
          </a:xfrm>
          <a:prstGeom prst="roundRect">
            <a:avLst>
              <a:gd name="adj" fmla="val 13333"/>
            </a:avLst>
          </a:prstGeom>
          <a:solidFill>
            <a:srgbClr val="BCE8D2"/>
          </a:solidFill>
          <a:ln w="12700">
            <a:solidFill>
              <a:srgbClr val="BCE8D2">
                <a:alpha val="0"/>
              </a:srgbClr>
            </a:solidFill>
            <a:prstDash val="solid"/>
          </a:ln>
        </p:spPr>
      </p:sp>
      <p:sp>
        <p:nvSpPr>
          <p:cNvPr id="8" name="slide-65-text-6"/>
          <p:cNvSpPr/>
          <p:nvPr/>
        </p:nvSpPr>
        <p:spPr>
          <a:xfrm>
            <a:off x="1123950" y="4933950"/>
            <a:ext cx="9867900" cy="457200"/>
          </a:xfrm>
          <a:prstGeom prst="rect">
            <a:avLst/>
          </a:prstGeom>
          <a:noFill/>
          <a:ln/>
        </p:spPr>
        <p:txBody>
          <a:bodyPr wrap="square" lIns="0" tIns="0" rIns="0" bIns="0" rtlCol="0" anchor="t"/>
          <a:lstStyle/>
          <a:p>
            <a:pPr algn="l" indent="0" marL="0">
              <a:lnSpc>
                <a:spcPts val="2457"/>
              </a:lnSpc>
              <a:buNone/>
            </a:pPr>
            <a:r>
              <a:rPr lang="en-US" sz="2100" dirty="0">
                <a:solidFill>
                  <a:srgbClr val="F6F3EA"/>
                </a:solidFill>
                <a:latin typeface="Calibri" pitchFamily="34" charset="0"/>
                <a:ea typeface="Calibri" pitchFamily="34" charset="-122"/>
                <a:cs typeface="Calibri" pitchFamily="34" charset="-120"/>
              </a:rPr>
              <a:t>Where does the value live, and how long does it survive?</a:t>
            </a:r>
            <a:endParaRPr lang="en-US" sz="2100" dirty="0"/>
          </a:p>
        </p:txBody>
      </p:sp>
      <p:sp>
        <p:nvSpPr>
          <p:cNvPr id="9" name="slide-65-rect-7"/>
          <p:cNvSpPr/>
          <p:nvPr/>
        </p:nvSpPr>
        <p:spPr>
          <a:xfrm>
            <a:off x="666750" y="5476875"/>
            <a:ext cx="285750" cy="285750"/>
          </a:xfrm>
          <a:prstGeom prst="roundRect">
            <a:avLst>
              <a:gd name="adj" fmla="val 13333"/>
            </a:avLst>
          </a:prstGeom>
          <a:solidFill>
            <a:srgbClr val="BCE8D2"/>
          </a:solidFill>
          <a:ln w="12700">
            <a:solidFill>
              <a:srgbClr val="BCE8D2">
                <a:alpha val="0"/>
              </a:srgbClr>
            </a:solidFill>
            <a:prstDash val="solid"/>
          </a:ln>
        </p:spPr>
      </p:sp>
      <p:sp>
        <p:nvSpPr>
          <p:cNvPr id="10" name="slide-65-text-8"/>
          <p:cNvSpPr/>
          <p:nvPr/>
        </p:nvSpPr>
        <p:spPr>
          <a:xfrm>
            <a:off x="1123950" y="5448300"/>
            <a:ext cx="9867900" cy="457200"/>
          </a:xfrm>
          <a:prstGeom prst="rect">
            <a:avLst/>
          </a:prstGeom>
          <a:noFill/>
          <a:ln/>
        </p:spPr>
        <p:txBody>
          <a:bodyPr wrap="square" lIns="0" tIns="0" rIns="0" bIns="0" rtlCol="0" anchor="t"/>
          <a:lstStyle/>
          <a:p>
            <a:pPr algn="l" indent="0" marL="0">
              <a:lnSpc>
                <a:spcPts val="2457"/>
              </a:lnSpc>
              <a:buNone/>
            </a:pPr>
            <a:r>
              <a:rPr lang="en-US" sz="2100" dirty="0">
                <a:solidFill>
                  <a:srgbClr val="F6F3EA"/>
                </a:solidFill>
                <a:latin typeface="Calibri" pitchFamily="34" charset="0"/>
                <a:ea typeface="Calibri" pitchFamily="34" charset="-122"/>
                <a:cs typeface="Calibri" pitchFamily="34" charset="-120"/>
              </a:rPr>
              <a:t>What needs validation, synchronization or cleanup?</a:t>
            </a:r>
            <a:endParaRPr lang="en-US" sz="2100" dirty="0"/>
          </a:p>
        </p:txBody>
      </p:sp>
      <p:sp>
        <p:nvSpPr>
          <p:cNvPr id="11" name="slide-65-text-9"/>
          <p:cNvSpPr/>
          <p:nvPr/>
        </p:nvSpPr>
        <p:spPr>
          <a:xfrm>
            <a:off x="9620250" y="2466975"/>
            <a:ext cx="1695450" cy="1400175"/>
          </a:xfrm>
          <a:prstGeom prst="rect">
            <a:avLst/>
          </a:prstGeom>
          <a:noFill/>
          <a:ln/>
        </p:spPr>
        <p:txBody>
          <a:bodyPr wrap="square" lIns="0" tIns="0" rIns="0" bIns="0" rtlCol="0" anchor="t"/>
          <a:lstStyle/>
          <a:p>
            <a:pPr algn="ctr" indent="0" marL="0">
              <a:lnSpc>
                <a:spcPts val="8512"/>
              </a:lnSpc>
              <a:buNone/>
            </a:pPr>
            <a:r>
              <a:rPr lang="en-US" sz="7275" dirty="0">
                <a:solidFill>
                  <a:srgbClr val="BCE8D2"/>
                </a:solidFill>
                <a:latin typeface="Consolas" pitchFamily="34" charset="0"/>
                <a:ea typeface="Consolas" pitchFamily="34" charset="-122"/>
                <a:cs typeface="Consolas" pitchFamily="34" charset="-120"/>
              </a:rPr>
              <a:t>{ }</a:t>
            </a:r>
            <a:endParaRPr lang="en-US" sz="7275" dirty="0"/>
          </a:p>
        </p:txBody>
      </p:sp>
      <p:sp>
        <p:nvSpPr>
          <p:cNvPr id="12" name="slide-65-text-10">
            <a:hlinkClick r:id="rId1" tooltip=""/>
          </p:cNvPr>
          <p:cNvSpPr/>
          <p:nvPr/>
        </p:nvSpPr>
        <p:spPr>
          <a:xfrm>
            <a:off x="609600" y="6467475"/>
            <a:ext cx="5686425"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BCE8D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 AppContent | App.tsx:26</a:t>
            </a:r>
            <a:endParaRPr lang="en-US" sz="1275" dirty="0"/>
          </a:p>
        </p:txBody>
      </p:sp>
      <p:sp>
        <p:nvSpPr>
          <p:cNvPr id="13" name="slide-65-text-11">
            <a:hlinkClick r:id="rId2" tooltip=""/>
          </p:cNvPr>
          <p:cNvSpPr/>
          <p:nvPr/>
        </p:nvSpPr>
        <p:spPr>
          <a:xfrm>
            <a:off x="6457950" y="6467475"/>
            <a:ext cx="4019550" cy="257175"/>
          </a:xfrm>
          <a:prstGeom prst="rect">
            <a:avLst/>
          </a:prstGeom>
          <a:noFill/>
          <a:ln/>
        </p:spPr>
        <p:txBody>
          <a:bodyPr wrap="square" lIns="0" tIns="0" rIns="0" bIns="0" rtlCol="0" anchor="t"/>
          <a:lstStyle/>
          <a:p>
            <a:pPr algn="l" indent="0" marL="0">
              <a:lnSpc>
                <a:spcPts val="1492"/>
              </a:lnSpc>
              <a:buNone/>
            </a:pPr>
            <a:r>
              <a:rPr lang="en-US" sz="1275" b="1" u="sng" dirty="0">
                <a:solidFill>
                  <a:srgbClr val="BCE8D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LIVE / 10. useReducer / Shopping cart</a:t>
            </a:r>
            <a:endParaRPr lang="en-US" sz="1275" dirty="0"/>
          </a:p>
        </p:txBody>
      </p:sp>
      <p:sp>
        <p:nvSpPr>
          <p:cNvPr id="14" name="slide-65-text-12"/>
          <p:cNvSpPr/>
          <p:nvPr/>
        </p:nvSpPr>
        <p:spPr>
          <a:xfrm>
            <a:off x="10648950" y="6438900"/>
            <a:ext cx="933450" cy="266700"/>
          </a:xfrm>
          <a:prstGeom prst="rect">
            <a:avLst/>
          </a:prstGeom>
          <a:noFill/>
          <a:ln/>
        </p:spPr>
        <p:txBody>
          <a:bodyPr wrap="square" lIns="0" tIns="0" rIns="0" bIns="0" rtlCol="0" anchor="t"/>
          <a:lstStyle/>
          <a:p>
            <a:pPr algn="r" indent="0" marL="0">
              <a:lnSpc>
                <a:spcPts val="1579"/>
              </a:lnSpc>
              <a:buNone/>
            </a:pPr>
            <a:r>
              <a:rPr lang="en-US" sz="1350" dirty="0">
                <a:solidFill>
                  <a:srgbClr val="BCE8D2"/>
                </a:solidFill>
                <a:latin typeface="Calibri" pitchFamily="34" charset="0"/>
                <a:ea typeface="Calibri" pitchFamily="34" charset="-122"/>
                <a:cs typeface="Calibri" pitchFamily="34" charset="-120"/>
              </a:rPr>
              <a:t>65 / 65</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React and TypeScript</dc:title>
  <dc:subject>React and TypeScript concepts linked to full-react-demo source and live examples</dc:subject>
  <dc:creator>Web Development</dc:creator>
  <cp:lastModifiedBy>Web Development</cp:lastModifiedBy>
  <cp:revision>1</cp:revision>
  <dcterms:created xsi:type="dcterms:W3CDTF">2026-09-24T22:19:22Z</dcterms:created>
  <dcterms:modified xsi:type="dcterms:W3CDTF">2026-09-24T22:19:22Z</dcterms:modified>
</cp:coreProperties>
</file>